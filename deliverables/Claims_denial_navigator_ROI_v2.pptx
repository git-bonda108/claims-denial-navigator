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2.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3.xml" ContentType="application/vnd.openxmlformats-officedocument.presentationml.slide+xml"/>
  <Override PartName="/ppt/notesSlides/notesSlide2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3" r:id="rId1"/>
  </p:sldMasterIdLst>
  <p:notesMasterIdLst>
    <p:notesMasterId r:id="rId24"/>
  </p:notesMasterIdLst>
  <p:sldIdLst>
    <p:sldId id="299" r:id="rId2"/>
    <p:sldId id="347" r:id="rId3"/>
    <p:sldId id="310" r:id="rId4"/>
    <p:sldId id="311" r:id="rId5"/>
    <p:sldId id="312" r:id="rId6"/>
    <p:sldId id="370" r:id="rId7"/>
    <p:sldId id="320" r:id="rId8"/>
    <p:sldId id="369" r:id="rId9"/>
    <p:sldId id="319" r:id="rId10"/>
    <p:sldId id="348" r:id="rId11"/>
    <p:sldId id="349" r:id="rId12"/>
    <p:sldId id="324" r:id="rId13"/>
    <p:sldId id="371" r:id="rId14"/>
    <p:sldId id="368" r:id="rId15"/>
    <p:sldId id="344" r:id="rId16"/>
    <p:sldId id="332" r:id="rId17"/>
    <p:sldId id="375" r:id="rId29"/>
    <p:sldId id="374" r:id="rId18"/>
    <p:sldId id="362" r:id="rId19"/>
    <p:sldId id="367" r:id="rId20"/>
    <p:sldId id="335" r:id="rId21"/>
    <p:sldId id="336" r:id="rId22"/>
    <p:sldId id="345"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pilot" id="{AE77D3EC-1B38-3052-F221-8A34C7AB43C1}">
          <p14:sldIdLst>
            <p14:sldId id="299"/>
            <p14:sldId id="347"/>
            <p14:sldId id="310"/>
            <p14:sldId id="311"/>
            <p14:sldId id="312"/>
            <p14:sldId id="370"/>
            <p14:sldId id="320"/>
            <p14:sldId id="369"/>
            <p14:sldId id="319"/>
            <p14:sldId id="348"/>
            <p14:sldId id="349"/>
            <p14:sldId id="324"/>
            <p14:sldId id="371"/>
            <p14:sldId id="368"/>
            <p14:sldId id="344"/>
            <p14:sldId id="332"/>
            <p14:sldId id="374"/>
            <p14:sldId id="362"/>
            <p14:sldId id="367"/>
            <p14:sldId id="335"/>
            <p14:sldId id="336"/>
            <p14:sldId id="34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599"/>
    <p:restoredTop sz="94610"/>
  </p:normalViewPr>
  <p:slideViewPr>
    <p:cSldViewPr snapToGrid="0" snapToObjects="1">
      <p:cViewPr varScale="1">
        <p:scale>
          <a:sx n="127" d="100"/>
          <a:sy n="127" d="100"/>
        </p:scale>
        <p:origin x="79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  <Relationship Id="rId29" Type="http://schemas.openxmlformats.org/officeDocument/2006/relationships/slide" Target="slides/slide23.xml"/>
</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0"/>
  <c:style val="2"/>
  <c:chart>
    <c:autoTitleDeleted val="1"/>
    <c:plotArea>
      <c:layout/>
      <c:doughnutChart>
        <c:varyColors val="1"/>
        <c:ser>
          <c:idx val="0"/>
          <c:order val="0"/>
          <c:tx>
            <c:v>Share of denials</c:v>
          </c:tx>
          <c:dPt>
            <c:idx val="0"/>
            <c:bubble3D val="0"/>
            <c:spPr>
              <a:solidFill>
                <a:srgbClr val="1F4E8C"/>
              </a:solidFill>
              <a:ln w="25400">
                <a:solidFill>
                  <a:srgbClr val="FFFFFF"/>
                </a:solidFill>
              </a:ln>
            </c:spPr>
            <c:extLst>
              <c:ext xmlns:c16="http://schemas.microsoft.com/office/drawing/2014/chart" uri="{C3380CC4-5D6E-409C-BE32-E72D297353CC}">
                <c16:uniqueId val="{00000001-8EB4-4D42-8129-3F55EA6CEA19}"/>
              </c:ext>
            </c:extLst>
          </c:dPt>
          <c:dPt>
            <c:idx val="1"/>
            <c:bubble3D val="0"/>
            <c:spPr>
              <a:solidFill>
                <a:srgbClr val="2F6DB5"/>
              </a:solidFill>
              <a:ln w="25400">
                <a:solidFill>
                  <a:srgbClr val="FFFFFF"/>
                </a:solidFill>
              </a:ln>
            </c:spPr>
            <c:extLst>
              <c:ext xmlns:c16="http://schemas.microsoft.com/office/drawing/2014/chart" uri="{C3380CC4-5D6E-409C-BE32-E72D297353CC}">
                <c16:uniqueId val="{00000003-8EB4-4D42-8129-3F55EA6CEA19}"/>
              </c:ext>
            </c:extLst>
          </c:dPt>
          <c:dPt>
            <c:idx val="2"/>
            <c:bubble3D val="0"/>
            <c:spPr>
              <a:solidFill>
                <a:srgbClr val="00A3C4"/>
              </a:solidFill>
              <a:ln w="25400">
                <a:solidFill>
                  <a:srgbClr val="FFFFFF"/>
                </a:solidFill>
              </a:ln>
            </c:spPr>
            <c:extLst>
              <c:ext xmlns:c16="http://schemas.microsoft.com/office/drawing/2014/chart" uri="{C3380CC4-5D6E-409C-BE32-E72D297353CC}">
                <c16:uniqueId val="{00000005-8EB4-4D42-8129-3F55EA6CEA19}"/>
              </c:ext>
            </c:extLst>
          </c:dPt>
          <c:dPt>
            <c:idx val="3"/>
            <c:bubble3D val="0"/>
            <c:spPr>
              <a:solidFill>
                <a:srgbClr val="5B8DEF"/>
              </a:solidFill>
              <a:ln w="25400">
                <a:solidFill>
                  <a:srgbClr val="FFFFFF"/>
                </a:solidFill>
              </a:ln>
            </c:spPr>
            <c:extLst>
              <c:ext xmlns:c16="http://schemas.microsoft.com/office/drawing/2014/chart" uri="{C3380CC4-5D6E-409C-BE32-E72D297353CC}">
                <c16:uniqueId val="{00000007-8EB4-4D42-8129-3F55EA6CEA19}"/>
              </c:ext>
            </c:extLst>
          </c:dPt>
          <c:dPt>
            <c:idx val="4"/>
            <c:bubble3D val="0"/>
            <c:spPr>
              <a:solidFill>
                <a:srgbClr val="8FB3F5"/>
              </a:solidFill>
              <a:ln w="25400">
                <a:solidFill>
                  <a:srgbClr val="FFFFFF"/>
                </a:solidFill>
              </a:ln>
            </c:spPr>
            <c:extLst>
              <c:ext xmlns:c16="http://schemas.microsoft.com/office/drawing/2014/chart" uri="{C3380CC4-5D6E-409C-BE32-E72D297353CC}">
                <c16:uniqueId val="{00000009-8EB4-4D42-8129-3F55EA6CEA19}"/>
              </c:ext>
            </c:extLst>
          </c:dPt>
          <c:dPt>
            <c:idx val="5"/>
            <c:bubble3D val="0"/>
            <c:spPr>
              <a:solidFill>
                <a:srgbClr val="F2A541"/>
              </a:solidFill>
              <a:ln w="25400">
                <a:solidFill>
                  <a:srgbClr val="FFFFFF"/>
                </a:solidFill>
              </a:ln>
            </c:spPr>
            <c:extLst>
              <c:ext xmlns:c16="http://schemas.microsoft.com/office/drawing/2014/chart" uri="{C3380CC4-5D6E-409C-BE32-E72D297353CC}">
                <c16:uniqueId val="{0000000B-8EB4-4D42-8129-3F55EA6CEA19}"/>
              </c:ext>
            </c:extLst>
          </c:dPt>
          <c:dPt>
            <c:idx val="6"/>
            <c:bubble3D val="0"/>
            <c:spPr>
              <a:solidFill>
                <a:srgbClr val="9AA5B1"/>
              </a:solidFill>
              <a:ln w="25400">
                <a:solidFill>
                  <a:srgbClr val="FFFFFF"/>
                </a:solidFill>
              </a:ln>
            </c:spPr>
            <c:extLst>
              <c:ext xmlns:c16="http://schemas.microsoft.com/office/drawing/2014/chart" uri="{C3380CC4-5D6E-409C-BE32-E72D297353CC}">
                <c16:uniqueId val="{0000000D-8EB4-4D42-8129-3F55EA6CEA19}"/>
              </c:ext>
            </c:extLst>
          </c:dPt>
          <c:dPt>
            <c:idx val="7"/>
            <c:bubble3D val="0"/>
            <c:spPr>
              <a:solidFill>
                <a:srgbClr val="D5DAE0"/>
              </a:solidFill>
              <a:ln w="25400">
                <a:solidFill>
                  <a:srgbClr val="FFFFFF"/>
                </a:solidFill>
              </a:ln>
            </c:spPr>
            <c:extLst>
              <c:ext xmlns:c16="http://schemas.microsoft.com/office/drawing/2014/chart" uri="{C3380CC4-5D6E-409C-BE32-E72D297353CC}">
                <c16:uniqueId val="{0000000F-8EB4-4D42-8129-3F55EA6CEA19}"/>
              </c:ext>
            </c:extLst>
          </c:dPt>
          <c:cat>
            <c:strLit>
              <c:ptCount val="8"/>
              <c:pt idx="0">
                <c:v>Eligibility / registration</c:v>
              </c:pt>
              <c:pt idx="1">
                <c:v>Missing info / coding</c:v>
              </c:pt>
              <c:pt idx="2">
                <c:v>Prior authorisation</c:v>
              </c:pt>
              <c:pt idx="3">
                <c:v>Medical necessity</c:v>
              </c:pt>
              <c:pt idx="4">
                <c:v>Bundling</c:v>
              </c:pt>
              <c:pt idx="5">
                <c:v>Timely filing</c:v>
              </c:pt>
              <c:pt idx="6">
                <c:v>Duplicates</c:v>
              </c:pt>
              <c:pt idx="7">
                <c:v>Other</c:v>
              </c:pt>
            </c:strLit>
          </c:cat>
          <c:val>
            <c:numLit>
              <c:formatCode>0"%"</c:formatCode>
              <c:ptCount val="8"/>
              <c:pt idx="0">
                <c:v>25</c:v>
              </c:pt>
              <c:pt idx="1">
                <c:v>20</c:v>
              </c:pt>
              <c:pt idx="2">
                <c:v>15</c:v>
              </c:pt>
              <c:pt idx="3">
                <c:v>15</c:v>
              </c:pt>
              <c:pt idx="4">
                <c:v>10</c:v>
              </c:pt>
              <c:pt idx="5">
                <c:v>5</c:v>
              </c:pt>
              <c:pt idx="6">
                <c:v>5</c:v>
              </c:pt>
              <c:pt idx="7">
                <c:v>5</c:v>
              </c:pt>
            </c:numLit>
          </c:val>
          <c:extLst>
            <c:ext xmlns:c16="http://schemas.microsoft.com/office/drawing/2014/chart" uri="{C3380CC4-5D6E-409C-BE32-E72D297353CC}">
              <c16:uniqueId val="{00000010-8EB4-4D42-8129-3F55EA6CEA19}"/>
            </c:ext>
          </c:extLst>
        </c:ser>
        <c:dLbls>
          <c:showLegendKey val="0"/>
          <c:showVal val="0"/>
          <c:showCatName val="0"/>
          <c:showSerName val="0"/>
          <c:showPercent val="0"/>
          <c:showBubbleSize val="0"/>
          <c:showLeaderLines val="1"/>
        </c:dLbls>
        <c:firstSliceAng val="0"/>
        <c:holeSize val="62"/>
      </c:doughnutChart>
      <c:spPr>
        <a:noFill/>
        <a:ln>
          <a:noFill/>
        </a:ln>
      </c:spPr>
    </c:plotArea>
    <c:plotVisOnly val="1"/>
    <c:dispBlanksAs val="gap"/>
    <c:showDLblsOverMax val="1"/>
  </c:chart>
  <c:spPr>
    <a:noFill/>
    <a:ln>
      <a:noFill/>
    </a:ln>
  </c:spPr>
  <c:txPr>
    <a:bodyPr/>
    <a:lstStyle/>
    <a:p>
      <a:pPr>
        <a:defRPr sz="1400">
          <a:latin typeface="Anthropic Sans Text"/>
        </a:defRPr>
      </a:pPr>
      <a:endParaRPr lang="en-GB"/>
    </a:p>
  </c:tx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0"/>
  <c:style val="2"/>
  <c:chart>
    <c:autoTitleDeleted val="1"/>
    <c:plotArea>
      <c:layout/>
      <c:bubbleChart>
        <c:varyColors val="0"/>
        <c:ser>
          <c:idx val="0"/>
          <c:order val="0"/>
          <c:tx>
            <c:v>Urgent</c:v>
          </c:tx>
          <c:spPr>
            <a:solidFill>
              <a:srgbClr val="E4572E">
                <a:alpha val="85000"/>
              </a:srgbClr>
            </a:solidFill>
            <a:ln w="12700">
              <a:solidFill>
                <a:srgbClr val="FFFFFF"/>
              </a:solidFill>
            </a:ln>
          </c:spPr>
          <c:invertIfNegative val="0"/>
          <c:xVal>
            <c:numLit>
              <c:formatCode>0</c:formatCode>
              <c:ptCount val="5"/>
              <c:pt idx="0">
                <c:v>4</c:v>
              </c:pt>
              <c:pt idx="1">
                <c:v>7</c:v>
              </c:pt>
              <c:pt idx="2">
                <c:v>10</c:v>
              </c:pt>
              <c:pt idx="3">
                <c:v>13</c:v>
              </c:pt>
              <c:pt idx="4">
                <c:v>6</c:v>
              </c:pt>
            </c:numLit>
          </c:xVal>
          <c:yVal>
            <c:numLit>
              <c:formatCode>"$"#,##0</c:formatCode>
              <c:ptCount val="5"/>
              <c:pt idx="0">
                <c:v>2840</c:v>
              </c:pt>
              <c:pt idx="1">
                <c:v>3900</c:v>
              </c:pt>
              <c:pt idx="2">
                <c:v>3200</c:v>
              </c:pt>
              <c:pt idx="3">
                <c:v>2300</c:v>
              </c:pt>
              <c:pt idx="4">
                <c:v>1850</c:v>
              </c:pt>
            </c:numLit>
          </c:yVal>
          <c:bubbleSize>
            <c:numLit>
              <c:formatCode>General</c:formatCode>
              <c:ptCount val="5"/>
              <c:pt idx="0">
                <c:v>2840</c:v>
              </c:pt>
              <c:pt idx="1">
                <c:v>3900</c:v>
              </c:pt>
              <c:pt idx="2">
                <c:v>3200</c:v>
              </c:pt>
              <c:pt idx="3">
                <c:v>2300</c:v>
              </c:pt>
              <c:pt idx="4">
                <c:v>1850</c:v>
              </c:pt>
            </c:numLit>
          </c:bubbleSize>
          <c:bubble3D val="0"/>
          <c:extLst>
            <c:ext xmlns:c16="http://schemas.microsoft.com/office/drawing/2014/chart" uri="{C3380CC4-5D6E-409C-BE32-E72D297353CC}">
              <c16:uniqueId val="{00000000-9543-5449-90F5-BCC2F2A1844D}"/>
            </c:ext>
          </c:extLst>
        </c:ser>
        <c:ser>
          <c:idx val="1"/>
          <c:order val="1"/>
          <c:tx>
            <c:v>Soon</c:v>
          </c:tx>
          <c:spPr>
            <a:solidFill>
              <a:srgbClr val="F2A541">
                <a:alpha val="85000"/>
              </a:srgbClr>
            </a:solidFill>
            <a:ln w="12700">
              <a:solidFill>
                <a:srgbClr val="FFFFFF"/>
              </a:solidFill>
            </a:ln>
          </c:spPr>
          <c:invertIfNegative val="0"/>
          <c:xVal>
            <c:numLit>
              <c:formatCode>0</c:formatCode>
              <c:ptCount val="4"/>
              <c:pt idx="0">
                <c:v>19</c:v>
              </c:pt>
              <c:pt idx="1">
                <c:v>24</c:v>
              </c:pt>
              <c:pt idx="2">
                <c:v>29</c:v>
              </c:pt>
              <c:pt idx="3">
                <c:v>33</c:v>
              </c:pt>
            </c:numLit>
          </c:xVal>
          <c:yVal>
            <c:numLit>
              <c:formatCode>"$"#,##0</c:formatCode>
              <c:ptCount val="4"/>
              <c:pt idx="0">
                <c:v>2600</c:v>
              </c:pt>
              <c:pt idx="1">
                <c:v>1900</c:v>
              </c:pt>
              <c:pt idx="2">
                <c:v>1400</c:v>
              </c:pt>
              <c:pt idx="3">
                <c:v>2200</c:v>
              </c:pt>
            </c:numLit>
          </c:yVal>
          <c:bubbleSize>
            <c:numLit>
              <c:formatCode>General</c:formatCode>
              <c:ptCount val="4"/>
              <c:pt idx="0">
                <c:v>2600</c:v>
              </c:pt>
              <c:pt idx="1">
                <c:v>1900</c:v>
              </c:pt>
              <c:pt idx="2">
                <c:v>1400</c:v>
              </c:pt>
              <c:pt idx="3">
                <c:v>2200</c:v>
              </c:pt>
            </c:numLit>
          </c:bubbleSize>
          <c:bubble3D val="0"/>
          <c:extLst>
            <c:ext xmlns:c16="http://schemas.microsoft.com/office/drawing/2014/chart" uri="{C3380CC4-5D6E-409C-BE32-E72D297353CC}">
              <c16:uniqueId val="{00000001-9543-5449-90F5-BCC2F2A1844D}"/>
            </c:ext>
          </c:extLst>
        </c:ser>
        <c:ser>
          <c:idx val="2"/>
          <c:order val="2"/>
          <c:tx>
            <c:v>Later</c:v>
          </c:tx>
          <c:spPr>
            <a:solidFill>
              <a:srgbClr val="2E9E6A">
                <a:alpha val="85000"/>
              </a:srgbClr>
            </a:solidFill>
            <a:ln w="12700">
              <a:solidFill>
                <a:srgbClr val="FFFFFF"/>
              </a:solidFill>
            </a:ln>
          </c:spPr>
          <c:invertIfNegative val="0"/>
          <c:xVal>
            <c:numLit>
              <c:formatCode>0</c:formatCode>
              <c:ptCount val="5"/>
              <c:pt idx="0">
                <c:v>42</c:v>
              </c:pt>
              <c:pt idx="1">
                <c:v>50</c:v>
              </c:pt>
              <c:pt idx="2">
                <c:v>58</c:v>
              </c:pt>
              <c:pt idx="3">
                <c:v>67</c:v>
              </c:pt>
              <c:pt idx="4">
                <c:v>78</c:v>
              </c:pt>
            </c:numLit>
          </c:xVal>
          <c:yVal>
            <c:numLit>
              <c:formatCode>"$"#,##0</c:formatCode>
              <c:ptCount val="5"/>
              <c:pt idx="0">
                <c:v>900</c:v>
              </c:pt>
              <c:pt idx="1">
                <c:v>1300</c:v>
              </c:pt>
              <c:pt idx="2">
                <c:v>700</c:v>
              </c:pt>
              <c:pt idx="3">
                <c:v>1100</c:v>
              </c:pt>
              <c:pt idx="4">
                <c:v>600</c:v>
              </c:pt>
            </c:numLit>
          </c:yVal>
          <c:bubbleSize>
            <c:numLit>
              <c:formatCode>General</c:formatCode>
              <c:ptCount val="5"/>
              <c:pt idx="0">
                <c:v>900</c:v>
              </c:pt>
              <c:pt idx="1">
                <c:v>1300</c:v>
              </c:pt>
              <c:pt idx="2">
                <c:v>700</c:v>
              </c:pt>
              <c:pt idx="3">
                <c:v>1100</c:v>
              </c:pt>
              <c:pt idx="4">
                <c:v>600</c:v>
              </c:pt>
            </c:numLit>
          </c:bubbleSize>
          <c:bubble3D val="0"/>
          <c:extLst>
            <c:ext xmlns:c16="http://schemas.microsoft.com/office/drawing/2014/chart" uri="{C3380CC4-5D6E-409C-BE32-E72D297353CC}">
              <c16:uniqueId val="{00000002-9543-5449-90F5-BCC2F2A1844D}"/>
            </c:ext>
          </c:extLst>
        </c:ser>
        <c:dLbls>
          <c:showLegendKey val="0"/>
          <c:showVal val="0"/>
          <c:showCatName val="0"/>
          <c:showSerName val="0"/>
          <c:showPercent val="0"/>
          <c:showBubbleSize val="0"/>
        </c:dLbls>
        <c:bubbleScale val="40"/>
        <c:showNegBubbles val="0"/>
        <c:axId val="11"/>
        <c:axId val="12"/>
      </c:bubbleChart>
      <c:valAx>
        <c:axId val="11"/>
        <c:scaling>
          <c:orientation val="minMax"/>
          <c:max val="90"/>
          <c:min val="0"/>
        </c:scaling>
        <c:delete val="0"/>
        <c:axPos val="b"/>
        <c:title>
          <c:tx>
            <c:rich>
              <a:bodyPr/>
              <a:lstStyle/>
              <a:p>
                <a:pPr>
                  <a:defRPr sz="1200" b="1">
                    <a:solidFill>
                      <a:srgbClr val="52606D"/>
                    </a:solidFill>
                    <a:latin typeface="Anthropic Sans Text"/>
                  </a:defRPr>
                </a:pPr>
                <a:r>
                  <a:rPr lang="en-GB" sz="1200" b="1">
                    <a:solidFill>
                      <a:srgbClr val="52606D"/>
                    </a:solidFill>
                    <a:latin typeface="Anthropic Sans Text"/>
                  </a:rPr>
                  <a:t>Days to deadline</a:t>
                </a:r>
              </a:p>
            </c:rich>
          </c:tx>
          <c:overlay val="0"/>
        </c:title>
        <c:numFmt formatCode="0" sourceLinked="0"/>
        <c:majorTickMark val="none"/>
        <c:minorTickMark val="none"/>
        <c:tickLblPos val="nextTo"/>
        <c:spPr>
          <a:ln w="9525">
            <a:solidFill>
              <a:srgbClr val="9AA5B1"/>
            </a:solidFill>
          </a:ln>
        </c:spPr>
        <c:txPr>
          <a:bodyPr/>
          <a:lstStyle/>
          <a:p>
            <a:pPr>
              <a:defRPr sz="1200">
                <a:solidFill>
                  <a:srgbClr val="52606D"/>
                </a:solidFill>
                <a:latin typeface="Anthropic Sans Text"/>
              </a:defRPr>
            </a:pPr>
            <a:endParaRPr lang="en-GB"/>
          </a:p>
        </c:txPr>
        <c:crossAx val="12"/>
        <c:crosses val="autoZero"/>
        <c:crossBetween val="midCat"/>
        <c:majorUnit val="15"/>
      </c:valAx>
      <c:valAx>
        <c:axId val="12"/>
        <c:scaling>
          <c:orientation val="minMax"/>
          <c:max val="5000"/>
          <c:min val="0"/>
        </c:scaling>
        <c:delete val="0"/>
        <c:axPos val="l"/>
        <c:majorGridlines>
          <c:spPr>
            <a:ln w="6350">
              <a:solidFill>
                <a:srgbClr val="E5E8EC"/>
              </a:solidFill>
            </a:ln>
          </c:spPr>
        </c:majorGridlines>
        <c:title>
          <c:tx>
            <c:rich>
              <a:bodyPr/>
              <a:lstStyle/>
              <a:p>
                <a:pPr>
                  <a:defRPr sz="1200" b="1">
                    <a:solidFill>
                      <a:srgbClr val="52606D"/>
                    </a:solidFill>
                    <a:latin typeface="Anthropic Sans Text"/>
                  </a:defRPr>
                </a:pPr>
                <a:r>
                  <a:rPr lang="en-GB" sz="1200" b="1">
                    <a:solidFill>
                      <a:srgbClr val="52606D"/>
                    </a:solidFill>
                    <a:latin typeface="Anthropic Sans Text"/>
                  </a:rPr>
                  <a:t>Expected recovery</a:t>
                </a:r>
              </a:p>
            </c:rich>
          </c:tx>
          <c:overlay val="0"/>
        </c:title>
        <c:numFmt formatCode="&quot;$&quot;#,##0" sourceLinked="0"/>
        <c:majorTickMark val="none"/>
        <c:minorTickMark val="none"/>
        <c:tickLblPos val="nextTo"/>
        <c:spPr>
          <a:ln>
            <a:noFill/>
          </a:ln>
        </c:spPr>
        <c:txPr>
          <a:bodyPr/>
          <a:lstStyle/>
          <a:p>
            <a:pPr>
              <a:defRPr sz="1200">
                <a:solidFill>
                  <a:srgbClr val="52606D"/>
                </a:solidFill>
                <a:latin typeface="Anthropic Sans Text"/>
              </a:defRPr>
            </a:pPr>
            <a:endParaRPr lang="en-GB"/>
          </a:p>
        </c:txPr>
        <c:crossAx val="11"/>
        <c:crosses val="autoZero"/>
        <c:crossBetween val="midCat"/>
        <c:majorUnit val="1000"/>
      </c:valAx>
      <c:spPr>
        <a:noFill/>
      </c:spPr>
    </c:plotArea>
    <c:plotVisOnly val="1"/>
    <c:dispBlanksAs val="gap"/>
    <c:showDLblsOverMax val="1"/>
  </c:chart>
  <c:spPr>
    <a:noFill/>
    <a:ln>
      <a:noFill/>
    </a:ln>
  </c:spPr>
  <c:txPr>
    <a:bodyPr/>
    <a:lstStyle/>
    <a:p>
      <a:pPr>
        <a:defRPr sz="1200">
          <a:solidFill>
            <a:srgbClr val="52606D"/>
          </a:solidFill>
          <a:latin typeface="Anthropic Sans Text"/>
        </a:defRPr>
      </a:pPr>
      <a:endParaRPr lang="en-GB"/>
    </a:p>
  </c:tx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62318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Welcome. Today we will walk through Denial Navigator, a decision assistant for hospital revenue-cycle teams.</a:t>
            </a:r>
          </a:p>
          <a:p>
            <a:r>
              <a:rPr lang="en-GB" dirty="0"/>
              <a:t>The promise is simple: every denied claim gets a clear, explained next action within minutes, so your team works the right claims first and stops losing money to missed deadlines.</a:t>
            </a:r>
          </a:p>
          <a:p>
            <a:r>
              <a:rPr lang="en-GB" dirty="0"/>
              <a:t>We will finish with a live demo.</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is the route for the next 30 minutes.</a:t>
            </a:r>
          </a:p>
          <a:p>
            <a:r>
              <a:rPr lang="en-GB" dirty="0"/>
              <a:t>We start with why denials hurt community and rural hospitals, then show Denial Navigator and how it reaches each decision.</a:t>
            </a:r>
          </a:p>
          <a:p>
            <a:r>
              <a:rPr lang="en-GB" dirty="0"/>
              <a:t>After that we cover how we tested it, what it costs to run, and we close with a live demo.</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Smaller hospitals feel denials more because the same few people handle billing, coding and follow-up.</a:t>
            </a:r>
          </a:p>
          <a:p>
            <a:r>
              <a:rPr lang="en-GB" dirty="0"/>
              <a:t>When one experienced biller leaves, years of payer knowledge leave too, while payer rules keep changing.</a:t>
            </a:r>
          </a:p>
          <a:p>
            <a:r>
              <a:rPr lang="en-GB" dirty="0"/>
              <a:t>Without a way to prioritise, teams work claims in arrival order, deadlines slip, and cash flow suffers.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is the life of a denial in most community hospitals today.</a:t>
            </a:r>
          </a:p>
          <a:p>
            <a:r>
              <a:rPr lang="en-GB" dirty="0"/>
              <a:t>A remittance arrives, someone looks up the codes, researches the payer's rules, decides whether to fix or appeal, writes a letter and then tracks the deadline by hand.</a:t>
            </a:r>
          </a:p>
          <a:p>
            <a:r>
              <a:rPr lang="en-GB" dirty="0"/>
              <a:t>Each step depends on one person's experience, it can take hours per claim, and when a deadline slips nobody is warned.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is the denial mix we built into the demo dataset, and it mirrors what many hospitals report.</a:t>
            </a:r>
          </a:p>
          <a:p>
            <a:r>
              <a:rPr lang="en-GB" dirty="0"/>
              <a:t>Eligibility, missing information and prior authorisation make up 60% of denials, and all three are fixable with the right check at the right time.</a:t>
            </a:r>
          </a:p>
          <a:p>
            <a:r>
              <a:rPr lang="en-GB" dirty="0"/>
              <a:t>That is why a system that understands the root cause can recover most of this money, and over time help prevent it.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Before we show the product, here is the standard we hold it to.</a:t>
            </a:r>
          </a:p>
          <a:p>
            <a:r>
              <a:rPr lang="en-GB" dirty="0"/>
              <a:t>Every denial is triaged the day it arrives, the first action taken is the right one, no appeal deadline is ever missed, and the team always works the highest-value claims first.</a:t>
            </a:r>
          </a:p>
          <a:p>
            <a:r>
              <a:rPr lang="en-GB" dirty="0"/>
              <a:t>Everything that follows is designed to hit these four outcomes.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That is the problem. Now let's look at the solution.</a:t>
            </a:r>
          </a:p>
          <a:p>
            <a:r>
              <a:rPr lang="en-GB" dirty="0"/>
              <a:t>Denial Navigator reads every denial, explains it in plain English and recommends one next action, with the evidence behind it.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Denials are not a rounding error. U.S. hospitals spent an estimated $19.7 billion in 2022 just fighting them.</a:t>
            </a:r>
          </a:p>
          <a:p>
            <a:r>
              <a:rPr lang="en-GB" dirty="0"/>
              <a:t>Rural hospitals see denial rates close to double their urban peers, about 18% against 10%.</a:t>
            </a:r>
          </a:p>
          <a:p>
            <a:r>
              <a:rPr lang="en-GB" dirty="0"/>
              <a:t>For a small hospital, simply managing denials can cost around $330,000 a year, money that never reaches patient care.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Denial Navigator does four jobs.</a:t>
            </a:r>
          </a:p>
          <a:p>
            <a:r>
              <a:rPr lang="en-GB" dirty="0"/>
              <a:t>It explains each denial in plain English, recommends the single right next action, ranks the worklist by dollars at stake and time left, and then does the paperwork: drafting letters, creating tasks and sending alerts.</a:t>
            </a:r>
          </a:p>
          <a:p>
            <a:r>
              <a:rPr lang="en-GB" dirty="0"/>
              <a:t>Your team stays in control and approves every action.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Each layer does the job it is best at.</a:t>
            </a:r>
          </a:p>
          <a:p>
            <a:r>
              <a:rPr lang="en-GB" dirty="0"/>
              <a:t>Rules handle everything that is knowable, such as code meanings, coding edits and filing deadlines, so those answers are exact. Prioritisation ranks claims by how much is likely to be recovered, and it learns from your own outcomes, inside your tenant.</a:t>
            </a:r>
          </a:p>
          <a:p>
            <a:r>
              <a:rPr lang="en-GB" dirty="0"/>
              <a:t>The AI agent explains the denial, cites the policy and drafts the appeal, and a person approves every action. Each approval or override teaches the system.</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is the full flow. The remittance file arrives, is parsed and matched to the original claim, and routine contractual adjustments are filtered out so the team only sees real denials.</a:t>
            </a:r>
          </a:p>
          <a:p>
            <a:r>
              <a:rPr lang="en-GB" dirty="0"/>
              <a:t>Rules check codes, coding edits, coverage and deadlines; prioritisation scores recovery and urgency; the AI agent explains the denial and drafts the response.</a:t>
            </a:r>
          </a:p>
          <a:p>
            <a:r>
              <a:rPr lang="en-GB" dirty="0"/>
              <a:t>The case is routed to the right team with a Teams alert, a person approves it, and the outcome feeds back so the system keeps learning.</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Denial Navigator never leaves a claim in limbo. Every denial maps to one of nine actions from a fixed set.</a:t>
            </a:r>
          </a:p>
          <a:p>
            <a:r>
              <a:rPr lang="en-GB" dirty="0"/>
              <a:t>Most recover money directly: correct and resubmit, submit a new claim, appeal, or obtain a retro-authorisation. Others redirect the bill or route to credentialing, and a few are closed deliberately as a write-off or no action.</a:t>
            </a:r>
          </a:p>
          <a:p>
            <a:r>
              <a:rPr lang="en-GB" dirty="0"/>
              <a:t>Each decision comes with one owner and one deadline, so accountability is clear.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is what a biller sees for each denial. Claim PRH-10877 was denied with CO-197 for $2,840.</a:t>
            </a:r>
          </a:p>
          <a:p>
            <a:r>
              <a:rPr lang="en-GB" dirty="0"/>
              <a:t>The card states the root cause in plain English, recommends the action, lists the steps and documents needed, and counts down the appeal deadline.</a:t>
            </a:r>
          </a:p>
          <a:p>
            <a:r>
              <a:rPr lang="en-GB" dirty="0"/>
              <a:t>Policy citations and a confidence score show why, and the biller approves or overrides with one click.</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Most teams work denials in the order they arrive. Denial Navigator ranks them by expected recovery and time left to act.</a:t>
            </a:r>
          </a:p>
          <a:p>
            <a:r>
              <a:rPr lang="en-GB" dirty="0"/>
              <a:t>Each bubble here is an open denial: the further left, the closer the deadline; the higher, the more money is likely to be recovered.</a:t>
            </a:r>
          </a:p>
          <a:p>
            <a:r>
              <a:rPr lang="en-GB" dirty="0"/>
              <a:t>The top-left claims in coral get worked first, so high-value appeals never expire in the queue.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 are two ways in. The web app is for focused work: the ranked worklist, the full claim view, an appeal studio that drafts letters with citations, and a dashboard for leaders.</a:t>
            </a:r>
          </a:p>
          <a:p>
            <a:r>
              <a:rPr lang="en-GB" dirty="0"/>
              <a:t>In Microsoft Teams, the assistant sends proactive alerts for high-value or near-deadline denials, and anyone can ask it a question such as 'What are my top 10 by dollars?'.</a:t>
            </a:r>
          </a:p>
          <a:p>
            <a:r>
              <a:rPr lang="en-GB" dirty="0"/>
              <a:t>No new tool to learn for most of the day.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is the day-to-day difference for your team.</a:t>
            </a:r>
          </a:p>
          <a:p>
            <a:r>
              <a:rPr lang="en-GB" dirty="0"/>
              <a:t>Research that took hours per denial now takes seconds, deadlines are tracked automatically instead of in spreadsheets, and appeal letters arrive drafted with the right policy citations.</a:t>
            </a:r>
          </a:p>
          <a:p>
            <a:r>
              <a:rPr lang="en-GB" dirty="0"/>
              <a:t>The worklist is ordered by dollars and urgency rather than arrival date, and new staff are productive from day one because the guidance is built in.</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 are simpler ways to put AI on denials, and each falls short somewhere.</a:t>
            </a:r>
          </a:p>
          <a:p>
            <a:r>
              <a:rPr lang="en-GB" dirty="0"/>
              <a:t>A chatbot alone is cheap but guesses at codes and deadlines and cannot prove its accuracy. Custom-built AI is costly to run and goes stale every time a payer changes a rule.</a:t>
            </a:r>
          </a:p>
          <a:p>
            <a:r>
              <a:rPr lang="en-GB" dirty="0"/>
              <a:t>Combining exact rules, prioritisation that learns from your own outcomes inside your tenant, and AI grounded in your policy library gives accuracy you can measure, explanations with citations, low running cost and a person approving every action.</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Everything runs inside your own Azure tenant, and every control here is a standard Azure feature your IT team already knows: Entra ID, Privileged Identity Management, managed identities, Key Vault, private endpoints, Azure Policy, Defender for Cloud, Azure Monitor and Purview.</a:t>
            </a:r>
          </a:p>
          <a:p>
            <a:r>
              <a:rPr lang="en-GB" dirty="0"/>
              <a:t>The proof of concept runs on synthetic data only. For the pilot we switch on private networking, customer-managed keys and Microsoft Purview.</a:t>
            </a:r>
          </a:p>
          <a:p>
            <a:r>
              <a:rPr lang="en-GB" dirty="0"/>
              <a:t>On HIPAA: the Azure services we use are covered by Microsoft's HIPAA Business Associate Agreement, and your team confirms that scope in your own Microsoft agreement.</a:t>
            </a:r>
          </a:p>
          <a:p>
            <a:r>
              <a:rPr lang="en-GB" dirty="0"/>
              <a:t>And nothing happens without a person: no appeal, write-off or resubmission goes out without sign-off.</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Microsoft commits that prompts and responses sent to Azure OpenAI are not available to other customers or to OpenAI, and are not used to train or improve its AI.</a:t>
            </a:r>
          </a:p>
          <a:p>
            <a:r>
              <a:rPr lang="en-GB" dirty="0"/>
              <a:t>Denial Navigator learns which of your denials are most recoverable from your own resolved cases, and that learning lives in your tenant and can be deleted with your data.</a:t>
            </a:r>
          </a:p>
          <a:p>
            <a:r>
              <a:rPr lang="en-GB" dirty="0"/>
              <a:t>For regulated workloads, the hospital can apply to Microsoft for modified abuse monitoring, so prompts are not retained for review.</a:t>
            </a:r>
          </a:p>
          <a:p>
            <a:r>
              <a:rPr lang="en-GB" dirty="0"/>
              <a:t>The proof of concept uses only synthetic data; the pilot uses de-identified remittances under a BAA.</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Claims about AI are easy to make, so here is how we prove it.</a:t>
            </a:r>
          </a:p>
          <a:p>
            <a:r>
              <a:rPr lang="en-GB" dirty="0"/>
              <a:t>We built a realistic synthetic dataset and a set of scenarios where the correct answer is known in advance, and we score the system against them.</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test safely we built a synthetic community hospital: 300 patients, 1,200 claims over six months across five payers, with an 18% denial rate and 23 distinct denial scenarios.</a:t>
            </a:r>
          </a:p>
          <a:p>
            <a:r>
              <a:rPr lang="en-GB" dirty="0"/>
              <a:t>The code sets, coding edits and coverage rules follow the real CMS structures, and the policy library is drawn from CMS manuals and payer policies.</a:t>
            </a:r>
          </a:p>
          <a:p>
            <a:r>
              <a:rPr lang="en-GB" dirty="0"/>
              <a:t>No real patient data is used anywhere in the demo.</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test Denial Navigator the way you would audit a new biller: against cases where the right answer is already known.</a:t>
            </a:r>
          </a:p>
          <a:p>
            <a:r>
              <a:rPr lang="en-GB" dirty="0"/>
              <a:t>These eight examples cover missing information, authorisation, coverage, patient liability, timely filing, modifiers, coordination of benefits and contractual adjustments.</a:t>
            </a:r>
          </a:p>
          <a:p>
            <a:r>
              <a:rPr lang="en-GB" dirty="0"/>
              <a:t>The targets are at least 90% decision accuracy, 100% deadline accuracy, zero unsafe actions, and answers rated at least 4 out of 5 for being grounded in policy.</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National totals are useful context, but what matters is the value for one hospital. This slide shows conservative, per-hospital numbers by size.</a:t>
            </a:r>
          </a:p>
          <a:p>
            <a:r>
              <a:rPr lang="en-GB" dirty="0"/>
              <a:t>We use three industry benchmarks: denial write-offs run at about 2% of net patient revenue (HFMA), up to 65% of denials are never reworked (HFMA), and it costs about $57 to work each denial (Premier, 2024).</a:t>
            </a:r>
          </a:p>
          <a:p>
            <a:r>
              <a:rPr lang="en-GB" dirty="0"/>
              <a:t>We assume Denial Navigator recovers only 15 to 25% of today's write-offs, by working the denials that are dropped today and never missing a deadline, and cuts handling effort by about 30%.</a:t>
            </a:r>
          </a:p>
          <a:p>
            <a:r>
              <a:rPr lang="en-GB" dirty="0"/>
              <a:t>For a small rural hospital that is roughly $150 to $200 thousand a year; for a community hospital about $1 million; for a large regional hospital $2 to $3 million, every year.</a:t>
            </a:r>
          </a:p>
          <a:p>
            <a:r>
              <a:rPr lang="en-GB" dirty="0"/>
              <a:t>Beyond the dollars: no missed deadlines, payer knowledge that stays when people leave, faster cash and fewer repeat denials.</a:t>
            </a:r>
          </a:p>
          <a:p>
            <a:r>
              <a:rPr lang="en-GB" dirty="0"/>
              <a:t>ROI is this annual value divided by the cost of each phase, which we will set out in the SOW. The proof of concept and pilot measure these numbers on the hospital's own data.</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Pr>
        <a:solidFill>
          <a:srgbClr val="FFFFFF"/>
        </a:solidFill>
        <a:effectLst/>
      </p:bgPr>
    </p:bg>
    <p:spTree>
      <p:nvGrpSpPr>
        <p:cNvPr id="1" name=""/>
        <p:cNvGrpSpPr/>
        <p:nvPr/>
      </p:nvGrpSpPr>
      <p:grpSpPr>
        <a:xfrm>
          <a:off x="0" y="0"/>
          <a:ext cx="0" cy="0"/>
          <a:chOff x="0" y="0"/>
          <a:chExt cx="0" cy="0"/>
        </a:xfrm>
      </p:grpSpPr>
      <p:sp>
        <p:nvSpPr>
          <p:cNvPr id="13" name="Slide number"/>
          <p:cNvSpPr txBox="1"/>
          <p:nvPr userDrawn="1"/>
        </p:nvSpPr>
        <p:spPr>
          <a:xfrm>
            <a:off x="11176000" y="6451600"/>
            <a:ext cx="558800" cy="203200"/>
          </a:xfrm>
          <a:prstGeom prst="rect">
            <a:avLst/>
          </a:prstGeom>
          <a:noFill/>
        </p:spPr>
        <p:txBody>
          <a:bodyPr wrap="none" lIns="0" tIns="0" rIns="0" bIns="0" anchor="ctr"/>
          <a:lstStyle/>
          <a:p>
            <a:pPr algn="r"/>
            <a:fld id="{B6F15528-21DE-4FAA-801E-634DDDAF4B2B}" type="slidenum">
              <a:rPr lang="en-GB" sz="1000">
                <a:solidFill>
                  <a:srgbClr val="52606D"/>
                </a:solidFill>
                <a:latin typeface="Anthropic Mono"/>
              </a:rPr>
              <a:t>‹#›</a:t>
            </a:fld>
            <a:endParaRPr lang="en-GB" sz="10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CONTENT">
    <p:bg>
      <p:bgPr>
        <a:solidFill>
          <a:srgbClr val="FFFFFF"/>
        </a:solidFill>
        <a:effectLst/>
      </p:bgPr>
    </p:bg>
    <p:spTree>
      <p:nvGrpSpPr>
        <p:cNvPr id="1" name=""/>
        <p:cNvGrpSpPr/>
        <p:nvPr/>
      </p:nvGrpSpPr>
      <p:grpSpPr>
        <a:xfrm>
          <a:off x="0" y="0"/>
          <a:ext cx="0" cy="0"/>
          <a:chOff x="0" y="0"/>
          <a:chExt cx="0" cy="0"/>
        </a:xfrm>
      </p:grpSpPr>
      <p:sp>
        <p:nvSpPr>
          <p:cNvPr id="10" name="Top band"/>
          <p:cNvSpPr/>
          <p:nvPr userDrawn="1"/>
        </p:nvSpPr>
        <p:spPr>
          <a:xfrm>
            <a:off x="0" y="0"/>
            <a:ext cx="12192000" cy="76200"/>
          </a:xfrm>
          <a:prstGeom prst="rect">
            <a:avLst/>
          </a:prstGeom>
          <a:solidFill>
            <a:srgbClr val="0B1F3A"/>
          </a:solidFill>
          <a:ln>
            <a:noFill/>
          </a:ln>
        </p:spPr>
        <p:txBody>
          <a:bodyPr/>
          <a:lstStyle/>
          <a:p>
            <a:endParaRPr lang="en-GB"/>
          </a:p>
        </p:txBody>
      </p:sp>
      <p:sp>
        <p:nvSpPr>
          <p:cNvPr id="11" name="Accent bar"/>
          <p:cNvSpPr/>
          <p:nvPr userDrawn="1"/>
        </p:nvSpPr>
        <p:spPr>
          <a:xfrm>
            <a:off x="457200" y="381000"/>
            <a:ext cx="76200" cy="685800"/>
          </a:xfrm>
          <a:prstGeom prst="rect">
            <a:avLst/>
          </a:prstGeom>
          <a:solidFill>
            <a:srgbClr val="00A3C4"/>
          </a:solidFill>
          <a:ln>
            <a:noFill/>
          </a:ln>
        </p:spPr>
        <p:txBody>
          <a:bodyPr/>
          <a:lstStyle/>
          <a:p>
            <a:endParaRPr lang="en-GB"/>
          </a:p>
        </p:txBody>
      </p:sp>
      <p:sp>
        <p:nvSpPr>
          <p:cNvPr id="2" name="Title 1"/>
          <p:cNvSpPr>
            <a:spLocks noGrp="1"/>
          </p:cNvSpPr>
          <p:nvPr>
            <p:ph type="title"/>
          </p:nvPr>
        </p:nvSpPr>
        <p:spPr>
          <a:xfrm>
            <a:off x="685800" y="330200"/>
            <a:ext cx="11049000" cy="762000"/>
          </a:xfrm>
        </p:spPr>
        <p:txBody>
          <a:bodyPr lIns="0" tIns="0" rIns="0" bIns="0" anchor="b">
            <a:normAutofit/>
          </a:bodyPr>
          <a:lstStyle/>
          <a:p>
            <a:r>
              <a:rPr lang="en-GB"/>
              <a:t>Click to edit title</a:t>
            </a:r>
          </a:p>
        </p:txBody>
      </p:sp>
      <p:sp>
        <p:nvSpPr>
          <p:cNvPr id="12" name="Alif logo placeholder"/>
          <p:cNvSpPr/>
          <p:nvPr userDrawn="1"/>
        </p:nvSpPr>
        <p:spPr>
          <a:xfrm>
            <a:off x="457200" y="6426200"/>
            <a:ext cx="685800" cy="254000"/>
          </a:xfrm>
          <a:prstGeom prst="roundRect">
            <a:avLst/>
          </a:prstGeom>
          <a:noFill/>
          <a:ln w="9525">
            <a:solidFill>
              <a:srgbClr val="9AA5B1"/>
            </a:solidFill>
            <a:prstDash val="dash"/>
          </a:ln>
        </p:spPr>
        <p:txBody>
          <a:bodyPr wrap="none" lIns="0" tIns="0" rIns="0" bIns="0" anchor="ctr"/>
          <a:lstStyle/>
          <a:p>
            <a:pPr algn="ctr"/>
            <a:r>
              <a:rPr lang="en-GB" sz="800" b="1" spc="100">
                <a:solidFill>
                  <a:srgbClr val="52606D"/>
                </a:solidFill>
              </a:rPr>
              <a:t>ALIF LOGO</a:t>
            </a:r>
          </a:p>
        </p:txBody>
      </p:sp>
      <p:sp>
        <p:nvSpPr>
          <p:cNvPr id="13" name="Slide number"/>
          <p:cNvSpPr txBox="1"/>
          <p:nvPr userDrawn="1"/>
        </p:nvSpPr>
        <p:spPr>
          <a:xfrm>
            <a:off x="11176000" y="6451600"/>
            <a:ext cx="558800" cy="203200"/>
          </a:xfrm>
          <a:prstGeom prst="rect">
            <a:avLst/>
          </a:prstGeom>
          <a:noFill/>
        </p:spPr>
        <p:txBody>
          <a:bodyPr wrap="none" lIns="0" tIns="0" rIns="0" bIns="0" anchor="ctr"/>
          <a:lstStyle/>
          <a:p>
            <a:pPr algn="r"/>
            <a:fld id="{B6F15528-21DE-4FAA-801E-634DDDAF4B2B}" type="slidenum">
              <a:rPr lang="en-GB" sz="1000">
                <a:solidFill>
                  <a:srgbClr val="52606D"/>
                </a:solidFill>
                <a:latin typeface="Anthropic Mono"/>
              </a:rPr>
              <a:t>‹#›</a:t>
            </a:fld>
            <a:endParaRPr lang="en-GB" sz="10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COVER">
    <p:bg>
      <p:bgPr>
        <a:solidFill>
          <a:srgbClr val="0B1F3A"/>
        </a:solidFill>
        <a:effectLst/>
      </p:bgPr>
    </p:bg>
    <p:spTree>
      <p:nvGrpSpPr>
        <p:cNvPr id="1" name=""/>
        <p:cNvGrpSpPr/>
        <p:nvPr/>
      </p:nvGrpSpPr>
      <p:grpSpPr>
        <a:xfrm>
          <a:off x="0" y="0"/>
          <a:ext cx="0" cy="0"/>
          <a:chOff x="0" y="0"/>
          <a:chExt cx="0" cy="0"/>
        </a:xfrm>
      </p:grpSpPr>
      <p:sp>
        <p:nvSpPr>
          <p:cNvPr id="10" name="Accent rule"/>
          <p:cNvSpPr/>
          <p:nvPr userDrawn="1"/>
        </p:nvSpPr>
        <p:spPr>
          <a:xfrm>
            <a:off x="762000" y="3810000"/>
            <a:ext cx="1143000" cy="76200"/>
          </a:xfrm>
          <a:prstGeom prst="rect">
            <a:avLst/>
          </a:prstGeom>
          <a:solidFill>
            <a:srgbClr val="00A3C4"/>
          </a:solidFill>
          <a:ln>
            <a:noFill/>
          </a:ln>
        </p:spPr>
        <p:txBody>
          <a:bodyPr/>
          <a:lstStyle/>
          <a:p>
            <a:endParaRPr lang="en-GB"/>
          </a:p>
        </p:txBody>
      </p:sp>
      <p:sp>
        <p:nvSpPr>
          <p:cNvPr id="2" name="Title 1"/>
          <p:cNvSpPr>
            <a:spLocks noGrp="1"/>
          </p:cNvSpPr>
          <p:nvPr>
            <p:ph type="title"/>
          </p:nvPr>
        </p:nvSpPr>
        <p:spPr>
          <a:xfrm>
            <a:off x="762000" y="1905000"/>
            <a:ext cx="9906000" cy="1778000"/>
          </a:xfrm>
        </p:spPr>
        <p:txBody>
          <a:bodyPr lIns="0" tIns="0" rIns="0" bIns="0" anchor="b">
            <a:normAutofit/>
          </a:bodyPr>
          <a:lstStyle>
            <a:lvl1pPr>
              <a:defRPr sz="6000" b="1">
                <a:solidFill>
                  <a:srgbClr val="FFFFFF"/>
                </a:solidFill>
                <a:latin typeface="Anthropic Serif Web"/>
              </a:defRPr>
            </a:lvl1pPr>
          </a:lstStyle>
          <a:p>
            <a:r>
              <a:rPr lang="en-GB"/>
              <a:t>Click to edit title</a:t>
            </a:r>
          </a:p>
        </p:txBody>
      </p:sp>
      <p:sp>
        <p:nvSpPr>
          <p:cNvPr id="3" name="Subtitle 1"/>
          <p:cNvSpPr>
            <a:spLocks noGrp="1"/>
          </p:cNvSpPr>
          <p:nvPr>
            <p:ph type="body" idx="1"/>
          </p:nvPr>
        </p:nvSpPr>
        <p:spPr>
          <a:xfrm>
            <a:off x="762000" y="4089400"/>
            <a:ext cx="9906000" cy="508000"/>
          </a:xfrm>
        </p:spPr>
        <p:txBody>
          <a:bodyPr lIns="0" tIns="0" rIns="0" bIns="0" anchor="t">
            <a:normAutofit/>
          </a:bodyPr>
          <a:lstStyle>
            <a:lvl1pPr marL="0" indent="0">
              <a:buNone/>
              <a:defRPr sz="2200">
                <a:solidFill>
                  <a:srgbClr val="CFE8F0"/>
                </a:solidFill>
              </a:defRPr>
            </a:lvl1pPr>
          </a:lstStyle>
          <a:p>
            <a:r>
              <a:rPr lang="en-GB"/>
              <a:t>Subtitle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SECTION">
    <p:bg>
      <p:bgPr>
        <a:solidFill>
          <a:srgbClr val="1F4E8C"/>
        </a:solidFill>
        <a:effectLst/>
      </p:bgPr>
    </p:bg>
    <p:spTree>
      <p:nvGrpSpPr>
        <p:cNvPr id="1" name=""/>
        <p:cNvGrpSpPr/>
        <p:nvPr/>
      </p:nvGrpSpPr>
      <p:grpSpPr>
        <a:xfrm>
          <a:off x="0" y="0"/>
          <a:ext cx="0" cy="0"/>
          <a:chOff x="0" y="0"/>
          <a:chExt cx="0" cy="0"/>
        </a:xfrm>
      </p:grpSpPr>
      <p:sp>
        <p:nvSpPr>
          <p:cNvPr id="10" name="Accent rule"/>
          <p:cNvSpPr/>
          <p:nvPr userDrawn="1"/>
        </p:nvSpPr>
        <p:spPr>
          <a:xfrm>
            <a:off x="762000" y="3962400"/>
            <a:ext cx="1143000" cy="76200"/>
          </a:xfrm>
          <a:prstGeom prst="rect">
            <a:avLst/>
          </a:prstGeom>
          <a:solidFill>
            <a:srgbClr val="00A3C4"/>
          </a:solidFill>
          <a:ln>
            <a:noFill/>
          </a:ln>
        </p:spPr>
        <p:txBody>
          <a:bodyPr/>
          <a:lstStyle/>
          <a:p>
            <a:endParaRPr lang="en-GB"/>
          </a:p>
        </p:txBody>
      </p:sp>
      <p:sp>
        <p:nvSpPr>
          <p:cNvPr id="2" name="Title 1"/>
          <p:cNvSpPr>
            <a:spLocks noGrp="1"/>
          </p:cNvSpPr>
          <p:nvPr>
            <p:ph type="title"/>
          </p:nvPr>
        </p:nvSpPr>
        <p:spPr>
          <a:xfrm>
            <a:off x="762000" y="2286000"/>
            <a:ext cx="10668000" cy="1524000"/>
          </a:xfrm>
        </p:spPr>
        <p:txBody>
          <a:bodyPr lIns="0" tIns="0" rIns="0" bIns="0" anchor="b">
            <a:normAutofit/>
          </a:bodyPr>
          <a:lstStyle>
            <a:lvl1pPr>
              <a:defRPr sz="6000" b="1">
                <a:solidFill>
                  <a:srgbClr val="FFFFFF"/>
                </a:solidFill>
                <a:latin typeface="Anthropic Serif Web"/>
              </a:defRPr>
            </a:lvl1pPr>
          </a:lstStyle>
          <a:p>
            <a:r>
              <a:rPr lang="en-GB"/>
              <a:t>Click to edit title</a:t>
            </a:r>
          </a:p>
        </p:txBody>
      </p:sp>
      <p:sp>
        <p:nvSpPr>
          <p:cNvPr id="3" name="Subtitle 1"/>
          <p:cNvSpPr>
            <a:spLocks noGrp="1"/>
          </p:cNvSpPr>
          <p:nvPr>
            <p:ph type="body" idx="1"/>
          </p:nvPr>
        </p:nvSpPr>
        <p:spPr>
          <a:xfrm>
            <a:off x="762000" y="4241800"/>
            <a:ext cx="10668000" cy="508000"/>
          </a:xfrm>
        </p:spPr>
        <p:txBody>
          <a:bodyPr lIns="0" tIns="0" rIns="0" bIns="0" anchor="t">
            <a:normAutofit/>
          </a:bodyPr>
          <a:lstStyle>
            <a:lvl1pPr marL="0" indent="0">
              <a:buNone/>
              <a:defRPr sz="2000">
                <a:solidFill>
                  <a:srgbClr val="DCE7F5"/>
                </a:solidFill>
              </a:defRPr>
            </a:lvl1pPr>
          </a:lstStyle>
          <a:p>
            <a:r>
              <a:rPr lang="en-GB"/>
              <a:t>Subtitle</a:t>
            </a:r>
          </a:p>
        </p:txBody>
      </p:sp>
      <p:sp>
        <p:nvSpPr>
          <p:cNvPr id="13" name="Slide number"/>
          <p:cNvSpPr txBox="1"/>
          <p:nvPr userDrawn="1"/>
        </p:nvSpPr>
        <p:spPr>
          <a:xfrm>
            <a:off x="11176000" y="6451600"/>
            <a:ext cx="558800" cy="203200"/>
          </a:xfrm>
          <a:prstGeom prst="rect">
            <a:avLst/>
          </a:prstGeom>
          <a:noFill/>
        </p:spPr>
        <p:txBody>
          <a:bodyPr wrap="none" lIns="0" tIns="0" rIns="0" bIns="0" anchor="ctr"/>
          <a:lstStyle/>
          <a:p>
            <a:pPr algn="r"/>
            <a:fld id="{B6F15528-21DE-4FAA-801E-634DDDAF4B2B}" type="slidenum">
              <a:rPr lang="en-GB" sz="1000">
                <a:solidFill>
                  <a:srgbClr val="DCE7F5"/>
                </a:solidFill>
                <a:latin typeface="Anthropic Mono"/>
              </a:rPr>
              <a:t>‹#›</a:t>
            </a:fld>
            <a:endParaRPr lang="en-GB" sz="100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7F"/>
                </a:solidFill>
                <a:latin typeface="Anthropic Sans Text"/>
                <a:ea typeface="Anthropic Sans Text"/>
                <a:cs typeface="Anthropic Sans Text"/>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Lst>
  <p:hf sldNum="0" hdr="0" ftr="0" dt="0"/>
  <p:txStyles>
    <p:titleStyle>
      <a:lvl1pPr algn="l" defTabSz="914400" rtl="0" eaLnBrk="1" latinLnBrk="0" hangingPunct="1">
        <a:lnSpc>
          <a:spcPct val="90000"/>
        </a:lnSpc>
        <a:spcBef>
          <a:spcPct val="0"/>
        </a:spcBef>
        <a:buNone/>
        <a:defRPr sz="3200" b="1" kern="1200">
          <a:solidFill>
            <a:schemeClr val="tx2"/>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4.svg"/><Relationship Id="rId5" Type="http://schemas.openxmlformats.org/officeDocument/2006/relationships/image" Target="../media/image13.sv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svg"/></Relationships>
</file>

<file path=ppt/slides/_rels/slide1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roi_hospital_small.png"/><Relationship Id="rId4" Type="http://schemas.openxmlformats.org/officeDocument/2006/relationships/image" Target="../media/roi_hospital_mid.png"/><Relationship Id="rId5" Type="http://schemas.openxmlformats.org/officeDocument/2006/relationships/image" Target="../media/roi_hospital_large.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5582A-DC1A-508E-42B2-3B4FB52A9C07}"/>
              </a:ext>
            </a:extLst>
          </p:cNvPr>
          <p:cNvSpPr>
            <a:spLocks noGrp="1"/>
          </p:cNvSpPr>
          <p:nvPr>
            <p:ph type="title"/>
          </p:nvPr>
        </p:nvSpPr>
        <p:spPr/>
        <p:txBody>
          <a:bodyPr/>
          <a:lstStyle/>
          <a:p>
            <a:r>
              <a:rPr lang="en-GB" dirty="0"/>
              <a:t>Denial Navigator</a:t>
            </a:r>
          </a:p>
        </p:txBody>
      </p:sp>
      <p:sp>
        <p:nvSpPr>
          <p:cNvPr id="3" name="Text Placeholder 2">
            <a:extLst>
              <a:ext uri="{FF2B5EF4-FFF2-40B4-BE49-F238E27FC236}">
                <a16:creationId xmlns:a16="http://schemas.microsoft.com/office/drawing/2014/main" id="{34EA0DE1-BB32-37BB-C97B-C45DCE95CB26}"/>
              </a:ext>
            </a:extLst>
          </p:cNvPr>
          <p:cNvSpPr>
            <a:spLocks noGrp="1"/>
          </p:cNvSpPr>
          <p:nvPr>
            <p:ph type="body" idx="1"/>
          </p:nvPr>
        </p:nvSpPr>
        <p:spPr/>
        <p:txBody>
          <a:bodyPr/>
          <a:lstStyle/>
          <a:p>
            <a:r>
              <a:rPr lang="en-GB" dirty="0"/>
              <a:t>From denied claim to the right decision, in minutes</a:t>
            </a:r>
          </a:p>
        </p:txBody>
      </p:sp>
      <p:sp>
        <p:nvSpPr>
          <p:cNvPr id="100" name="Shape 100"/>
          <p:cNvSpPr txBox="1"/>
          <p:nvPr/>
        </p:nvSpPr>
        <p:spPr>
          <a:xfrm>
            <a:off x="762000" y="1498600"/>
            <a:ext cx="7620000" cy="2540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200" b="1" spc="200" dirty="0">
                <a:solidFill>
                  <a:srgbClr val="00A3C4"/>
                </a:solidFill>
                <a:latin typeface="Anthropic Sans Text"/>
                <a:cs typeface="Anthropic Sans Text"/>
              </a:rPr>
              <a:t>ALIF CONSULTING  ·  PARTNER WALK-THROUGH</a:t>
            </a:r>
            <a:endParaRPr lang="en-GB" sz="1200" dirty="0"/>
          </a:p>
        </p:txBody>
      </p:sp>
      <p:sp>
        <p:nvSpPr>
          <p:cNvPr id="101" name="Shape 101"/>
          <p:cNvSpPr/>
          <p:nvPr/>
        </p:nvSpPr>
        <p:spPr>
          <a:xfrm>
            <a:off x="8890000" y="1905000"/>
            <a:ext cx="558800" cy="558800"/>
          </a:xfrm>
          <a:prstGeom prst="ellipse">
            <a:avLst/>
          </a:prstGeom>
          <a:solidFill>
            <a:srgbClr val="E4572E"/>
          </a:solidFill>
          <a:ln>
            <a:noFill/>
          </a:ln>
        </p:spPr>
        <p:txBody>
          <a:bodyPr wrap="square" lIns="0" tIns="0" rIns="0" bIns="0" rtlCol="0" anchor="ctr">
            <a:noAutofit/>
          </a:bodyPr>
          <a:lstStyle/>
          <a:p>
            <a:pPr marL="0" indent="0" algn="ctr">
              <a:spcBef>
                <a:spcPts val="0"/>
              </a:spcBef>
              <a:spcAft>
                <a:spcPts val="0"/>
              </a:spcAft>
              <a:buNone/>
            </a:pPr>
            <a:endParaRPr lang="en-GB" sz="1600" dirty="0"/>
          </a:p>
        </p:txBody>
      </p:sp>
      <p:sp>
        <p:nvSpPr>
          <p:cNvPr id="102" name="Shape 102"/>
          <p:cNvSpPr txBox="1"/>
          <p:nvPr/>
        </p:nvSpPr>
        <p:spPr>
          <a:xfrm>
            <a:off x="9652000" y="1930400"/>
            <a:ext cx="2159000" cy="2794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600" b="1" dirty="0">
                <a:solidFill>
                  <a:srgbClr val="FFFFFF"/>
                </a:solidFill>
                <a:latin typeface="Anthropic Sans Text"/>
                <a:cs typeface="Anthropic Sans Text"/>
              </a:rPr>
              <a:t>Denied</a:t>
            </a:r>
            <a:endParaRPr lang="en-GB" sz="1600" dirty="0"/>
          </a:p>
        </p:txBody>
      </p:sp>
      <p:sp>
        <p:nvSpPr>
          <p:cNvPr id="103" name="Shape 103"/>
          <p:cNvSpPr txBox="1"/>
          <p:nvPr/>
        </p:nvSpPr>
        <p:spPr>
          <a:xfrm>
            <a:off x="9652000" y="2197100"/>
            <a:ext cx="2159000" cy="228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200" b="0" dirty="0">
                <a:solidFill>
                  <a:srgbClr val="9FB3C8"/>
                </a:solidFill>
                <a:latin typeface="Anthropic Mono"/>
                <a:cs typeface="Anthropic Mono"/>
              </a:rPr>
              <a:t>$2,840 at stake</a:t>
            </a:r>
            <a:endParaRPr lang="en-GB" sz="1200" dirty="0"/>
          </a:p>
        </p:txBody>
      </p:sp>
      <p:cxnSp>
        <p:nvCxnSpPr>
          <p:cNvPr id="104" name="Line 104"/>
          <p:cNvCxnSpPr/>
          <p:nvPr/>
        </p:nvCxnSpPr>
        <p:spPr>
          <a:xfrm>
            <a:off x="9169400" y="2514600"/>
            <a:ext cx="0" cy="508000"/>
          </a:xfrm>
          <a:prstGeom prst="line">
            <a:avLst/>
          </a:prstGeom>
          <a:ln w="19050">
            <a:solidFill>
              <a:srgbClr val="3A5070"/>
            </a:solidFill>
            <a:prstDash val="sysDot"/>
          </a:ln>
        </p:spPr>
      </p:cxnSp>
      <p:sp>
        <p:nvSpPr>
          <p:cNvPr id="105" name="Shape 105"/>
          <p:cNvSpPr/>
          <p:nvPr/>
        </p:nvSpPr>
        <p:spPr>
          <a:xfrm>
            <a:off x="8890000" y="3073400"/>
            <a:ext cx="558800" cy="558800"/>
          </a:xfrm>
          <a:prstGeom prst="ellipse">
            <a:avLst/>
          </a:prstGeom>
          <a:solidFill>
            <a:srgbClr val="F2A541"/>
          </a:solidFill>
          <a:ln>
            <a:noFill/>
          </a:ln>
        </p:spPr>
        <p:txBody>
          <a:bodyPr wrap="square" lIns="0" tIns="0" rIns="0" bIns="0" rtlCol="0" anchor="ctr">
            <a:noAutofit/>
          </a:bodyPr>
          <a:lstStyle/>
          <a:p>
            <a:pPr marL="0" indent="0" algn="ctr">
              <a:spcBef>
                <a:spcPts val="0"/>
              </a:spcBef>
              <a:spcAft>
                <a:spcPts val="0"/>
              </a:spcAft>
              <a:buNone/>
            </a:pPr>
            <a:endParaRPr lang="en-GB" sz="1600" dirty="0"/>
          </a:p>
        </p:txBody>
      </p:sp>
      <p:sp>
        <p:nvSpPr>
          <p:cNvPr id="106" name="Shape 106"/>
          <p:cNvSpPr txBox="1"/>
          <p:nvPr/>
        </p:nvSpPr>
        <p:spPr>
          <a:xfrm>
            <a:off x="9652000" y="3098800"/>
            <a:ext cx="2159000" cy="2794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600" b="1" dirty="0">
                <a:solidFill>
                  <a:srgbClr val="FFFFFF"/>
                </a:solidFill>
                <a:latin typeface="Anthropic Sans Text"/>
                <a:cs typeface="Anthropic Sans Text"/>
              </a:rPr>
              <a:t>At risk</a:t>
            </a:r>
            <a:endParaRPr lang="en-GB" sz="1600" dirty="0"/>
          </a:p>
        </p:txBody>
      </p:sp>
      <p:sp>
        <p:nvSpPr>
          <p:cNvPr id="107" name="Shape 107"/>
          <p:cNvSpPr txBox="1"/>
          <p:nvPr/>
        </p:nvSpPr>
        <p:spPr>
          <a:xfrm>
            <a:off x="9652000" y="3365500"/>
            <a:ext cx="2159000" cy="228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200" b="0" dirty="0">
                <a:solidFill>
                  <a:srgbClr val="9FB3C8"/>
                </a:solidFill>
                <a:latin typeface="Anthropic Mono"/>
                <a:cs typeface="Anthropic Mono"/>
              </a:rPr>
              <a:t>Deadline in 12 days</a:t>
            </a:r>
            <a:endParaRPr lang="en-GB" sz="1200" dirty="0"/>
          </a:p>
        </p:txBody>
      </p:sp>
      <p:cxnSp>
        <p:nvCxnSpPr>
          <p:cNvPr id="108" name="Line 108"/>
          <p:cNvCxnSpPr/>
          <p:nvPr/>
        </p:nvCxnSpPr>
        <p:spPr>
          <a:xfrm>
            <a:off x="9169400" y="3683000"/>
            <a:ext cx="0" cy="508000"/>
          </a:xfrm>
          <a:prstGeom prst="line">
            <a:avLst/>
          </a:prstGeom>
          <a:ln w="19050">
            <a:solidFill>
              <a:srgbClr val="3A5070"/>
            </a:solidFill>
            <a:prstDash val="sysDot"/>
          </a:ln>
        </p:spPr>
      </p:cxnSp>
      <p:sp>
        <p:nvSpPr>
          <p:cNvPr id="109" name="Shape 109"/>
          <p:cNvSpPr/>
          <p:nvPr/>
        </p:nvSpPr>
        <p:spPr>
          <a:xfrm>
            <a:off x="8890000" y="4241800"/>
            <a:ext cx="558800" cy="558800"/>
          </a:xfrm>
          <a:prstGeom prst="ellipse">
            <a:avLst/>
          </a:prstGeom>
          <a:solidFill>
            <a:srgbClr val="2E9E6A"/>
          </a:solidFill>
          <a:ln>
            <a:noFill/>
          </a:ln>
        </p:spPr>
        <p:txBody>
          <a:bodyPr wrap="square" lIns="0" tIns="0" rIns="0" bIns="0" rtlCol="0" anchor="ctr">
            <a:noAutofit/>
          </a:bodyPr>
          <a:lstStyle/>
          <a:p>
            <a:pPr marL="0" indent="0" algn="ctr">
              <a:spcBef>
                <a:spcPts val="0"/>
              </a:spcBef>
              <a:spcAft>
                <a:spcPts val="0"/>
              </a:spcAft>
              <a:buNone/>
            </a:pPr>
            <a:endParaRPr lang="en-GB" sz="1600" dirty="0"/>
          </a:p>
        </p:txBody>
      </p:sp>
      <p:sp>
        <p:nvSpPr>
          <p:cNvPr id="110" name="Shape 110"/>
          <p:cNvSpPr txBox="1"/>
          <p:nvPr/>
        </p:nvSpPr>
        <p:spPr>
          <a:xfrm>
            <a:off x="9652000" y="4267200"/>
            <a:ext cx="2159000" cy="2794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600" b="1" dirty="0">
                <a:solidFill>
                  <a:srgbClr val="FFFFFF"/>
                </a:solidFill>
                <a:latin typeface="Anthropic Sans Text"/>
                <a:cs typeface="Anthropic Sans Text"/>
              </a:rPr>
              <a:t>Recovered</a:t>
            </a:r>
            <a:endParaRPr lang="en-GB" sz="1600" dirty="0"/>
          </a:p>
        </p:txBody>
      </p:sp>
      <p:sp>
        <p:nvSpPr>
          <p:cNvPr id="111" name="Shape 111"/>
          <p:cNvSpPr txBox="1"/>
          <p:nvPr/>
        </p:nvSpPr>
        <p:spPr>
          <a:xfrm>
            <a:off x="9652000" y="4533900"/>
            <a:ext cx="2159000" cy="228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200" b="0" dirty="0">
                <a:solidFill>
                  <a:srgbClr val="9FB3C8"/>
                </a:solidFill>
                <a:latin typeface="Anthropic Mono"/>
                <a:cs typeface="Anthropic Mono"/>
              </a:rPr>
              <a:t>Appeal approved</a:t>
            </a:r>
            <a:endParaRPr lang="en-GB" sz="1200" dirty="0"/>
          </a:p>
        </p:txBody>
      </p:sp>
      <p:sp>
        <p:nvSpPr>
          <p:cNvPr id="112" name="Shape 112"/>
          <p:cNvSpPr txBox="1"/>
          <p:nvPr/>
        </p:nvSpPr>
        <p:spPr>
          <a:xfrm>
            <a:off x="762000" y="5334000"/>
            <a:ext cx="5080000" cy="2794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600" b="1" dirty="0">
                <a:solidFill>
                  <a:srgbClr val="FFFFFF"/>
                </a:solidFill>
                <a:latin typeface="Anthropic Sans Text"/>
                <a:cs typeface="Anthropic Sans Text"/>
              </a:rPr>
              <a:t>Presenter name, Alif Consulting</a:t>
            </a:r>
            <a:endParaRPr lang="en-GB" sz="1600" dirty="0"/>
          </a:p>
        </p:txBody>
      </p:sp>
      <p:sp>
        <p:nvSpPr>
          <p:cNvPr id="113" name="Shape 113"/>
          <p:cNvSpPr txBox="1"/>
          <p:nvPr/>
        </p:nvSpPr>
        <p:spPr>
          <a:xfrm>
            <a:off x="762000" y="5638800"/>
            <a:ext cx="5080000" cy="2540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400" b="0" dirty="0">
                <a:solidFill>
                  <a:srgbClr val="9FB3C8"/>
                </a:solidFill>
                <a:latin typeface="Anthropic Sans Text"/>
                <a:cs typeface="Anthropic Sans Text"/>
              </a:rPr>
              <a:t>Date</a:t>
            </a:r>
            <a:endParaRPr lang="en-GB" sz="1400" dirty="0"/>
          </a:p>
        </p:txBody>
      </p:sp>
      <p:sp>
        <p:nvSpPr>
          <p:cNvPr id="114" name="Shape 114"/>
          <p:cNvSpPr/>
          <p:nvPr/>
        </p:nvSpPr>
        <p:spPr>
          <a:xfrm>
            <a:off x="762000" y="6070600"/>
            <a:ext cx="1219200" cy="431800"/>
          </a:xfrm>
          <a:prstGeom prst="roundRect">
            <a:avLst/>
          </a:prstGeom>
          <a:noFill/>
          <a:ln w="12700">
            <a:solidFill>
              <a:srgbClr val="5B6B7F"/>
            </a:solidFill>
            <a:prstDash val="dash"/>
          </a:ln>
        </p:spPr>
        <p:txBody>
          <a:bodyPr wrap="square" lIns="0" tIns="0" rIns="0" bIns="0" rtlCol="0" anchor="ctr">
            <a:noAutofit/>
          </a:bodyPr>
          <a:lstStyle/>
          <a:p>
            <a:pPr marL="0" indent="0" algn="ctr">
              <a:spcBef>
                <a:spcPts val="0"/>
              </a:spcBef>
              <a:spcAft>
                <a:spcPts val="0"/>
              </a:spcAft>
              <a:buNone/>
            </a:pPr>
            <a:r>
              <a:rPr lang="en-GB" sz="1000" b="1" spc="100" dirty="0">
                <a:solidFill>
                  <a:srgbClr val="9FB3C8"/>
                </a:solidFill>
                <a:latin typeface="Anthropic Sans Text"/>
                <a:cs typeface="Anthropic Sans Text"/>
              </a:rPr>
              <a:t>ALIF LOGO</a:t>
            </a:r>
            <a:endParaRPr lang="en-GB" sz="1000" dirty="0"/>
          </a:p>
        </p:txBody>
      </p:sp>
    </p:spTree>
    <p:extLst>
      <p:ext uri="{BB962C8B-B14F-4D97-AF65-F5344CB8AC3E}">
        <p14:creationId xmlns:p14="http://schemas.microsoft.com/office/powerpoint/2010/main" val="14051489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93C74-EC90-3250-1303-1783EB04EB60}"/>
              </a:ext>
            </a:extLst>
          </p:cNvPr>
          <p:cNvSpPr>
            <a:spLocks noGrp="1"/>
          </p:cNvSpPr>
          <p:nvPr>
            <p:ph type="title"/>
          </p:nvPr>
        </p:nvSpPr>
        <p:spPr/>
        <p:txBody>
          <a:bodyPr/>
          <a:lstStyle/>
          <a:p>
            <a:r>
              <a:rPr lang="en-GB" dirty="0"/>
              <a:t>Six stops, from today's problem to a live demo</a:t>
            </a:r>
          </a:p>
        </p:txBody>
      </p:sp>
      <p:sp>
        <p:nvSpPr>
          <p:cNvPr id="100" name="Shape 100"/>
          <p:cNvSpPr/>
          <p:nvPr/>
        </p:nvSpPr>
        <p:spPr>
          <a:xfrm>
            <a:off x="685800" y="1549400"/>
            <a:ext cx="3429000" cy="2082800"/>
          </a:xfrm>
          <a:prstGeom prst="roundRect">
            <a:avLst>
              <a:gd name="adj" fmla="val 6000"/>
            </a:avLst>
          </a:prstGeom>
          <a:solidFill>
            <a:srgbClr val="F3F4F6"/>
          </a:solidFill>
          <a:ln>
            <a:noFill/>
          </a:ln>
        </p:spPr>
        <p:txBody>
          <a:bodyPr wrap="square" lIns="0" tIns="0" rIns="0" bIns="0" rtlCol="0" anchor="t">
            <a:noAutofit/>
          </a:bodyPr>
          <a:lstStyle/>
          <a:p>
            <a:endParaRPr lang="en-GB" dirty="0"/>
          </a:p>
        </p:txBody>
      </p:sp>
      <p:sp>
        <p:nvSpPr>
          <p:cNvPr id="101" name="Shape 101"/>
          <p:cNvSpPr/>
          <p:nvPr/>
        </p:nvSpPr>
        <p:spPr>
          <a:xfrm>
            <a:off x="685800" y="1549400"/>
            <a:ext cx="3429000" cy="76200"/>
          </a:xfrm>
          <a:prstGeom prst="rect">
            <a:avLst/>
          </a:prstGeom>
          <a:solidFill>
            <a:srgbClr val="E4572E"/>
          </a:solidFill>
          <a:ln>
            <a:noFill/>
          </a:ln>
        </p:spPr>
        <p:txBody>
          <a:bodyPr wrap="square" lIns="0" tIns="0" rIns="0" bIns="0" rtlCol="0" anchor="t">
            <a:noAutofit/>
          </a:bodyPr>
          <a:lstStyle/>
          <a:p>
            <a:endParaRPr lang="en-GB" dirty="0"/>
          </a:p>
        </p:txBody>
      </p:sp>
      <p:sp>
        <p:nvSpPr>
          <p:cNvPr id="102" name="Shape 102"/>
          <p:cNvSpPr/>
          <p:nvPr/>
        </p:nvSpPr>
        <p:spPr>
          <a:xfrm>
            <a:off x="939800" y="1879600"/>
            <a:ext cx="660400" cy="660400"/>
          </a:xfrm>
          <a:prstGeom prst="ellipse">
            <a:avLst/>
          </a:prstGeom>
          <a:solidFill>
            <a:srgbClr val="E4572E"/>
          </a:solidFill>
          <a:ln>
            <a:noFill/>
          </a:ln>
        </p:spPr>
        <p:txBody>
          <a:bodyPr wrap="square" lIns="0" tIns="0" rIns="0" bIns="0" rtlCol="0" anchor="ctr">
            <a:noAutofit/>
          </a:bodyPr>
          <a:lstStyle/>
          <a:p>
            <a:pPr marL="0" indent="0" algn="ctr">
              <a:spcBef>
                <a:spcPts val="0"/>
              </a:spcBef>
              <a:spcAft>
                <a:spcPts val="0"/>
              </a:spcAft>
              <a:buNone/>
            </a:pPr>
            <a:r>
              <a:rPr lang="en-GB" sz="2000" b="1" dirty="0">
                <a:solidFill>
                  <a:srgbClr val="FFFFFF"/>
                </a:solidFill>
                <a:latin typeface="Anthropic Serif Web"/>
                <a:cs typeface="Anthropic Serif Web"/>
              </a:rPr>
              <a:t>01</a:t>
            </a:r>
            <a:endParaRPr lang="en-GB" sz="2000" dirty="0"/>
          </a:p>
        </p:txBody>
      </p:sp>
      <p:sp>
        <p:nvSpPr>
          <p:cNvPr id="103" name="Shape 103"/>
          <p:cNvSpPr txBox="1"/>
          <p:nvPr/>
        </p:nvSpPr>
        <p:spPr>
          <a:xfrm>
            <a:off x="939800" y="2717800"/>
            <a:ext cx="2997200" cy="355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2000" b="1" dirty="0">
                <a:solidFill>
                  <a:srgbClr val="0B1F3A"/>
                </a:solidFill>
                <a:latin typeface="Anthropic Sans Text"/>
                <a:cs typeface="Anthropic Sans Text"/>
              </a:rPr>
              <a:t>The challenge</a:t>
            </a:r>
            <a:endParaRPr lang="en-GB" sz="2000" dirty="0"/>
          </a:p>
        </p:txBody>
      </p:sp>
      <p:sp>
        <p:nvSpPr>
          <p:cNvPr id="104" name="Shape 104"/>
          <p:cNvSpPr txBox="1"/>
          <p:nvPr/>
        </p:nvSpPr>
        <p:spPr>
          <a:xfrm>
            <a:off x="939800" y="3098800"/>
            <a:ext cx="2997200" cy="3048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400" b="0" dirty="0">
                <a:solidFill>
                  <a:srgbClr val="52606D"/>
                </a:solidFill>
                <a:latin typeface="Anthropic Sans Text"/>
                <a:cs typeface="Anthropic Sans Text"/>
              </a:rPr>
              <a:t>Why denials cost so much</a:t>
            </a:r>
            <a:endParaRPr lang="en-GB" sz="1400" dirty="0"/>
          </a:p>
        </p:txBody>
      </p:sp>
      <p:sp>
        <p:nvSpPr>
          <p:cNvPr id="105" name="Shape 105"/>
          <p:cNvSpPr/>
          <p:nvPr/>
        </p:nvSpPr>
        <p:spPr>
          <a:xfrm>
            <a:off x="4495800" y="1549400"/>
            <a:ext cx="3429000" cy="2082800"/>
          </a:xfrm>
          <a:prstGeom prst="roundRect">
            <a:avLst>
              <a:gd name="adj" fmla="val 6000"/>
            </a:avLst>
          </a:prstGeom>
          <a:solidFill>
            <a:srgbClr val="F3F4F6"/>
          </a:solidFill>
          <a:ln>
            <a:noFill/>
          </a:ln>
        </p:spPr>
        <p:txBody>
          <a:bodyPr wrap="square" lIns="0" tIns="0" rIns="0" bIns="0" rtlCol="0" anchor="t">
            <a:noAutofit/>
          </a:bodyPr>
          <a:lstStyle/>
          <a:p>
            <a:endParaRPr lang="en-GB" dirty="0"/>
          </a:p>
        </p:txBody>
      </p:sp>
      <p:sp>
        <p:nvSpPr>
          <p:cNvPr id="106" name="Shape 106"/>
          <p:cNvSpPr/>
          <p:nvPr/>
        </p:nvSpPr>
        <p:spPr>
          <a:xfrm>
            <a:off x="4495800" y="1549400"/>
            <a:ext cx="3429000" cy="76200"/>
          </a:xfrm>
          <a:prstGeom prst="rect">
            <a:avLst/>
          </a:prstGeom>
          <a:solidFill>
            <a:srgbClr val="00A3C4"/>
          </a:solidFill>
          <a:ln>
            <a:noFill/>
          </a:ln>
        </p:spPr>
        <p:txBody>
          <a:bodyPr wrap="square" lIns="0" tIns="0" rIns="0" bIns="0" rtlCol="0" anchor="t">
            <a:noAutofit/>
          </a:bodyPr>
          <a:lstStyle/>
          <a:p>
            <a:endParaRPr lang="en-GB" dirty="0"/>
          </a:p>
        </p:txBody>
      </p:sp>
      <p:sp>
        <p:nvSpPr>
          <p:cNvPr id="107" name="Shape 107"/>
          <p:cNvSpPr/>
          <p:nvPr/>
        </p:nvSpPr>
        <p:spPr>
          <a:xfrm>
            <a:off x="4749800" y="1879600"/>
            <a:ext cx="660400" cy="660400"/>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GB" sz="2000" b="1" dirty="0">
                <a:solidFill>
                  <a:srgbClr val="FFFFFF"/>
                </a:solidFill>
                <a:latin typeface="Anthropic Serif Web"/>
                <a:cs typeface="Anthropic Serif Web"/>
              </a:rPr>
              <a:t>02</a:t>
            </a:r>
            <a:endParaRPr lang="en-GB" sz="2000" dirty="0"/>
          </a:p>
        </p:txBody>
      </p:sp>
      <p:sp>
        <p:nvSpPr>
          <p:cNvPr id="108" name="Shape 108"/>
          <p:cNvSpPr txBox="1"/>
          <p:nvPr/>
        </p:nvSpPr>
        <p:spPr>
          <a:xfrm>
            <a:off x="4749800" y="2717800"/>
            <a:ext cx="2997200" cy="355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2000" b="1" dirty="0">
                <a:solidFill>
                  <a:srgbClr val="0B1F3A"/>
                </a:solidFill>
                <a:latin typeface="Anthropic Sans Text"/>
                <a:cs typeface="Anthropic Sans Text"/>
              </a:rPr>
              <a:t>The solution</a:t>
            </a:r>
            <a:endParaRPr lang="en-GB" sz="2000" dirty="0"/>
          </a:p>
        </p:txBody>
      </p:sp>
      <p:sp>
        <p:nvSpPr>
          <p:cNvPr id="109" name="Shape 109"/>
          <p:cNvSpPr txBox="1"/>
          <p:nvPr/>
        </p:nvSpPr>
        <p:spPr>
          <a:xfrm>
            <a:off x="4749800" y="3098800"/>
            <a:ext cx="2997200" cy="3048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400" b="0" dirty="0">
                <a:solidFill>
                  <a:srgbClr val="52606D"/>
                </a:solidFill>
                <a:latin typeface="Anthropic Sans Text"/>
                <a:cs typeface="Anthropic Sans Text"/>
              </a:rPr>
              <a:t>Denial Navigator at a glance</a:t>
            </a:r>
            <a:endParaRPr lang="en-GB" sz="1400" dirty="0"/>
          </a:p>
        </p:txBody>
      </p:sp>
      <p:sp>
        <p:nvSpPr>
          <p:cNvPr id="110" name="Shape 110"/>
          <p:cNvSpPr/>
          <p:nvPr/>
        </p:nvSpPr>
        <p:spPr>
          <a:xfrm>
            <a:off x="8305800" y="1549400"/>
            <a:ext cx="3429000" cy="2082800"/>
          </a:xfrm>
          <a:prstGeom prst="roundRect">
            <a:avLst>
              <a:gd name="adj" fmla="val 6000"/>
            </a:avLst>
          </a:prstGeom>
          <a:solidFill>
            <a:srgbClr val="F3F4F6"/>
          </a:solidFill>
          <a:ln>
            <a:noFill/>
          </a:ln>
        </p:spPr>
        <p:txBody>
          <a:bodyPr wrap="square" lIns="0" tIns="0" rIns="0" bIns="0" rtlCol="0" anchor="t">
            <a:noAutofit/>
          </a:bodyPr>
          <a:lstStyle/>
          <a:p>
            <a:endParaRPr lang="en-GB" dirty="0"/>
          </a:p>
        </p:txBody>
      </p:sp>
      <p:sp>
        <p:nvSpPr>
          <p:cNvPr id="111" name="Shape 111"/>
          <p:cNvSpPr/>
          <p:nvPr/>
        </p:nvSpPr>
        <p:spPr>
          <a:xfrm>
            <a:off x="8305800" y="1549400"/>
            <a:ext cx="3429000" cy="76200"/>
          </a:xfrm>
          <a:prstGeom prst="rect">
            <a:avLst/>
          </a:prstGeom>
          <a:solidFill>
            <a:srgbClr val="5B8DEF"/>
          </a:solidFill>
          <a:ln>
            <a:noFill/>
          </a:ln>
        </p:spPr>
        <p:txBody>
          <a:bodyPr wrap="square" lIns="0" tIns="0" rIns="0" bIns="0" rtlCol="0" anchor="t">
            <a:noAutofit/>
          </a:bodyPr>
          <a:lstStyle/>
          <a:p>
            <a:endParaRPr lang="en-GB" dirty="0"/>
          </a:p>
        </p:txBody>
      </p:sp>
      <p:sp>
        <p:nvSpPr>
          <p:cNvPr id="112" name="Shape 112"/>
          <p:cNvSpPr/>
          <p:nvPr/>
        </p:nvSpPr>
        <p:spPr>
          <a:xfrm>
            <a:off x="8559800" y="1879600"/>
            <a:ext cx="660400" cy="660400"/>
          </a:xfrm>
          <a:prstGeom prst="ellipse">
            <a:avLst/>
          </a:prstGeom>
          <a:solidFill>
            <a:srgbClr val="5B8DEF"/>
          </a:solidFill>
          <a:ln>
            <a:noFill/>
          </a:ln>
        </p:spPr>
        <p:txBody>
          <a:bodyPr wrap="square" lIns="0" tIns="0" rIns="0" bIns="0" rtlCol="0" anchor="ctr">
            <a:noAutofit/>
          </a:bodyPr>
          <a:lstStyle/>
          <a:p>
            <a:pPr marL="0" indent="0" algn="ctr">
              <a:spcBef>
                <a:spcPts val="0"/>
              </a:spcBef>
              <a:spcAft>
                <a:spcPts val="0"/>
              </a:spcAft>
              <a:buNone/>
            </a:pPr>
            <a:r>
              <a:rPr lang="en-GB" sz="2000" b="1" dirty="0">
                <a:solidFill>
                  <a:srgbClr val="FFFFFF"/>
                </a:solidFill>
                <a:latin typeface="Anthropic Serif Web"/>
                <a:cs typeface="Anthropic Serif Web"/>
              </a:rPr>
              <a:t>03</a:t>
            </a:r>
            <a:endParaRPr lang="en-GB" sz="2000" dirty="0"/>
          </a:p>
        </p:txBody>
      </p:sp>
      <p:sp>
        <p:nvSpPr>
          <p:cNvPr id="113" name="Shape 113"/>
          <p:cNvSpPr txBox="1"/>
          <p:nvPr/>
        </p:nvSpPr>
        <p:spPr>
          <a:xfrm>
            <a:off x="8559800" y="2717800"/>
            <a:ext cx="2997200" cy="355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2000" b="1" dirty="0">
                <a:solidFill>
                  <a:srgbClr val="0B1F3A"/>
                </a:solidFill>
                <a:latin typeface="Anthropic Sans Text"/>
                <a:cs typeface="Anthropic Sans Text"/>
              </a:rPr>
              <a:t>How it works</a:t>
            </a:r>
            <a:endParaRPr lang="en-GB" sz="2000" dirty="0"/>
          </a:p>
        </p:txBody>
      </p:sp>
      <p:sp>
        <p:nvSpPr>
          <p:cNvPr id="114" name="Shape 114"/>
          <p:cNvSpPr txBox="1"/>
          <p:nvPr/>
        </p:nvSpPr>
        <p:spPr>
          <a:xfrm>
            <a:off x="8559800" y="3098800"/>
            <a:ext cx="2997200" cy="3048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400" b="0" dirty="0">
                <a:solidFill>
                  <a:srgbClr val="52606D"/>
                </a:solidFill>
                <a:latin typeface="Anthropic Sans Text"/>
                <a:cs typeface="Anthropic Sans Text"/>
              </a:rPr>
              <a:t>Rules, prioritisation, AI and people</a:t>
            </a:r>
            <a:endParaRPr lang="en-GB" sz="1400" dirty="0"/>
          </a:p>
        </p:txBody>
      </p:sp>
      <p:sp>
        <p:nvSpPr>
          <p:cNvPr id="115" name="Shape 115"/>
          <p:cNvSpPr/>
          <p:nvPr/>
        </p:nvSpPr>
        <p:spPr>
          <a:xfrm>
            <a:off x="685800" y="3911600"/>
            <a:ext cx="3429000" cy="2082800"/>
          </a:xfrm>
          <a:prstGeom prst="roundRect">
            <a:avLst>
              <a:gd name="adj" fmla="val 6000"/>
            </a:avLst>
          </a:prstGeom>
          <a:solidFill>
            <a:srgbClr val="F3F4F6"/>
          </a:solidFill>
          <a:ln>
            <a:noFill/>
          </a:ln>
        </p:spPr>
        <p:txBody>
          <a:bodyPr wrap="square" lIns="0" tIns="0" rIns="0" bIns="0" rtlCol="0" anchor="t">
            <a:noAutofit/>
          </a:bodyPr>
          <a:lstStyle/>
          <a:p>
            <a:endParaRPr lang="en-GB" dirty="0"/>
          </a:p>
        </p:txBody>
      </p:sp>
      <p:sp>
        <p:nvSpPr>
          <p:cNvPr id="116" name="Shape 116"/>
          <p:cNvSpPr/>
          <p:nvPr/>
        </p:nvSpPr>
        <p:spPr>
          <a:xfrm>
            <a:off x="685800" y="3911600"/>
            <a:ext cx="3429000" cy="76200"/>
          </a:xfrm>
          <a:prstGeom prst="rect">
            <a:avLst/>
          </a:prstGeom>
          <a:solidFill>
            <a:srgbClr val="2E9E6A"/>
          </a:solidFill>
          <a:ln>
            <a:noFill/>
          </a:ln>
        </p:spPr>
        <p:txBody>
          <a:bodyPr wrap="square" lIns="0" tIns="0" rIns="0" bIns="0" rtlCol="0" anchor="t">
            <a:noAutofit/>
          </a:bodyPr>
          <a:lstStyle/>
          <a:p>
            <a:endParaRPr lang="en-GB" dirty="0"/>
          </a:p>
        </p:txBody>
      </p:sp>
      <p:sp>
        <p:nvSpPr>
          <p:cNvPr id="117" name="Shape 117"/>
          <p:cNvSpPr/>
          <p:nvPr/>
        </p:nvSpPr>
        <p:spPr>
          <a:xfrm>
            <a:off x="939800" y="4241800"/>
            <a:ext cx="660400" cy="660400"/>
          </a:xfrm>
          <a:prstGeom prst="ellipse">
            <a:avLst/>
          </a:prstGeom>
          <a:solidFill>
            <a:srgbClr val="2E9E6A"/>
          </a:solidFill>
          <a:ln>
            <a:noFill/>
          </a:ln>
        </p:spPr>
        <p:txBody>
          <a:bodyPr wrap="square" lIns="0" tIns="0" rIns="0" bIns="0" rtlCol="0" anchor="ctr">
            <a:noAutofit/>
          </a:bodyPr>
          <a:lstStyle/>
          <a:p>
            <a:pPr marL="0" indent="0" algn="ctr">
              <a:spcBef>
                <a:spcPts val="0"/>
              </a:spcBef>
              <a:spcAft>
                <a:spcPts val="0"/>
              </a:spcAft>
              <a:buNone/>
            </a:pPr>
            <a:r>
              <a:rPr lang="en-GB" sz="2000" b="1" dirty="0">
                <a:solidFill>
                  <a:srgbClr val="FFFFFF"/>
                </a:solidFill>
                <a:latin typeface="Anthropic Serif Web"/>
                <a:cs typeface="Anthropic Serif Web"/>
              </a:rPr>
              <a:t>04</a:t>
            </a:r>
            <a:endParaRPr lang="en-GB" sz="2000" dirty="0"/>
          </a:p>
        </p:txBody>
      </p:sp>
      <p:sp>
        <p:nvSpPr>
          <p:cNvPr id="118" name="Shape 118"/>
          <p:cNvSpPr txBox="1"/>
          <p:nvPr/>
        </p:nvSpPr>
        <p:spPr>
          <a:xfrm>
            <a:off x="939800" y="5080000"/>
            <a:ext cx="2997200" cy="355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2000" b="1" dirty="0">
                <a:solidFill>
                  <a:srgbClr val="0B1F3A"/>
                </a:solidFill>
                <a:latin typeface="Anthropic Sans Text"/>
                <a:cs typeface="Anthropic Sans Text"/>
              </a:rPr>
              <a:t>Proof</a:t>
            </a:r>
            <a:endParaRPr lang="en-GB" sz="2000" dirty="0"/>
          </a:p>
        </p:txBody>
      </p:sp>
      <p:sp>
        <p:nvSpPr>
          <p:cNvPr id="119" name="Shape 119"/>
          <p:cNvSpPr txBox="1"/>
          <p:nvPr/>
        </p:nvSpPr>
        <p:spPr>
          <a:xfrm>
            <a:off x="939800" y="5461000"/>
            <a:ext cx="2997200" cy="3048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400" b="0" dirty="0">
                <a:solidFill>
                  <a:srgbClr val="52606D"/>
                </a:solidFill>
                <a:latin typeface="Anthropic Sans Text"/>
                <a:cs typeface="Anthropic Sans Text"/>
              </a:rPr>
              <a:t>Tested against known answers</a:t>
            </a:r>
            <a:endParaRPr lang="en-GB" sz="1400" dirty="0"/>
          </a:p>
        </p:txBody>
      </p:sp>
      <p:sp>
        <p:nvSpPr>
          <p:cNvPr id="120" name="Shape 120"/>
          <p:cNvSpPr/>
          <p:nvPr/>
        </p:nvSpPr>
        <p:spPr>
          <a:xfrm>
            <a:off x="4495800" y="3911600"/>
            <a:ext cx="3429000" cy="2082800"/>
          </a:xfrm>
          <a:prstGeom prst="roundRect">
            <a:avLst>
              <a:gd name="adj" fmla="val 6000"/>
            </a:avLst>
          </a:prstGeom>
          <a:solidFill>
            <a:srgbClr val="F3F4F6"/>
          </a:solidFill>
          <a:ln>
            <a:noFill/>
          </a:ln>
        </p:spPr>
        <p:txBody>
          <a:bodyPr wrap="square" lIns="0" tIns="0" rIns="0" bIns="0" rtlCol="0" anchor="t">
            <a:noAutofit/>
          </a:bodyPr>
          <a:lstStyle/>
          <a:p>
            <a:endParaRPr lang="en-GB" dirty="0"/>
          </a:p>
        </p:txBody>
      </p:sp>
      <p:sp>
        <p:nvSpPr>
          <p:cNvPr id="121" name="Shape 121"/>
          <p:cNvSpPr/>
          <p:nvPr/>
        </p:nvSpPr>
        <p:spPr>
          <a:xfrm>
            <a:off x="4495800" y="3911600"/>
            <a:ext cx="3429000" cy="76200"/>
          </a:xfrm>
          <a:prstGeom prst="rect">
            <a:avLst/>
          </a:prstGeom>
          <a:solidFill>
            <a:srgbClr val="1F4E8C"/>
          </a:solidFill>
          <a:ln>
            <a:noFill/>
          </a:ln>
        </p:spPr>
        <p:txBody>
          <a:bodyPr wrap="square" lIns="0" tIns="0" rIns="0" bIns="0" rtlCol="0" anchor="t">
            <a:noAutofit/>
          </a:bodyPr>
          <a:lstStyle/>
          <a:p>
            <a:endParaRPr lang="en-GB" dirty="0"/>
          </a:p>
        </p:txBody>
      </p:sp>
      <p:sp>
        <p:nvSpPr>
          <p:cNvPr id="122" name="Shape 122"/>
          <p:cNvSpPr/>
          <p:nvPr/>
        </p:nvSpPr>
        <p:spPr>
          <a:xfrm>
            <a:off x="4749800" y="4241800"/>
            <a:ext cx="660400" cy="660400"/>
          </a:xfrm>
          <a:prstGeom prst="ellipse">
            <a:avLst/>
          </a:prstGeom>
          <a:solidFill>
            <a:srgbClr val="1F4E8C"/>
          </a:solidFill>
          <a:ln>
            <a:noFill/>
          </a:ln>
        </p:spPr>
        <p:txBody>
          <a:bodyPr wrap="square" lIns="0" tIns="0" rIns="0" bIns="0" rtlCol="0" anchor="ctr">
            <a:noAutofit/>
          </a:bodyPr>
          <a:lstStyle/>
          <a:p>
            <a:pPr marL="0" indent="0" algn="ctr">
              <a:spcBef>
                <a:spcPts val="0"/>
              </a:spcBef>
              <a:spcAft>
                <a:spcPts val="0"/>
              </a:spcAft>
              <a:buNone/>
            </a:pPr>
            <a:r>
              <a:rPr lang="en-GB" sz="2000" b="1" dirty="0">
                <a:solidFill>
                  <a:srgbClr val="FFFFFF"/>
                </a:solidFill>
                <a:latin typeface="Anthropic Serif Web"/>
                <a:cs typeface="Anthropic Serif Web"/>
              </a:rPr>
              <a:t>05</a:t>
            </a:r>
            <a:endParaRPr lang="en-GB" sz="2000" dirty="0"/>
          </a:p>
        </p:txBody>
      </p:sp>
      <p:sp>
        <p:nvSpPr>
          <p:cNvPr id="123" name="Shape 123"/>
          <p:cNvSpPr txBox="1"/>
          <p:nvPr/>
        </p:nvSpPr>
        <p:spPr>
          <a:xfrm>
            <a:off x="4749800" y="5080000"/>
            <a:ext cx="2997200" cy="355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2000" b="1" dirty="0">
                <a:solidFill>
                  <a:srgbClr val="0B1F3A"/>
                </a:solidFill>
                <a:latin typeface="Anthropic Sans Text"/>
                <a:cs typeface="Anthropic Sans Text"/>
              </a:rPr>
              <a:t>Investment</a:t>
            </a:r>
            <a:endParaRPr lang="en-GB" sz="2000" dirty="0"/>
          </a:p>
        </p:txBody>
      </p:sp>
      <p:sp>
        <p:nvSpPr>
          <p:cNvPr id="124" name="Shape 124"/>
          <p:cNvSpPr txBox="1"/>
          <p:nvPr/>
        </p:nvSpPr>
        <p:spPr>
          <a:xfrm>
            <a:off x="4749800" y="5461000"/>
            <a:ext cx="2997200" cy="3048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400" b="0" dirty="0">
                <a:solidFill>
                  <a:srgbClr val="52606D"/>
                </a:solidFill>
                <a:latin typeface="Anthropic Sans Text"/>
                <a:cs typeface="Anthropic Sans Text"/>
              </a:rPr>
              <a:t>Run cost by hospital size</a:t>
            </a:r>
            <a:endParaRPr lang="en-GB" sz="1400" dirty="0"/>
          </a:p>
        </p:txBody>
      </p:sp>
      <p:sp>
        <p:nvSpPr>
          <p:cNvPr id="125" name="Shape 125"/>
          <p:cNvSpPr/>
          <p:nvPr/>
        </p:nvSpPr>
        <p:spPr>
          <a:xfrm>
            <a:off x="8305800" y="3911600"/>
            <a:ext cx="3429000" cy="2082800"/>
          </a:xfrm>
          <a:prstGeom prst="roundRect">
            <a:avLst>
              <a:gd name="adj" fmla="val 6000"/>
            </a:avLst>
          </a:prstGeom>
          <a:solidFill>
            <a:srgbClr val="F3F4F6"/>
          </a:solidFill>
          <a:ln>
            <a:noFill/>
          </a:ln>
        </p:spPr>
        <p:txBody>
          <a:bodyPr wrap="square" lIns="0" tIns="0" rIns="0" bIns="0" rtlCol="0" anchor="t">
            <a:noAutofit/>
          </a:bodyPr>
          <a:lstStyle/>
          <a:p>
            <a:endParaRPr lang="en-GB" dirty="0"/>
          </a:p>
        </p:txBody>
      </p:sp>
      <p:sp>
        <p:nvSpPr>
          <p:cNvPr id="126" name="Shape 126"/>
          <p:cNvSpPr/>
          <p:nvPr/>
        </p:nvSpPr>
        <p:spPr>
          <a:xfrm>
            <a:off x="8305800" y="3911600"/>
            <a:ext cx="3429000" cy="76200"/>
          </a:xfrm>
          <a:prstGeom prst="rect">
            <a:avLst/>
          </a:prstGeom>
          <a:solidFill>
            <a:srgbClr val="0B1F3A"/>
          </a:solidFill>
          <a:ln>
            <a:noFill/>
          </a:ln>
        </p:spPr>
        <p:txBody>
          <a:bodyPr wrap="square" lIns="0" tIns="0" rIns="0" bIns="0" rtlCol="0" anchor="t">
            <a:noAutofit/>
          </a:bodyPr>
          <a:lstStyle/>
          <a:p>
            <a:endParaRPr lang="en-GB" dirty="0"/>
          </a:p>
        </p:txBody>
      </p:sp>
      <p:sp>
        <p:nvSpPr>
          <p:cNvPr id="127" name="Shape 127"/>
          <p:cNvSpPr/>
          <p:nvPr/>
        </p:nvSpPr>
        <p:spPr>
          <a:xfrm>
            <a:off x="8559800" y="4241800"/>
            <a:ext cx="660400" cy="660400"/>
          </a:xfrm>
          <a:prstGeom prst="ellipse">
            <a:avLst/>
          </a:prstGeom>
          <a:solidFill>
            <a:srgbClr val="0B1F3A"/>
          </a:solidFill>
          <a:ln>
            <a:noFill/>
          </a:ln>
        </p:spPr>
        <p:txBody>
          <a:bodyPr wrap="square" lIns="0" tIns="0" rIns="0" bIns="0" rtlCol="0" anchor="ctr">
            <a:noAutofit/>
          </a:bodyPr>
          <a:lstStyle/>
          <a:p>
            <a:pPr marL="0" indent="0" algn="ctr">
              <a:spcBef>
                <a:spcPts val="0"/>
              </a:spcBef>
              <a:spcAft>
                <a:spcPts val="0"/>
              </a:spcAft>
              <a:buNone/>
            </a:pPr>
            <a:r>
              <a:rPr lang="en-GB" sz="2000" b="1" dirty="0">
                <a:solidFill>
                  <a:srgbClr val="FFFFFF"/>
                </a:solidFill>
                <a:latin typeface="Anthropic Serif Web"/>
                <a:cs typeface="Anthropic Serif Web"/>
              </a:rPr>
              <a:t>06</a:t>
            </a:r>
            <a:endParaRPr lang="en-GB" sz="2000" dirty="0"/>
          </a:p>
        </p:txBody>
      </p:sp>
      <p:sp>
        <p:nvSpPr>
          <p:cNvPr id="128" name="Shape 128"/>
          <p:cNvSpPr txBox="1"/>
          <p:nvPr/>
        </p:nvSpPr>
        <p:spPr>
          <a:xfrm>
            <a:off x="8559800" y="5080000"/>
            <a:ext cx="2997200" cy="355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2000" b="1" dirty="0">
                <a:solidFill>
                  <a:srgbClr val="0B1F3A"/>
                </a:solidFill>
                <a:latin typeface="Anthropic Sans Text"/>
                <a:cs typeface="Anthropic Sans Text"/>
              </a:rPr>
              <a:t>Live demo</a:t>
            </a:r>
            <a:endParaRPr lang="en-GB" sz="2000" dirty="0"/>
          </a:p>
        </p:txBody>
      </p:sp>
      <p:sp>
        <p:nvSpPr>
          <p:cNvPr id="129" name="Shape 129"/>
          <p:cNvSpPr txBox="1"/>
          <p:nvPr/>
        </p:nvSpPr>
        <p:spPr>
          <a:xfrm>
            <a:off x="8559800" y="5461000"/>
            <a:ext cx="2997200" cy="3048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400" b="0" dirty="0">
                <a:solidFill>
                  <a:srgbClr val="52606D"/>
                </a:solidFill>
                <a:latin typeface="Anthropic Sans Text"/>
                <a:cs typeface="Anthropic Sans Text"/>
              </a:rPr>
              <a:t>One denial, start to finish</a:t>
            </a:r>
            <a:endParaRPr lang="en-GB" sz="1400" dirty="0"/>
          </a:p>
        </p:txBody>
      </p:sp>
    </p:spTree>
    <p:extLst>
      <p:ext uri="{BB962C8B-B14F-4D97-AF65-F5344CB8AC3E}">
        <p14:creationId xmlns:p14="http://schemas.microsoft.com/office/powerpoint/2010/main" val="1233055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F5556-91D7-D309-DCB0-CB4BFD8B43E8}"/>
              </a:ext>
            </a:extLst>
          </p:cNvPr>
          <p:cNvSpPr>
            <a:spLocks noGrp="1"/>
          </p:cNvSpPr>
          <p:nvPr>
            <p:ph type="title"/>
          </p:nvPr>
        </p:nvSpPr>
        <p:spPr/>
        <p:txBody>
          <a:bodyPr>
            <a:normAutofit fontScale="90000"/>
          </a:bodyPr>
          <a:lstStyle/>
          <a:p>
            <a:r>
              <a:rPr lang="en-GB" dirty="0"/>
              <a:t>Rural and community hospitals carry the heaviest burden</a:t>
            </a:r>
          </a:p>
        </p:txBody>
      </p:sp>
      <p:sp>
        <p:nvSpPr>
          <p:cNvPr id="100" name="Shape 100"/>
          <p:cNvSpPr/>
          <p:nvPr/>
        </p:nvSpPr>
        <p:spPr>
          <a:xfrm>
            <a:off x="685800" y="1676400"/>
            <a:ext cx="3429000" cy="1905000"/>
          </a:xfrm>
          <a:prstGeom prst="rect">
            <a:avLst/>
          </a:prstGeom>
          <a:solidFill>
            <a:srgbClr val="F3F4F6"/>
          </a:solidFill>
          <a:ln>
            <a:noFill/>
          </a:ln>
        </p:spPr>
        <p:txBody>
          <a:bodyPr wrap="square" lIns="0" tIns="0" rIns="0" bIns="0" rtlCol="0" anchor="t">
            <a:noAutofit/>
          </a:bodyPr>
          <a:lstStyle/>
          <a:p>
            <a:endParaRPr lang="en-GB" dirty="0"/>
          </a:p>
        </p:txBody>
      </p:sp>
      <p:sp>
        <p:nvSpPr>
          <p:cNvPr id="101" name="Shape 101"/>
          <p:cNvSpPr/>
          <p:nvPr/>
        </p:nvSpPr>
        <p:spPr>
          <a:xfrm>
            <a:off x="685800" y="1676400"/>
            <a:ext cx="76200" cy="1905000"/>
          </a:xfrm>
          <a:prstGeom prst="rect">
            <a:avLst/>
          </a:prstGeom>
          <a:solidFill>
            <a:srgbClr val="E4572E"/>
          </a:solidFill>
          <a:ln>
            <a:noFill/>
          </a:ln>
        </p:spPr>
        <p:txBody>
          <a:bodyPr wrap="square" lIns="0" tIns="0" rIns="0" bIns="0" rtlCol="0" anchor="t">
            <a:noAutofit/>
          </a:bodyPr>
          <a:lstStyle/>
          <a:p>
            <a:endParaRPr lang="en-GB" dirty="0"/>
          </a:p>
        </p:txBody>
      </p:sp>
      <p:sp>
        <p:nvSpPr>
          <p:cNvPr id="102" name="Shape 102"/>
          <p:cNvSpPr/>
          <p:nvPr/>
        </p:nvSpPr>
        <p:spPr>
          <a:xfrm>
            <a:off x="1041400" y="2222500"/>
            <a:ext cx="812800" cy="812800"/>
          </a:xfrm>
          <a:prstGeom prst="ellipse">
            <a:avLst/>
          </a:prstGeom>
          <a:solidFill>
            <a:srgbClr val="E4572E"/>
          </a:solidFill>
          <a:ln>
            <a:noFill/>
          </a:ln>
        </p:spPr>
        <p:txBody>
          <a:bodyPr wrap="square" lIns="0" tIns="0" rIns="0" bIns="0" rtlCol="0" anchor="ctr">
            <a:noAutofit/>
          </a:bodyPr>
          <a:lstStyle/>
          <a:p>
            <a:pPr marL="0" indent="0" algn="ctr">
              <a:spcBef>
                <a:spcPts val="0"/>
              </a:spcBef>
              <a:spcAft>
                <a:spcPts val="0"/>
              </a:spcAft>
              <a:buNone/>
            </a:pPr>
            <a:endParaRPr lang="en-GB" sz="1600" dirty="0"/>
          </a:p>
        </p:txBody>
      </p:sp>
      <p:sp>
        <p:nvSpPr>
          <p:cNvPr id="103" name="Shape 103"/>
          <p:cNvSpPr txBox="1"/>
          <p:nvPr/>
        </p:nvSpPr>
        <p:spPr>
          <a:xfrm>
            <a:off x="2082800" y="1930400"/>
            <a:ext cx="1854200" cy="139700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GB" sz="2000" b="1" dirty="0">
                <a:solidFill>
                  <a:srgbClr val="0B1F3A"/>
                </a:solidFill>
                <a:latin typeface="Anthropic Sans Text"/>
                <a:cs typeface="Anthropic Sans Text"/>
              </a:rPr>
              <a:t>Small billing teams</a:t>
            </a:r>
            <a:endParaRPr lang="en-GB" sz="2000" dirty="0"/>
          </a:p>
        </p:txBody>
      </p:sp>
      <p:sp>
        <p:nvSpPr>
          <p:cNvPr id="104" name="Shape 104"/>
          <p:cNvSpPr/>
          <p:nvPr/>
        </p:nvSpPr>
        <p:spPr>
          <a:xfrm>
            <a:off x="4495800" y="1676400"/>
            <a:ext cx="3429000" cy="1905000"/>
          </a:xfrm>
          <a:prstGeom prst="rect">
            <a:avLst/>
          </a:prstGeom>
          <a:solidFill>
            <a:srgbClr val="F3F4F6"/>
          </a:solidFill>
          <a:ln>
            <a:noFill/>
          </a:ln>
        </p:spPr>
        <p:txBody>
          <a:bodyPr wrap="square" lIns="0" tIns="0" rIns="0" bIns="0" rtlCol="0" anchor="t">
            <a:noAutofit/>
          </a:bodyPr>
          <a:lstStyle/>
          <a:p>
            <a:endParaRPr lang="en-GB" dirty="0"/>
          </a:p>
        </p:txBody>
      </p:sp>
      <p:sp>
        <p:nvSpPr>
          <p:cNvPr id="105" name="Shape 105"/>
          <p:cNvSpPr/>
          <p:nvPr/>
        </p:nvSpPr>
        <p:spPr>
          <a:xfrm>
            <a:off x="4495800" y="1676400"/>
            <a:ext cx="76200" cy="1905000"/>
          </a:xfrm>
          <a:prstGeom prst="rect">
            <a:avLst/>
          </a:prstGeom>
          <a:solidFill>
            <a:srgbClr val="E4572E"/>
          </a:solidFill>
          <a:ln>
            <a:noFill/>
          </a:ln>
        </p:spPr>
        <p:txBody>
          <a:bodyPr wrap="square" lIns="0" tIns="0" rIns="0" bIns="0" rtlCol="0" anchor="t">
            <a:noAutofit/>
          </a:bodyPr>
          <a:lstStyle/>
          <a:p>
            <a:endParaRPr lang="en-GB" dirty="0"/>
          </a:p>
        </p:txBody>
      </p:sp>
      <p:sp>
        <p:nvSpPr>
          <p:cNvPr id="106" name="Shape 106"/>
          <p:cNvSpPr/>
          <p:nvPr/>
        </p:nvSpPr>
        <p:spPr>
          <a:xfrm>
            <a:off x="4851400" y="2222500"/>
            <a:ext cx="812800" cy="812800"/>
          </a:xfrm>
          <a:prstGeom prst="ellipse">
            <a:avLst/>
          </a:prstGeom>
          <a:solidFill>
            <a:srgbClr val="E4572E"/>
          </a:solidFill>
          <a:ln>
            <a:noFill/>
          </a:ln>
        </p:spPr>
        <p:txBody>
          <a:bodyPr wrap="square" lIns="0" tIns="0" rIns="0" bIns="0" rtlCol="0" anchor="ctr">
            <a:noAutofit/>
          </a:bodyPr>
          <a:lstStyle/>
          <a:p>
            <a:pPr marL="0" indent="0" algn="ctr">
              <a:spcBef>
                <a:spcPts val="0"/>
              </a:spcBef>
              <a:spcAft>
                <a:spcPts val="0"/>
              </a:spcAft>
              <a:buNone/>
            </a:pPr>
            <a:endParaRPr lang="en-GB" sz="1600" dirty="0"/>
          </a:p>
        </p:txBody>
      </p:sp>
      <p:sp>
        <p:nvSpPr>
          <p:cNvPr id="107" name="Shape 107"/>
          <p:cNvSpPr txBox="1"/>
          <p:nvPr/>
        </p:nvSpPr>
        <p:spPr>
          <a:xfrm>
            <a:off x="5892800" y="1930400"/>
            <a:ext cx="1854200" cy="139700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GB" sz="2000" b="1" dirty="0">
                <a:solidFill>
                  <a:srgbClr val="0B1F3A"/>
                </a:solidFill>
                <a:latin typeface="Anthropic Sans Text"/>
                <a:cs typeface="Anthropic Sans Text"/>
              </a:rPr>
              <a:t>High staff turnover</a:t>
            </a:r>
            <a:endParaRPr lang="en-GB" sz="2000" dirty="0"/>
          </a:p>
        </p:txBody>
      </p:sp>
      <p:sp>
        <p:nvSpPr>
          <p:cNvPr id="108" name="Shape 108"/>
          <p:cNvSpPr/>
          <p:nvPr/>
        </p:nvSpPr>
        <p:spPr>
          <a:xfrm>
            <a:off x="8305800" y="1676400"/>
            <a:ext cx="3429000" cy="1905000"/>
          </a:xfrm>
          <a:prstGeom prst="rect">
            <a:avLst/>
          </a:prstGeom>
          <a:solidFill>
            <a:srgbClr val="F3F4F6"/>
          </a:solidFill>
          <a:ln>
            <a:noFill/>
          </a:ln>
        </p:spPr>
        <p:txBody>
          <a:bodyPr wrap="square" lIns="0" tIns="0" rIns="0" bIns="0" rtlCol="0" anchor="t">
            <a:noAutofit/>
          </a:bodyPr>
          <a:lstStyle/>
          <a:p>
            <a:endParaRPr lang="en-GB" dirty="0"/>
          </a:p>
        </p:txBody>
      </p:sp>
      <p:sp>
        <p:nvSpPr>
          <p:cNvPr id="109" name="Shape 109"/>
          <p:cNvSpPr/>
          <p:nvPr/>
        </p:nvSpPr>
        <p:spPr>
          <a:xfrm>
            <a:off x="8305800" y="1676400"/>
            <a:ext cx="76200" cy="1905000"/>
          </a:xfrm>
          <a:prstGeom prst="rect">
            <a:avLst/>
          </a:prstGeom>
          <a:solidFill>
            <a:srgbClr val="F2A541"/>
          </a:solidFill>
          <a:ln>
            <a:noFill/>
          </a:ln>
        </p:spPr>
        <p:txBody>
          <a:bodyPr wrap="square" lIns="0" tIns="0" rIns="0" bIns="0" rtlCol="0" anchor="t">
            <a:noAutofit/>
          </a:bodyPr>
          <a:lstStyle/>
          <a:p>
            <a:endParaRPr lang="en-GB" dirty="0"/>
          </a:p>
        </p:txBody>
      </p:sp>
      <p:sp>
        <p:nvSpPr>
          <p:cNvPr id="110" name="Shape 110"/>
          <p:cNvSpPr/>
          <p:nvPr/>
        </p:nvSpPr>
        <p:spPr>
          <a:xfrm>
            <a:off x="8661400" y="2222500"/>
            <a:ext cx="812800" cy="812800"/>
          </a:xfrm>
          <a:prstGeom prst="ellipse">
            <a:avLst/>
          </a:prstGeom>
          <a:solidFill>
            <a:srgbClr val="F2A541"/>
          </a:solidFill>
          <a:ln>
            <a:noFill/>
          </a:ln>
        </p:spPr>
        <p:txBody>
          <a:bodyPr wrap="square" lIns="0" tIns="0" rIns="0" bIns="0" rtlCol="0" anchor="ctr">
            <a:noAutofit/>
          </a:bodyPr>
          <a:lstStyle/>
          <a:p>
            <a:pPr marL="0" indent="0" algn="ctr">
              <a:spcBef>
                <a:spcPts val="0"/>
              </a:spcBef>
              <a:spcAft>
                <a:spcPts val="0"/>
              </a:spcAft>
              <a:buNone/>
            </a:pPr>
            <a:endParaRPr lang="en-GB" sz="1600" dirty="0"/>
          </a:p>
        </p:txBody>
      </p:sp>
      <p:sp>
        <p:nvSpPr>
          <p:cNvPr id="111" name="Shape 111"/>
          <p:cNvSpPr txBox="1"/>
          <p:nvPr/>
        </p:nvSpPr>
        <p:spPr>
          <a:xfrm>
            <a:off x="9702800" y="1930400"/>
            <a:ext cx="1854200" cy="139700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GB" sz="2000" b="1" dirty="0">
                <a:solidFill>
                  <a:srgbClr val="0B1F3A"/>
                </a:solidFill>
                <a:latin typeface="Anthropic Sans Text"/>
                <a:cs typeface="Anthropic Sans Text"/>
              </a:rPr>
              <a:t>Complex, changing payer rules</a:t>
            </a:r>
            <a:endParaRPr lang="en-GB" sz="2000" dirty="0"/>
          </a:p>
        </p:txBody>
      </p:sp>
      <p:sp>
        <p:nvSpPr>
          <p:cNvPr id="112" name="Shape 112"/>
          <p:cNvSpPr/>
          <p:nvPr/>
        </p:nvSpPr>
        <p:spPr>
          <a:xfrm>
            <a:off x="685800" y="3962400"/>
            <a:ext cx="3429000" cy="1905000"/>
          </a:xfrm>
          <a:prstGeom prst="rect">
            <a:avLst/>
          </a:prstGeom>
          <a:solidFill>
            <a:srgbClr val="F3F4F6"/>
          </a:solidFill>
          <a:ln>
            <a:noFill/>
          </a:ln>
        </p:spPr>
        <p:txBody>
          <a:bodyPr wrap="square" lIns="0" tIns="0" rIns="0" bIns="0" rtlCol="0" anchor="t">
            <a:noAutofit/>
          </a:bodyPr>
          <a:lstStyle/>
          <a:p>
            <a:endParaRPr lang="en-GB" dirty="0"/>
          </a:p>
        </p:txBody>
      </p:sp>
      <p:sp>
        <p:nvSpPr>
          <p:cNvPr id="113" name="Shape 113"/>
          <p:cNvSpPr/>
          <p:nvPr/>
        </p:nvSpPr>
        <p:spPr>
          <a:xfrm>
            <a:off x="685800" y="3962400"/>
            <a:ext cx="76200" cy="1905000"/>
          </a:xfrm>
          <a:prstGeom prst="rect">
            <a:avLst/>
          </a:prstGeom>
          <a:solidFill>
            <a:srgbClr val="F2A541"/>
          </a:solidFill>
          <a:ln>
            <a:noFill/>
          </a:ln>
        </p:spPr>
        <p:txBody>
          <a:bodyPr wrap="square" lIns="0" tIns="0" rIns="0" bIns="0" rtlCol="0" anchor="t">
            <a:noAutofit/>
          </a:bodyPr>
          <a:lstStyle/>
          <a:p>
            <a:endParaRPr lang="en-GB" dirty="0"/>
          </a:p>
        </p:txBody>
      </p:sp>
      <p:sp>
        <p:nvSpPr>
          <p:cNvPr id="114" name="Shape 114"/>
          <p:cNvSpPr/>
          <p:nvPr/>
        </p:nvSpPr>
        <p:spPr>
          <a:xfrm>
            <a:off x="1041400" y="4508500"/>
            <a:ext cx="812800" cy="812800"/>
          </a:xfrm>
          <a:prstGeom prst="ellipse">
            <a:avLst/>
          </a:prstGeom>
          <a:solidFill>
            <a:srgbClr val="F2A541"/>
          </a:solidFill>
          <a:ln>
            <a:noFill/>
          </a:ln>
        </p:spPr>
        <p:txBody>
          <a:bodyPr wrap="square" lIns="0" tIns="0" rIns="0" bIns="0" rtlCol="0" anchor="ctr">
            <a:noAutofit/>
          </a:bodyPr>
          <a:lstStyle/>
          <a:p>
            <a:pPr marL="0" indent="0" algn="ctr">
              <a:spcBef>
                <a:spcPts val="0"/>
              </a:spcBef>
              <a:spcAft>
                <a:spcPts val="0"/>
              </a:spcAft>
              <a:buNone/>
            </a:pPr>
            <a:endParaRPr lang="en-GB" sz="1600" dirty="0"/>
          </a:p>
        </p:txBody>
      </p:sp>
      <p:sp>
        <p:nvSpPr>
          <p:cNvPr id="115" name="Shape 115"/>
          <p:cNvSpPr txBox="1"/>
          <p:nvPr/>
        </p:nvSpPr>
        <p:spPr>
          <a:xfrm>
            <a:off x="2082800" y="4216400"/>
            <a:ext cx="1854200" cy="139700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GB" sz="2000" b="1" dirty="0">
                <a:solidFill>
                  <a:srgbClr val="0B1F3A"/>
                </a:solidFill>
                <a:latin typeface="Anthropic Sans Text"/>
                <a:cs typeface="Anthropic Sans Text"/>
              </a:rPr>
              <a:t>Missed appeal deadlines</a:t>
            </a:r>
            <a:endParaRPr lang="en-GB" sz="2000" dirty="0"/>
          </a:p>
        </p:txBody>
      </p:sp>
      <p:sp>
        <p:nvSpPr>
          <p:cNvPr id="116" name="Shape 116"/>
          <p:cNvSpPr/>
          <p:nvPr/>
        </p:nvSpPr>
        <p:spPr>
          <a:xfrm>
            <a:off x="4495800" y="3962400"/>
            <a:ext cx="3429000" cy="1905000"/>
          </a:xfrm>
          <a:prstGeom prst="rect">
            <a:avLst/>
          </a:prstGeom>
          <a:solidFill>
            <a:srgbClr val="F3F4F6"/>
          </a:solidFill>
          <a:ln>
            <a:noFill/>
          </a:ln>
        </p:spPr>
        <p:txBody>
          <a:bodyPr wrap="square" lIns="0" tIns="0" rIns="0" bIns="0" rtlCol="0" anchor="t">
            <a:noAutofit/>
          </a:bodyPr>
          <a:lstStyle/>
          <a:p>
            <a:endParaRPr lang="en-GB" dirty="0"/>
          </a:p>
        </p:txBody>
      </p:sp>
      <p:sp>
        <p:nvSpPr>
          <p:cNvPr id="117" name="Shape 117"/>
          <p:cNvSpPr/>
          <p:nvPr/>
        </p:nvSpPr>
        <p:spPr>
          <a:xfrm>
            <a:off x="4495800" y="3962400"/>
            <a:ext cx="76200" cy="1905000"/>
          </a:xfrm>
          <a:prstGeom prst="rect">
            <a:avLst/>
          </a:prstGeom>
          <a:solidFill>
            <a:srgbClr val="E4572E"/>
          </a:solidFill>
          <a:ln>
            <a:noFill/>
          </a:ln>
        </p:spPr>
        <p:txBody>
          <a:bodyPr wrap="square" lIns="0" tIns="0" rIns="0" bIns="0" rtlCol="0" anchor="t">
            <a:noAutofit/>
          </a:bodyPr>
          <a:lstStyle/>
          <a:p>
            <a:endParaRPr lang="en-GB" dirty="0"/>
          </a:p>
        </p:txBody>
      </p:sp>
      <p:sp>
        <p:nvSpPr>
          <p:cNvPr id="118" name="Shape 118"/>
          <p:cNvSpPr/>
          <p:nvPr/>
        </p:nvSpPr>
        <p:spPr>
          <a:xfrm>
            <a:off x="4851400" y="4508500"/>
            <a:ext cx="812800" cy="812800"/>
          </a:xfrm>
          <a:prstGeom prst="ellipse">
            <a:avLst/>
          </a:prstGeom>
          <a:solidFill>
            <a:srgbClr val="E4572E"/>
          </a:solidFill>
          <a:ln>
            <a:noFill/>
          </a:ln>
        </p:spPr>
        <p:txBody>
          <a:bodyPr wrap="square" lIns="0" tIns="0" rIns="0" bIns="0" rtlCol="0" anchor="ctr">
            <a:noAutofit/>
          </a:bodyPr>
          <a:lstStyle/>
          <a:p>
            <a:pPr marL="0" indent="0" algn="ctr">
              <a:spcBef>
                <a:spcPts val="0"/>
              </a:spcBef>
              <a:spcAft>
                <a:spcPts val="0"/>
              </a:spcAft>
              <a:buNone/>
            </a:pPr>
            <a:endParaRPr lang="en-GB" sz="1600" dirty="0"/>
          </a:p>
        </p:txBody>
      </p:sp>
      <p:sp>
        <p:nvSpPr>
          <p:cNvPr id="119" name="Shape 119"/>
          <p:cNvSpPr txBox="1"/>
          <p:nvPr/>
        </p:nvSpPr>
        <p:spPr>
          <a:xfrm>
            <a:off x="5892800" y="4216400"/>
            <a:ext cx="1854200" cy="139700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GB" sz="2000" b="1" dirty="0">
                <a:solidFill>
                  <a:srgbClr val="0B1F3A"/>
                </a:solidFill>
                <a:latin typeface="Anthropic Sans Text"/>
                <a:cs typeface="Anthropic Sans Text"/>
              </a:rPr>
              <a:t>No prioritisation</a:t>
            </a:r>
            <a:endParaRPr lang="en-GB" sz="2000" dirty="0"/>
          </a:p>
        </p:txBody>
      </p:sp>
      <p:sp>
        <p:nvSpPr>
          <p:cNvPr id="120" name="Shape 120"/>
          <p:cNvSpPr/>
          <p:nvPr/>
        </p:nvSpPr>
        <p:spPr>
          <a:xfrm>
            <a:off x="8305800" y="3962400"/>
            <a:ext cx="3429000" cy="1905000"/>
          </a:xfrm>
          <a:prstGeom prst="rect">
            <a:avLst/>
          </a:prstGeom>
          <a:solidFill>
            <a:srgbClr val="F3F4F6"/>
          </a:solidFill>
          <a:ln>
            <a:noFill/>
          </a:ln>
        </p:spPr>
        <p:txBody>
          <a:bodyPr wrap="square" lIns="0" tIns="0" rIns="0" bIns="0" rtlCol="0" anchor="t">
            <a:noAutofit/>
          </a:bodyPr>
          <a:lstStyle/>
          <a:p>
            <a:endParaRPr lang="en-GB" dirty="0"/>
          </a:p>
        </p:txBody>
      </p:sp>
      <p:sp>
        <p:nvSpPr>
          <p:cNvPr id="121" name="Shape 121"/>
          <p:cNvSpPr/>
          <p:nvPr/>
        </p:nvSpPr>
        <p:spPr>
          <a:xfrm>
            <a:off x="8305800" y="3962400"/>
            <a:ext cx="76200" cy="1905000"/>
          </a:xfrm>
          <a:prstGeom prst="rect">
            <a:avLst/>
          </a:prstGeom>
          <a:solidFill>
            <a:srgbClr val="E4572E"/>
          </a:solidFill>
          <a:ln>
            <a:noFill/>
          </a:ln>
        </p:spPr>
        <p:txBody>
          <a:bodyPr wrap="square" lIns="0" tIns="0" rIns="0" bIns="0" rtlCol="0" anchor="t">
            <a:noAutofit/>
          </a:bodyPr>
          <a:lstStyle/>
          <a:p>
            <a:endParaRPr lang="en-GB" dirty="0"/>
          </a:p>
        </p:txBody>
      </p:sp>
      <p:sp>
        <p:nvSpPr>
          <p:cNvPr id="122" name="Shape 122"/>
          <p:cNvSpPr/>
          <p:nvPr/>
        </p:nvSpPr>
        <p:spPr>
          <a:xfrm>
            <a:off x="8661400" y="4508500"/>
            <a:ext cx="812800" cy="812800"/>
          </a:xfrm>
          <a:prstGeom prst="ellipse">
            <a:avLst/>
          </a:prstGeom>
          <a:solidFill>
            <a:srgbClr val="E4572E"/>
          </a:solidFill>
          <a:ln>
            <a:noFill/>
          </a:ln>
        </p:spPr>
        <p:txBody>
          <a:bodyPr wrap="square" lIns="0" tIns="0" rIns="0" bIns="0" rtlCol="0" anchor="ctr">
            <a:noAutofit/>
          </a:bodyPr>
          <a:lstStyle/>
          <a:p>
            <a:pPr marL="0" indent="0" algn="ctr">
              <a:spcBef>
                <a:spcPts val="0"/>
              </a:spcBef>
              <a:spcAft>
                <a:spcPts val="0"/>
              </a:spcAft>
              <a:buNone/>
            </a:pPr>
            <a:endParaRPr lang="en-GB" sz="1600" dirty="0"/>
          </a:p>
        </p:txBody>
      </p:sp>
      <p:sp>
        <p:nvSpPr>
          <p:cNvPr id="123" name="Shape 123"/>
          <p:cNvSpPr txBox="1"/>
          <p:nvPr/>
        </p:nvSpPr>
        <p:spPr>
          <a:xfrm>
            <a:off x="9702800" y="4216400"/>
            <a:ext cx="1854200" cy="139700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GB" sz="2000" b="1" dirty="0">
                <a:solidFill>
                  <a:srgbClr val="0B1F3A"/>
                </a:solidFill>
                <a:latin typeface="Anthropic Sans Text"/>
                <a:cs typeface="Anthropic Sans Text"/>
              </a:rPr>
              <a:t>Cash-flow pressure</a:t>
            </a:r>
            <a:endParaRPr lang="en-GB" sz="2000" dirty="0"/>
          </a:p>
        </p:txBody>
      </p:sp>
      <p:pic>
        <p:nvPicPr>
          <p:cNvPr id="124" name="Graphic 124"/>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9200" y="2400300"/>
            <a:ext cx="457200" cy="457200"/>
          </a:xfrm>
          <a:prstGeom prst="rect">
            <a:avLst/>
          </a:prstGeom>
        </p:spPr>
      </p:pic>
      <p:pic>
        <p:nvPicPr>
          <p:cNvPr id="125" name="Graphic 125"/>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29200" y="2400300"/>
            <a:ext cx="457200" cy="457200"/>
          </a:xfrm>
          <a:prstGeom prst="rect">
            <a:avLst/>
          </a:prstGeom>
        </p:spPr>
      </p:pic>
      <p:pic>
        <p:nvPicPr>
          <p:cNvPr id="126" name="Graphic 126"/>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39200" y="2400300"/>
            <a:ext cx="457200" cy="457200"/>
          </a:xfrm>
          <a:prstGeom prst="rect">
            <a:avLst/>
          </a:prstGeom>
        </p:spPr>
      </p:pic>
      <p:pic>
        <p:nvPicPr>
          <p:cNvPr id="127" name="Graphic 127"/>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219200" y="4686300"/>
            <a:ext cx="457200" cy="457200"/>
          </a:xfrm>
          <a:prstGeom prst="rect">
            <a:avLst/>
          </a:prstGeom>
        </p:spPr>
      </p:pic>
      <p:pic>
        <p:nvPicPr>
          <p:cNvPr id="128" name="Graphic 128"/>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029200" y="4686300"/>
            <a:ext cx="457200" cy="457200"/>
          </a:xfrm>
          <a:prstGeom prst="rect">
            <a:avLst/>
          </a:prstGeom>
        </p:spPr>
      </p:pic>
      <p:pic>
        <p:nvPicPr>
          <p:cNvPr id="129" name="Graphic 129"/>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839200" y="4686300"/>
            <a:ext cx="457200" cy="457200"/>
          </a:xfrm>
          <a:prstGeom prst="rect">
            <a:avLst/>
          </a:prstGeom>
        </p:spPr>
      </p:pic>
    </p:spTree>
    <p:extLst>
      <p:ext uri="{BB962C8B-B14F-4D97-AF65-F5344CB8AC3E}">
        <p14:creationId xmlns:p14="http://schemas.microsoft.com/office/powerpoint/2010/main" val="37165981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E2770-BB4D-E272-EC16-B1E30019079E}"/>
              </a:ext>
            </a:extLst>
          </p:cNvPr>
          <p:cNvSpPr>
            <a:spLocks noGrp="1"/>
          </p:cNvSpPr>
          <p:nvPr>
            <p:ph type="title"/>
          </p:nvPr>
        </p:nvSpPr>
        <p:spPr/>
        <p:txBody>
          <a:bodyPr/>
          <a:lstStyle/>
          <a:p>
            <a:r>
              <a:rPr lang="en-GB" dirty="0"/>
              <a:t>Today, every denial is a manual research project</a:t>
            </a:r>
          </a:p>
        </p:txBody>
      </p:sp>
      <p:sp>
        <p:nvSpPr>
          <p:cNvPr id="100" name="Shape 100"/>
          <p:cNvSpPr txBox="1"/>
          <p:nvPr/>
        </p:nvSpPr>
        <p:spPr>
          <a:xfrm>
            <a:off x="685800" y="1676400"/>
            <a:ext cx="7620000" cy="2794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200" b="1" spc="150" dirty="0">
                <a:solidFill>
                  <a:srgbClr val="52606D"/>
                </a:solidFill>
                <a:latin typeface="Anthropic Sans Text"/>
                <a:cs typeface="Anthropic Sans Text"/>
              </a:rPr>
              <a:t>TODAY: SIX MANUAL STEPS, ONE CLAIM AT A TIME</a:t>
            </a:r>
            <a:endParaRPr lang="en-GB" sz="1200" dirty="0"/>
          </a:p>
        </p:txBody>
      </p:sp>
      <p:sp>
        <p:nvSpPr>
          <p:cNvPr id="101" name="Shape 101"/>
          <p:cNvSpPr/>
          <p:nvPr/>
        </p:nvSpPr>
        <p:spPr>
          <a:xfrm>
            <a:off x="685800" y="2235200"/>
            <a:ext cx="1625600" cy="1320800"/>
          </a:xfrm>
          <a:prstGeom prst="rect">
            <a:avLst/>
          </a:prstGeom>
          <a:solidFill>
            <a:srgbClr val="F3F4F6"/>
          </a:solidFill>
          <a:ln w="12700">
            <a:solidFill>
              <a:srgbClr val="E0E3E7"/>
            </a:solidFill>
          </a:ln>
        </p:spPr>
        <p:txBody>
          <a:bodyPr wrap="square" lIns="0" tIns="0" rIns="0" bIns="0" rtlCol="0" anchor="t">
            <a:noAutofit/>
          </a:bodyPr>
          <a:lstStyle/>
          <a:p>
            <a:endParaRPr lang="en-GB" dirty="0"/>
          </a:p>
        </p:txBody>
      </p:sp>
      <p:sp>
        <p:nvSpPr>
          <p:cNvPr id="102" name="Shape 102"/>
          <p:cNvSpPr txBox="1"/>
          <p:nvPr/>
        </p:nvSpPr>
        <p:spPr>
          <a:xfrm>
            <a:off x="838200" y="2387600"/>
            <a:ext cx="1320800" cy="228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200" b="1" dirty="0">
                <a:solidFill>
                  <a:srgbClr val="52606D"/>
                </a:solidFill>
                <a:latin typeface="Anthropic Mono"/>
                <a:cs typeface="Anthropic Mono"/>
              </a:rPr>
              <a:t>01</a:t>
            </a:r>
            <a:endParaRPr lang="en-GB" sz="1200" dirty="0"/>
          </a:p>
        </p:txBody>
      </p:sp>
      <p:sp>
        <p:nvSpPr>
          <p:cNvPr id="103" name="Shape 103"/>
          <p:cNvSpPr txBox="1"/>
          <p:nvPr/>
        </p:nvSpPr>
        <p:spPr>
          <a:xfrm>
            <a:off x="838200" y="2667000"/>
            <a:ext cx="1320800" cy="7874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GB" sz="1600" b="1" dirty="0">
                <a:solidFill>
                  <a:srgbClr val="0B1F3A"/>
                </a:solidFill>
                <a:latin typeface="Anthropic Sans Text"/>
                <a:cs typeface="Anthropic Sans Text"/>
              </a:rPr>
              <a:t>Remittance arrives</a:t>
            </a:r>
            <a:endParaRPr lang="en-GB" sz="1600" dirty="0"/>
          </a:p>
        </p:txBody>
      </p:sp>
      <p:cxnSp>
        <p:nvCxnSpPr>
          <p:cNvPr id="104" name="Line 104"/>
          <p:cNvCxnSpPr/>
          <p:nvPr/>
        </p:nvCxnSpPr>
        <p:spPr>
          <a:xfrm>
            <a:off x="2349500" y="2895600"/>
            <a:ext cx="172720" cy="0"/>
          </a:xfrm>
          <a:prstGeom prst="line">
            <a:avLst/>
          </a:prstGeom>
          <a:ln w="19050">
            <a:solidFill>
              <a:srgbClr val="9AA5B1"/>
            </a:solidFill>
            <a:tailEnd type="triangle" w="med" len="med"/>
          </a:ln>
        </p:spPr>
      </p:cxnSp>
      <p:sp>
        <p:nvSpPr>
          <p:cNvPr id="105" name="Shape 105"/>
          <p:cNvSpPr/>
          <p:nvPr/>
        </p:nvSpPr>
        <p:spPr>
          <a:xfrm>
            <a:off x="2560320" y="2235200"/>
            <a:ext cx="1625600" cy="1320800"/>
          </a:xfrm>
          <a:prstGeom prst="rect">
            <a:avLst/>
          </a:prstGeom>
          <a:solidFill>
            <a:srgbClr val="F3F4F6"/>
          </a:solidFill>
          <a:ln w="19050">
            <a:solidFill>
              <a:srgbClr val="E4572E"/>
            </a:solidFill>
          </a:ln>
        </p:spPr>
        <p:txBody>
          <a:bodyPr wrap="square" lIns="0" tIns="0" rIns="0" bIns="0" rtlCol="0" anchor="t">
            <a:noAutofit/>
          </a:bodyPr>
          <a:lstStyle/>
          <a:p>
            <a:endParaRPr lang="en-GB" dirty="0"/>
          </a:p>
        </p:txBody>
      </p:sp>
      <p:sp>
        <p:nvSpPr>
          <p:cNvPr id="106" name="Shape 106"/>
          <p:cNvSpPr txBox="1"/>
          <p:nvPr/>
        </p:nvSpPr>
        <p:spPr>
          <a:xfrm>
            <a:off x="2712720" y="2387600"/>
            <a:ext cx="1320800" cy="228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200" b="1" dirty="0">
                <a:solidFill>
                  <a:srgbClr val="E4572E"/>
                </a:solidFill>
                <a:latin typeface="Anthropic Mono"/>
                <a:cs typeface="Anthropic Mono"/>
              </a:rPr>
              <a:t>02</a:t>
            </a:r>
            <a:endParaRPr lang="en-GB" sz="1200" dirty="0"/>
          </a:p>
        </p:txBody>
      </p:sp>
      <p:sp>
        <p:nvSpPr>
          <p:cNvPr id="107" name="Shape 107"/>
          <p:cNvSpPr txBox="1"/>
          <p:nvPr/>
        </p:nvSpPr>
        <p:spPr>
          <a:xfrm>
            <a:off x="2712720" y="2667000"/>
            <a:ext cx="1320800" cy="7874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GB" sz="1600" b="1" dirty="0">
                <a:solidFill>
                  <a:srgbClr val="0B1F3A"/>
                </a:solidFill>
                <a:latin typeface="Anthropic Sans Text"/>
                <a:cs typeface="Anthropic Sans Text"/>
              </a:rPr>
              <a:t>Codes looked up manually</a:t>
            </a:r>
            <a:endParaRPr lang="en-GB" sz="1600" dirty="0"/>
          </a:p>
        </p:txBody>
      </p:sp>
      <p:cxnSp>
        <p:nvCxnSpPr>
          <p:cNvPr id="108" name="Line 108"/>
          <p:cNvCxnSpPr/>
          <p:nvPr/>
        </p:nvCxnSpPr>
        <p:spPr>
          <a:xfrm>
            <a:off x="4224020" y="2895600"/>
            <a:ext cx="172720" cy="0"/>
          </a:xfrm>
          <a:prstGeom prst="line">
            <a:avLst/>
          </a:prstGeom>
          <a:ln w="19050">
            <a:solidFill>
              <a:srgbClr val="9AA5B1"/>
            </a:solidFill>
            <a:tailEnd type="triangle" w="med" len="med"/>
          </a:ln>
        </p:spPr>
      </p:cxnSp>
      <p:sp>
        <p:nvSpPr>
          <p:cNvPr id="109" name="Shape 109"/>
          <p:cNvSpPr/>
          <p:nvPr/>
        </p:nvSpPr>
        <p:spPr>
          <a:xfrm>
            <a:off x="3804920" y="2095500"/>
            <a:ext cx="279400" cy="279400"/>
          </a:xfrm>
          <a:prstGeom prst="ellipse">
            <a:avLst/>
          </a:prstGeom>
          <a:solidFill>
            <a:srgbClr val="E4572E"/>
          </a:solidFill>
          <a:ln>
            <a:noFill/>
          </a:ln>
        </p:spPr>
        <p:txBody>
          <a:bodyPr wrap="square" lIns="0" tIns="0" rIns="0" bIns="0" rtlCol="0" anchor="ctr">
            <a:noAutofit/>
          </a:bodyPr>
          <a:lstStyle/>
          <a:p>
            <a:pPr marL="0" indent="0" algn="ctr">
              <a:spcBef>
                <a:spcPts val="0"/>
              </a:spcBef>
              <a:spcAft>
                <a:spcPts val="0"/>
              </a:spcAft>
              <a:buNone/>
            </a:pPr>
            <a:r>
              <a:rPr lang="en-GB" sz="1300" b="1" dirty="0">
                <a:solidFill>
                  <a:srgbClr val="FFFFFF"/>
                </a:solidFill>
                <a:latin typeface="Anthropic Sans Text"/>
                <a:cs typeface="Anthropic Sans Text"/>
              </a:rPr>
              <a:t>!</a:t>
            </a:r>
            <a:endParaRPr lang="en-GB" sz="1300" dirty="0"/>
          </a:p>
        </p:txBody>
      </p:sp>
      <p:sp>
        <p:nvSpPr>
          <p:cNvPr id="110" name="Shape 110"/>
          <p:cNvSpPr/>
          <p:nvPr/>
        </p:nvSpPr>
        <p:spPr>
          <a:xfrm>
            <a:off x="4434840" y="2235200"/>
            <a:ext cx="1625600" cy="1320800"/>
          </a:xfrm>
          <a:prstGeom prst="rect">
            <a:avLst/>
          </a:prstGeom>
          <a:solidFill>
            <a:srgbClr val="F3F4F6"/>
          </a:solidFill>
          <a:ln w="19050">
            <a:solidFill>
              <a:srgbClr val="E4572E"/>
            </a:solidFill>
          </a:ln>
        </p:spPr>
        <p:txBody>
          <a:bodyPr wrap="square" lIns="0" tIns="0" rIns="0" bIns="0" rtlCol="0" anchor="t">
            <a:noAutofit/>
          </a:bodyPr>
          <a:lstStyle/>
          <a:p>
            <a:endParaRPr lang="en-GB" dirty="0"/>
          </a:p>
        </p:txBody>
      </p:sp>
      <p:sp>
        <p:nvSpPr>
          <p:cNvPr id="111" name="Shape 111"/>
          <p:cNvSpPr txBox="1"/>
          <p:nvPr/>
        </p:nvSpPr>
        <p:spPr>
          <a:xfrm>
            <a:off x="4587240" y="2387600"/>
            <a:ext cx="1320800" cy="228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200" b="1" dirty="0">
                <a:solidFill>
                  <a:srgbClr val="E4572E"/>
                </a:solidFill>
                <a:latin typeface="Anthropic Mono"/>
                <a:cs typeface="Anthropic Mono"/>
              </a:rPr>
              <a:t>03</a:t>
            </a:r>
            <a:endParaRPr lang="en-GB" sz="1200" dirty="0"/>
          </a:p>
        </p:txBody>
      </p:sp>
      <p:sp>
        <p:nvSpPr>
          <p:cNvPr id="112" name="Shape 112"/>
          <p:cNvSpPr txBox="1"/>
          <p:nvPr/>
        </p:nvSpPr>
        <p:spPr>
          <a:xfrm>
            <a:off x="4587240" y="2667000"/>
            <a:ext cx="1320800" cy="7874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GB" sz="1600" b="1" dirty="0">
                <a:solidFill>
                  <a:srgbClr val="0B1F3A"/>
                </a:solidFill>
                <a:latin typeface="Anthropic Sans Text"/>
                <a:cs typeface="Anthropic Sans Text"/>
              </a:rPr>
              <a:t>Research payer rules</a:t>
            </a:r>
            <a:endParaRPr lang="en-GB" sz="1600" dirty="0"/>
          </a:p>
        </p:txBody>
      </p:sp>
      <p:cxnSp>
        <p:nvCxnSpPr>
          <p:cNvPr id="113" name="Line 113"/>
          <p:cNvCxnSpPr/>
          <p:nvPr/>
        </p:nvCxnSpPr>
        <p:spPr>
          <a:xfrm>
            <a:off x="6098540" y="2895600"/>
            <a:ext cx="172720" cy="0"/>
          </a:xfrm>
          <a:prstGeom prst="line">
            <a:avLst/>
          </a:prstGeom>
          <a:ln w="19050">
            <a:solidFill>
              <a:srgbClr val="9AA5B1"/>
            </a:solidFill>
            <a:tailEnd type="triangle" w="med" len="med"/>
          </a:ln>
        </p:spPr>
      </p:cxnSp>
      <p:sp>
        <p:nvSpPr>
          <p:cNvPr id="114" name="Shape 114"/>
          <p:cNvSpPr/>
          <p:nvPr/>
        </p:nvSpPr>
        <p:spPr>
          <a:xfrm>
            <a:off x="5679440" y="2095500"/>
            <a:ext cx="279400" cy="279400"/>
          </a:xfrm>
          <a:prstGeom prst="ellipse">
            <a:avLst/>
          </a:prstGeom>
          <a:solidFill>
            <a:srgbClr val="E4572E"/>
          </a:solidFill>
          <a:ln>
            <a:noFill/>
          </a:ln>
        </p:spPr>
        <p:txBody>
          <a:bodyPr wrap="square" lIns="0" tIns="0" rIns="0" bIns="0" rtlCol="0" anchor="ctr">
            <a:noAutofit/>
          </a:bodyPr>
          <a:lstStyle/>
          <a:p>
            <a:pPr marL="0" indent="0" algn="ctr">
              <a:spcBef>
                <a:spcPts val="0"/>
              </a:spcBef>
              <a:spcAft>
                <a:spcPts val="0"/>
              </a:spcAft>
              <a:buNone/>
            </a:pPr>
            <a:r>
              <a:rPr lang="en-GB" sz="1300" b="1" dirty="0">
                <a:solidFill>
                  <a:srgbClr val="FFFFFF"/>
                </a:solidFill>
                <a:latin typeface="Anthropic Sans Text"/>
                <a:cs typeface="Anthropic Sans Text"/>
              </a:rPr>
              <a:t>!</a:t>
            </a:r>
            <a:endParaRPr lang="en-GB" sz="1300" dirty="0"/>
          </a:p>
        </p:txBody>
      </p:sp>
      <p:sp>
        <p:nvSpPr>
          <p:cNvPr id="115" name="Shape 115"/>
          <p:cNvSpPr/>
          <p:nvPr/>
        </p:nvSpPr>
        <p:spPr>
          <a:xfrm>
            <a:off x="6309360" y="2235200"/>
            <a:ext cx="1625600" cy="1320800"/>
          </a:xfrm>
          <a:prstGeom prst="rect">
            <a:avLst/>
          </a:prstGeom>
          <a:solidFill>
            <a:srgbClr val="F3F4F6"/>
          </a:solidFill>
          <a:ln w="19050">
            <a:solidFill>
              <a:srgbClr val="E4572E"/>
            </a:solidFill>
          </a:ln>
        </p:spPr>
        <p:txBody>
          <a:bodyPr wrap="square" lIns="0" tIns="0" rIns="0" bIns="0" rtlCol="0" anchor="t">
            <a:noAutofit/>
          </a:bodyPr>
          <a:lstStyle/>
          <a:p>
            <a:endParaRPr lang="en-GB" dirty="0"/>
          </a:p>
        </p:txBody>
      </p:sp>
      <p:sp>
        <p:nvSpPr>
          <p:cNvPr id="116" name="Shape 116"/>
          <p:cNvSpPr txBox="1"/>
          <p:nvPr/>
        </p:nvSpPr>
        <p:spPr>
          <a:xfrm>
            <a:off x="6461760" y="2387600"/>
            <a:ext cx="1320800" cy="228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200" b="1" dirty="0">
                <a:solidFill>
                  <a:srgbClr val="E4572E"/>
                </a:solidFill>
                <a:latin typeface="Anthropic Mono"/>
                <a:cs typeface="Anthropic Mono"/>
              </a:rPr>
              <a:t>04</a:t>
            </a:r>
            <a:endParaRPr lang="en-GB" sz="1200" dirty="0"/>
          </a:p>
        </p:txBody>
      </p:sp>
      <p:sp>
        <p:nvSpPr>
          <p:cNvPr id="117" name="Shape 117"/>
          <p:cNvSpPr txBox="1"/>
          <p:nvPr/>
        </p:nvSpPr>
        <p:spPr>
          <a:xfrm>
            <a:off x="6461760" y="2667000"/>
            <a:ext cx="1320800" cy="7874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GB" sz="1600" b="1" dirty="0">
                <a:solidFill>
                  <a:srgbClr val="0B1F3A"/>
                </a:solidFill>
                <a:latin typeface="Anthropic Sans Text"/>
                <a:cs typeface="Anthropic Sans Text"/>
              </a:rPr>
              <a:t>Decide fix vs appeal</a:t>
            </a:r>
            <a:endParaRPr lang="en-GB" sz="1600" dirty="0"/>
          </a:p>
        </p:txBody>
      </p:sp>
      <p:cxnSp>
        <p:nvCxnSpPr>
          <p:cNvPr id="118" name="Line 118"/>
          <p:cNvCxnSpPr/>
          <p:nvPr/>
        </p:nvCxnSpPr>
        <p:spPr>
          <a:xfrm>
            <a:off x="7973060" y="2895600"/>
            <a:ext cx="172720" cy="0"/>
          </a:xfrm>
          <a:prstGeom prst="line">
            <a:avLst/>
          </a:prstGeom>
          <a:ln w="19050">
            <a:solidFill>
              <a:srgbClr val="9AA5B1"/>
            </a:solidFill>
            <a:tailEnd type="triangle" w="med" len="med"/>
          </a:ln>
        </p:spPr>
      </p:cxnSp>
      <p:sp>
        <p:nvSpPr>
          <p:cNvPr id="119" name="Shape 119"/>
          <p:cNvSpPr/>
          <p:nvPr/>
        </p:nvSpPr>
        <p:spPr>
          <a:xfrm>
            <a:off x="7553960" y="2095500"/>
            <a:ext cx="279400" cy="279400"/>
          </a:xfrm>
          <a:prstGeom prst="ellipse">
            <a:avLst/>
          </a:prstGeom>
          <a:solidFill>
            <a:srgbClr val="E4572E"/>
          </a:solidFill>
          <a:ln>
            <a:noFill/>
          </a:ln>
        </p:spPr>
        <p:txBody>
          <a:bodyPr wrap="square" lIns="0" tIns="0" rIns="0" bIns="0" rtlCol="0" anchor="ctr">
            <a:noAutofit/>
          </a:bodyPr>
          <a:lstStyle/>
          <a:p>
            <a:pPr marL="0" indent="0" algn="ctr">
              <a:spcBef>
                <a:spcPts val="0"/>
              </a:spcBef>
              <a:spcAft>
                <a:spcPts val="0"/>
              </a:spcAft>
              <a:buNone/>
            </a:pPr>
            <a:r>
              <a:rPr lang="en-GB" sz="1300" b="1" dirty="0">
                <a:solidFill>
                  <a:srgbClr val="FFFFFF"/>
                </a:solidFill>
                <a:latin typeface="Anthropic Sans Text"/>
                <a:cs typeface="Anthropic Sans Text"/>
              </a:rPr>
              <a:t>!</a:t>
            </a:r>
            <a:endParaRPr lang="en-GB" sz="1300" dirty="0"/>
          </a:p>
        </p:txBody>
      </p:sp>
      <p:sp>
        <p:nvSpPr>
          <p:cNvPr id="120" name="Shape 120"/>
          <p:cNvSpPr/>
          <p:nvPr/>
        </p:nvSpPr>
        <p:spPr>
          <a:xfrm>
            <a:off x="8183880" y="2235200"/>
            <a:ext cx="1625600" cy="1320800"/>
          </a:xfrm>
          <a:prstGeom prst="rect">
            <a:avLst/>
          </a:prstGeom>
          <a:solidFill>
            <a:srgbClr val="F3F4F6"/>
          </a:solidFill>
          <a:ln w="12700">
            <a:solidFill>
              <a:srgbClr val="E0E3E7"/>
            </a:solidFill>
          </a:ln>
        </p:spPr>
        <p:txBody>
          <a:bodyPr wrap="square" lIns="0" tIns="0" rIns="0" bIns="0" rtlCol="0" anchor="t">
            <a:noAutofit/>
          </a:bodyPr>
          <a:lstStyle/>
          <a:p>
            <a:endParaRPr lang="en-GB" dirty="0"/>
          </a:p>
        </p:txBody>
      </p:sp>
      <p:sp>
        <p:nvSpPr>
          <p:cNvPr id="121" name="Shape 121"/>
          <p:cNvSpPr txBox="1"/>
          <p:nvPr/>
        </p:nvSpPr>
        <p:spPr>
          <a:xfrm>
            <a:off x="8336280" y="2387600"/>
            <a:ext cx="1320800" cy="228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200" b="1" dirty="0">
                <a:solidFill>
                  <a:srgbClr val="52606D"/>
                </a:solidFill>
                <a:latin typeface="Anthropic Mono"/>
                <a:cs typeface="Anthropic Mono"/>
              </a:rPr>
              <a:t>05</a:t>
            </a:r>
            <a:endParaRPr lang="en-GB" sz="1200" dirty="0"/>
          </a:p>
        </p:txBody>
      </p:sp>
      <p:sp>
        <p:nvSpPr>
          <p:cNvPr id="122" name="Shape 122"/>
          <p:cNvSpPr txBox="1"/>
          <p:nvPr/>
        </p:nvSpPr>
        <p:spPr>
          <a:xfrm>
            <a:off x="8336280" y="2667000"/>
            <a:ext cx="1320800" cy="7874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GB" sz="1600" b="1" dirty="0">
                <a:solidFill>
                  <a:srgbClr val="0B1F3A"/>
                </a:solidFill>
                <a:latin typeface="Anthropic Sans Text"/>
                <a:cs typeface="Anthropic Sans Text"/>
              </a:rPr>
              <a:t>Draft letter</a:t>
            </a:r>
            <a:endParaRPr lang="en-GB" sz="1600" dirty="0"/>
          </a:p>
        </p:txBody>
      </p:sp>
      <p:cxnSp>
        <p:nvCxnSpPr>
          <p:cNvPr id="123" name="Line 123"/>
          <p:cNvCxnSpPr/>
          <p:nvPr/>
        </p:nvCxnSpPr>
        <p:spPr>
          <a:xfrm>
            <a:off x="9847580" y="2895600"/>
            <a:ext cx="172720" cy="0"/>
          </a:xfrm>
          <a:prstGeom prst="line">
            <a:avLst/>
          </a:prstGeom>
          <a:ln w="19050">
            <a:solidFill>
              <a:srgbClr val="9AA5B1"/>
            </a:solidFill>
            <a:tailEnd type="triangle" w="med" len="med"/>
          </a:ln>
        </p:spPr>
      </p:cxnSp>
      <p:sp>
        <p:nvSpPr>
          <p:cNvPr id="124" name="Shape 124"/>
          <p:cNvSpPr/>
          <p:nvPr/>
        </p:nvSpPr>
        <p:spPr>
          <a:xfrm>
            <a:off x="10058400" y="2235200"/>
            <a:ext cx="1625600" cy="1320800"/>
          </a:xfrm>
          <a:prstGeom prst="rect">
            <a:avLst/>
          </a:prstGeom>
          <a:solidFill>
            <a:srgbClr val="F3F4F6"/>
          </a:solidFill>
          <a:ln w="19050">
            <a:solidFill>
              <a:srgbClr val="E4572E"/>
            </a:solidFill>
          </a:ln>
        </p:spPr>
        <p:txBody>
          <a:bodyPr wrap="square" lIns="0" tIns="0" rIns="0" bIns="0" rtlCol="0" anchor="t">
            <a:noAutofit/>
          </a:bodyPr>
          <a:lstStyle/>
          <a:p>
            <a:endParaRPr lang="en-GB" dirty="0"/>
          </a:p>
        </p:txBody>
      </p:sp>
      <p:sp>
        <p:nvSpPr>
          <p:cNvPr id="125" name="Shape 125"/>
          <p:cNvSpPr txBox="1"/>
          <p:nvPr/>
        </p:nvSpPr>
        <p:spPr>
          <a:xfrm>
            <a:off x="10210800" y="2387600"/>
            <a:ext cx="1320800" cy="228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200" b="1" dirty="0">
                <a:solidFill>
                  <a:srgbClr val="E4572E"/>
                </a:solidFill>
                <a:latin typeface="Anthropic Mono"/>
                <a:cs typeface="Anthropic Mono"/>
              </a:rPr>
              <a:t>06</a:t>
            </a:r>
            <a:endParaRPr lang="en-GB" sz="1200" dirty="0"/>
          </a:p>
        </p:txBody>
      </p:sp>
      <p:sp>
        <p:nvSpPr>
          <p:cNvPr id="126" name="Shape 126"/>
          <p:cNvSpPr txBox="1"/>
          <p:nvPr/>
        </p:nvSpPr>
        <p:spPr>
          <a:xfrm>
            <a:off x="10210800" y="2667000"/>
            <a:ext cx="1320800" cy="7874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GB" sz="1600" b="1" dirty="0">
                <a:solidFill>
                  <a:srgbClr val="0B1F3A"/>
                </a:solidFill>
                <a:latin typeface="Anthropic Sans Text"/>
                <a:cs typeface="Anthropic Sans Text"/>
              </a:rPr>
              <a:t>Track deadline</a:t>
            </a:r>
            <a:endParaRPr lang="en-GB" sz="1600" dirty="0"/>
          </a:p>
        </p:txBody>
      </p:sp>
      <p:sp>
        <p:nvSpPr>
          <p:cNvPr id="127" name="Shape 127"/>
          <p:cNvSpPr/>
          <p:nvPr/>
        </p:nvSpPr>
        <p:spPr>
          <a:xfrm>
            <a:off x="11303000" y="2095500"/>
            <a:ext cx="279400" cy="279400"/>
          </a:xfrm>
          <a:prstGeom prst="ellipse">
            <a:avLst/>
          </a:prstGeom>
          <a:solidFill>
            <a:srgbClr val="E4572E"/>
          </a:solidFill>
          <a:ln>
            <a:noFill/>
          </a:ln>
        </p:spPr>
        <p:txBody>
          <a:bodyPr wrap="square" lIns="0" tIns="0" rIns="0" bIns="0" rtlCol="0" anchor="ctr">
            <a:noAutofit/>
          </a:bodyPr>
          <a:lstStyle/>
          <a:p>
            <a:pPr marL="0" indent="0" algn="ctr">
              <a:spcBef>
                <a:spcPts val="0"/>
              </a:spcBef>
              <a:spcAft>
                <a:spcPts val="0"/>
              </a:spcAft>
              <a:buNone/>
            </a:pPr>
            <a:r>
              <a:rPr lang="en-GB" sz="1300" b="1" dirty="0">
                <a:solidFill>
                  <a:srgbClr val="FFFFFF"/>
                </a:solidFill>
                <a:latin typeface="Anthropic Sans Text"/>
                <a:cs typeface="Anthropic Sans Text"/>
              </a:rPr>
              <a:t>!</a:t>
            </a:r>
            <a:endParaRPr lang="en-GB" sz="1300" dirty="0"/>
          </a:p>
        </p:txBody>
      </p:sp>
      <p:cxnSp>
        <p:nvCxnSpPr>
          <p:cNvPr id="128" name="Line 128"/>
          <p:cNvCxnSpPr/>
          <p:nvPr/>
        </p:nvCxnSpPr>
        <p:spPr>
          <a:xfrm>
            <a:off x="3373120" y="3556000"/>
            <a:ext cx="0" cy="1016000"/>
          </a:xfrm>
          <a:prstGeom prst="line">
            <a:avLst/>
          </a:prstGeom>
          <a:ln w="15875">
            <a:solidFill>
              <a:srgbClr val="E4572E"/>
            </a:solidFill>
            <a:prstDash val="dash"/>
          </a:ln>
        </p:spPr>
      </p:cxnSp>
      <p:cxnSp>
        <p:nvCxnSpPr>
          <p:cNvPr id="129" name="Line 129"/>
          <p:cNvCxnSpPr/>
          <p:nvPr/>
        </p:nvCxnSpPr>
        <p:spPr>
          <a:xfrm>
            <a:off x="5247640" y="3556000"/>
            <a:ext cx="0" cy="1016000"/>
          </a:xfrm>
          <a:prstGeom prst="line">
            <a:avLst/>
          </a:prstGeom>
          <a:ln w="15875">
            <a:solidFill>
              <a:srgbClr val="E4572E"/>
            </a:solidFill>
            <a:prstDash val="dash"/>
          </a:ln>
        </p:spPr>
      </p:cxnSp>
      <p:sp>
        <p:nvSpPr>
          <p:cNvPr id="130" name="Shape 130"/>
          <p:cNvSpPr/>
          <p:nvPr/>
        </p:nvSpPr>
        <p:spPr>
          <a:xfrm>
            <a:off x="3040380" y="4572000"/>
            <a:ext cx="2540000" cy="889000"/>
          </a:xfrm>
          <a:prstGeom prst="rect">
            <a:avLst/>
          </a:prstGeom>
          <a:solidFill>
            <a:srgbClr val="FCE9E3"/>
          </a:solidFill>
          <a:ln>
            <a:noFill/>
          </a:ln>
        </p:spPr>
        <p:txBody>
          <a:bodyPr wrap="square" lIns="177800" tIns="101600" rIns="127000" bIns="101600" rtlCol="0" anchor="ctr">
            <a:noAutofit/>
          </a:bodyPr>
          <a:lstStyle/>
          <a:p>
            <a:pPr marL="0" indent="0" algn="l">
              <a:lnSpc>
                <a:spcPct val="100000"/>
              </a:lnSpc>
              <a:spcBef>
                <a:spcPts val="0"/>
              </a:spcBef>
              <a:spcAft>
                <a:spcPts val="0"/>
              </a:spcAft>
              <a:buNone/>
            </a:pPr>
            <a:r>
              <a:rPr lang="en-GB" sz="1800" b="1" dirty="0">
                <a:solidFill>
                  <a:srgbClr val="E4572E"/>
                </a:solidFill>
                <a:latin typeface="Anthropic Sans Text"/>
                <a:cs typeface="Anthropic Sans Text"/>
              </a:rPr>
              <a:t>Hours per claim</a:t>
            </a:r>
            <a:endParaRPr lang="en-GB" sz="1800" dirty="0"/>
          </a:p>
        </p:txBody>
      </p:sp>
      <p:sp>
        <p:nvSpPr>
          <p:cNvPr id="131" name="Shape 131"/>
          <p:cNvSpPr/>
          <p:nvPr/>
        </p:nvSpPr>
        <p:spPr>
          <a:xfrm>
            <a:off x="3040380" y="4572000"/>
            <a:ext cx="63500" cy="889000"/>
          </a:xfrm>
          <a:prstGeom prst="rect">
            <a:avLst/>
          </a:prstGeom>
          <a:solidFill>
            <a:srgbClr val="E4572E"/>
          </a:solidFill>
          <a:ln>
            <a:noFill/>
          </a:ln>
        </p:spPr>
        <p:txBody>
          <a:bodyPr wrap="square" lIns="0" tIns="0" rIns="0" bIns="0" rtlCol="0" anchor="t">
            <a:noAutofit/>
          </a:bodyPr>
          <a:lstStyle/>
          <a:p>
            <a:endParaRPr lang="en-GB" dirty="0"/>
          </a:p>
        </p:txBody>
      </p:sp>
      <p:cxnSp>
        <p:nvCxnSpPr>
          <p:cNvPr id="132" name="Line 132"/>
          <p:cNvCxnSpPr/>
          <p:nvPr/>
        </p:nvCxnSpPr>
        <p:spPr>
          <a:xfrm>
            <a:off x="7122160" y="3556000"/>
            <a:ext cx="0" cy="1016000"/>
          </a:xfrm>
          <a:prstGeom prst="line">
            <a:avLst/>
          </a:prstGeom>
          <a:ln w="15875">
            <a:solidFill>
              <a:srgbClr val="E4572E"/>
            </a:solidFill>
            <a:prstDash val="dash"/>
          </a:ln>
        </p:spPr>
      </p:cxnSp>
      <p:sp>
        <p:nvSpPr>
          <p:cNvPr id="133" name="Shape 133"/>
          <p:cNvSpPr/>
          <p:nvPr/>
        </p:nvSpPr>
        <p:spPr>
          <a:xfrm>
            <a:off x="5852160" y="4572000"/>
            <a:ext cx="2540000" cy="889000"/>
          </a:xfrm>
          <a:prstGeom prst="rect">
            <a:avLst/>
          </a:prstGeom>
          <a:solidFill>
            <a:srgbClr val="FCE9E3"/>
          </a:solidFill>
          <a:ln>
            <a:noFill/>
          </a:ln>
        </p:spPr>
        <p:txBody>
          <a:bodyPr wrap="square" lIns="177800" tIns="101600" rIns="127000" bIns="101600" rtlCol="0" anchor="ctr">
            <a:noAutofit/>
          </a:bodyPr>
          <a:lstStyle/>
          <a:p>
            <a:pPr marL="0" indent="0" algn="l">
              <a:lnSpc>
                <a:spcPct val="100000"/>
              </a:lnSpc>
              <a:spcBef>
                <a:spcPts val="0"/>
              </a:spcBef>
              <a:spcAft>
                <a:spcPts val="0"/>
              </a:spcAft>
              <a:buNone/>
            </a:pPr>
            <a:r>
              <a:rPr lang="en-GB" sz="1800" b="1" dirty="0">
                <a:solidFill>
                  <a:srgbClr val="E4572E"/>
                </a:solidFill>
                <a:latin typeface="Anthropic Sans Text"/>
                <a:cs typeface="Anthropic Sans Text"/>
              </a:rPr>
              <a:t>Knowledge lives in people's heads</a:t>
            </a:r>
            <a:endParaRPr lang="en-GB" sz="1800" dirty="0"/>
          </a:p>
        </p:txBody>
      </p:sp>
      <p:sp>
        <p:nvSpPr>
          <p:cNvPr id="134" name="Shape 134"/>
          <p:cNvSpPr/>
          <p:nvPr/>
        </p:nvSpPr>
        <p:spPr>
          <a:xfrm>
            <a:off x="5852160" y="4572000"/>
            <a:ext cx="63500" cy="889000"/>
          </a:xfrm>
          <a:prstGeom prst="rect">
            <a:avLst/>
          </a:prstGeom>
          <a:solidFill>
            <a:srgbClr val="E4572E"/>
          </a:solidFill>
          <a:ln>
            <a:noFill/>
          </a:ln>
        </p:spPr>
        <p:txBody>
          <a:bodyPr wrap="square" lIns="0" tIns="0" rIns="0" bIns="0" rtlCol="0" anchor="t">
            <a:noAutofit/>
          </a:bodyPr>
          <a:lstStyle/>
          <a:p>
            <a:endParaRPr lang="en-GB" dirty="0"/>
          </a:p>
        </p:txBody>
      </p:sp>
      <p:cxnSp>
        <p:nvCxnSpPr>
          <p:cNvPr id="135" name="Line 135"/>
          <p:cNvCxnSpPr/>
          <p:nvPr/>
        </p:nvCxnSpPr>
        <p:spPr>
          <a:xfrm>
            <a:off x="10871200" y="3556000"/>
            <a:ext cx="0" cy="1016000"/>
          </a:xfrm>
          <a:prstGeom prst="line">
            <a:avLst/>
          </a:prstGeom>
          <a:ln w="15875">
            <a:solidFill>
              <a:srgbClr val="E4572E"/>
            </a:solidFill>
            <a:prstDash val="dash"/>
          </a:ln>
        </p:spPr>
      </p:cxnSp>
      <p:sp>
        <p:nvSpPr>
          <p:cNvPr id="136" name="Shape 136"/>
          <p:cNvSpPr/>
          <p:nvPr/>
        </p:nvSpPr>
        <p:spPr>
          <a:xfrm>
            <a:off x="9575800" y="4572000"/>
            <a:ext cx="2159000" cy="889000"/>
          </a:xfrm>
          <a:prstGeom prst="rect">
            <a:avLst/>
          </a:prstGeom>
          <a:solidFill>
            <a:srgbClr val="FCE9E3"/>
          </a:solidFill>
          <a:ln>
            <a:noFill/>
          </a:ln>
        </p:spPr>
        <p:txBody>
          <a:bodyPr wrap="square" lIns="177800" tIns="101600" rIns="127000" bIns="101600" rtlCol="0" anchor="ctr">
            <a:noAutofit/>
          </a:bodyPr>
          <a:lstStyle/>
          <a:p>
            <a:pPr marL="0" indent="0" algn="l">
              <a:lnSpc>
                <a:spcPct val="100000"/>
              </a:lnSpc>
              <a:spcBef>
                <a:spcPts val="0"/>
              </a:spcBef>
              <a:spcAft>
                <a:spcPts val="0"/>
              </a:spcAft>
              <a:buNone/>
            </a:pPr>
            <a:r>
              <a:rPr lang="en-GB" sz="1800" b="1" dirty="0">
                <a:solidFill>
                  <a:srgbClr val="E4572E"/>
                </a:solidFill>
                <a:latin typeface="Anthropic Sans Text"/>
                <a:cs typeface="Anthropic Sans Text"/>
              </a:rPr>
              <a:t>Deadlines missed silently</a:t>
            </a:r>
            <a:endParaRPr lang="en-GB" sz="1800" dirty="0"/>
          </a:p>
        </p:txBody>
      </p:sp>
      <p:sp>
        <p:nvSpPr>
          <p:cNvPr id="137" name="Shape 137"/>
          <p:cNvSpPr/>
          <p:nvPr/>
        </p:nvSpPr>
        <p:spPr>
          <a:xfrm>
            <a:off x="9575800" y="4572000"/>
            <a:ext cx="63500" cy="889000"/>
          </a:xfrm>
          <a:prstGeom prst="rect">
            <a:avLst/>
          </a:prstGeom>
          <a:solidFill>
            <a:srgbClr val="E4572E"/>
          </a:solidFill>
          <a:ln>
            <a:noFill/>
          </a:ln>
        </p:spPr>
        <p:txBody>
          <a:bodyPr wrap="square" lIns="0" tIns="0" rIns="0" bIns="0" rtlCol="0" anchor="t">
            <a:noAutofit/>
          </a:bodyPr>
          <a:lstStyle/>
          <a:p>
            <a:endParaRPr lang="en-GB" dirty="0"/>
          </a:p>
        </p:txBody>
      </p:sp>
    </p:spTree>
    <p:extLst>
      <p:ext uri="{BB962C8B-B14F-4D97-AF65-F5344CB8AC3E}">
        <p14:creationId xmlns:p14="http://schemas.microsoft.com/office/powerpoint/2010/main" val="19124829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82894-2442-C612-77A0-9827B6BEB0D1}"/>
              </a:ext>
            </a:extLst>
          </p:cNvPr>
          <p:cNvSpPr>
            <a:spLocks noGrp="1"/>
          </p:cNvSpPr>
          <p:nvPr>
            <p:ph type="title"/>
          </p:nvPr>
        </p:nvSpPr>
        <p:spPr/>
        <p:txBody>
          <a:bodyPr>
            <a:normAutofit fontScale="90000"/>
          </a:bodyPr>
          <a:lstStyle/>
          <a:p>
            <a:r>
              <a:rPr lang="en-GB" dirty="0"/>
              <a:t>Eligibility, coding and authorisation drive 60% of denials</a:t>
            </a:r>
          </a:p>
        </p:txBody>
      </p:sp>
      <p:graphicFrame>
        <p:nvGraphicFramePr>
          <p:cNvPr id="90" name="Denial mix donut"/>
          <p:cNvGraphicFramePr/>
          <p:nvPr/>
        </p:nvGraphicFramePr>
        <p:xfrm>
          <a:off x="762000" y="1498600"/>
          <a:ext cx="4699000" cy="4699000"/>
        </p:xfrm>
        <a:graphic>
          <a:graphicData uri="http://schemas.openxmlformats.org/drawingml/2006/chart">
            <c:chart xmlns:c="http://schemas.openxmlformats.org/drawingml/2006/chart" xmlns:r="http://schemas.openxmlformats.org/officeDocument/2006/relationships" r:id="rId3"/>
          </a:graphicData>
        </a:graphic>
      </p:graphicFrame>
      <p:sp>
        <p:nvSpPr>
          <p:cNvPr id="100" name="Shape 100"/>
          <p:cNvSpPr txBox="1"/>
          <p:nvPr/>
        </p:nvSpPr>
        <p:spPr>
          <a:xfrm>
            <a:off x="1841500" y="3365500"/>
            <a:ext cx="2540000" cy="9652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GB" sz="5400" b="1" dirty="0">
                <a:solidFill>
                  <a:srgbClr val="0B1F3A"/>
                </a:solidFill>
                <a:latin typeface="Anthropic Serif Web"/>
                <a:cs typeface="Anthropic Serif Web"/>
              </a:rPr>
              <a:t>8</a:t>
            </a:r>
            <a:endParaRPr lang="en-GB" sz="5400" dirty="0"/>
          </a:p>
          <a:p>
            <a:pPr marL="0" indent="0" algn="ctr">
              <a:spcBef>
                <a:spcPts val="0"/>
              </a:spcBef>
              <a:spcAft>
                <a:spcPts val="0"/>
              </a:spcAft>
              <a:buNone/>
            </a:pPr>
            <a:r>
              <a:rPr lang="en-GB" sz="1400" b="0" dirty="0">
                <a:solidFill>
                  <a:srgbClr val="52606D"/>
                </a:solidFill>
                <a:latin typeface="Anthropic Sans Text"/>
                <a:cs typeface="Anthropic Sans Text"/>
              </a:rPr>
              <a:t>root causes</a:t>
            </a:r>
            <a:endParaRPr lang="en-GB" sz="1400" dirty="0"/>
          </a:p>
        </p:txBody>
      </p:sp>
      <p:sp>
        <p:nvSpPr>
          <p:cNvPr id="101" name="Shape 101"/>
          <p:cNvSpPr/>
          <p:nvPr/>
        </p:nvSpPr>
        <p:spPr>
          <a:xfrm>
            <a:off x="6045200" y="1714500"/>
            <a:ext cx="177800" cy="177800"/>
          </a:xfrm>
          <a:prstGeom prst="rect">
            <a:avLst/>
          </a:prstGeom>
          <a:solidFill>
            <a:srgbClr val="1F4E8C"/>
          </a:solidFill>
          <a:ln>
            <a:noFill/>
          </a:ln>
        </p:spPr>
        <p:txBody>
          <a:bodyPr wrap="square" lIns="0" tIns="0" rIns="0" bIns="0" rtlCol="0" anchor="t">
            <a:noAutofit/>
          </a:bodyPr>
          <a:lstStyle/>
          <a:p>
            <a:endParaRPr lang="en-GB" dirty="0"/>
          </a:p>
        </p:txBody>
      </p:sp>
      <p:sp>
        <p:nvSpPr>
          <p:cNvPr id="102" name="Shape 102"/>
          <p:cNvSpPr txBox="1"/>
          <p:nvPr/>
        </p:nvSpPr>
        <p:spPr>
          <a:xfrm>
            <a:off x="6350000" y="1625600"/>
            <a:ext cx="3175000" cy="3556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600" b="0" dirty="0">
                <a:solidFill>
                  <a:srgbClr val="1F2933"/>
                </a:solidFill>
                <a:latin typeface="Anthropic Sans Text"/>
                <a:cs typeface="Anthropic Sans Text"/>
              </a:rPr>
              <a:t>Eligibility / registration</a:t>
            </a:r>
            <a:endParaRPr lang="en-GB" sz="1600" dirty="0"/>
          </a:p>
        </p:txBody>
      </p:sp>
      <p:sp>
        <p:nvSpPr>
          <p:cNvPr id="103" name="Shape 103"/>
          <p:cNvSpPr txBox="1"/>
          <p:nvPr/>
        </p:nvSpPr>
        <p:spPr>
          <a:xfrm>
            <a:off x="9550400" y="1625600"/>
            <a:ext cx="762000" cy="35560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GB" sz="1600" b="1" dirty="0">
                <a:solidFill>
                  <a:srgbClr val="0B1F3A"/>
                </a:solidFill>
                <a:latin typeface="Anthropic Mono"/>
                <a:cs typeface="Anthropic Mono"/>
              </a:rPr>
              <a:t>25%</a:t>
            </a:r>
            <a:endParaRPr lang="en-GB" sz="1600" dirty="0"/>
          </a:p>
        </p:txBody>
      </p:sp>
      <p:sp>
        <p:nvSpPr>
          <p:cNvPr id="104" name="Shape 104"/>
          <p:cNvSpPr/>
          <p:nvPr/>
        </p:nvSpPr>
        <p:spPr>
          <a:xfrm>
            <a:off x="6045200" y="1993900"/>
            <a:ext cx="4267200" cy="9525"/>
          </a:xfrm>
          <a:prstGeom prst="rect">
            <a:avLst/>
          </a:prstGeom>
          <a:solidFill>
            <a:srgbClr val="E0E3E7"/>
          </a:solidFill>
          <a:ln>
            <a:noFill/>
          </a:ln>
        </p:spPr>
        <p:txBody>
          <a:bodyPr wrap="square" lIns="0" tIns="0" rIns="0" bIns="0" rtlCol="0" anchor="t">
            <a:noAutofit/>
          </a:bodyPr>
          <a:lstStyle/>
          <a:p>
            <a:endParaRPr lang="en-GB" dirty="0"/>
          </a:p>
        </p:txBody>
      </p:sp>
      <p:sp>
        <p:nvSpPr>
          <p:cNvPr id="105" name="Shape 105"/>
          <p:cNvSpPr/>
          <p:nvPr/>
        </p:nvSpPr>
        <p:spPr>
          <a:xfrm>
            <a:off x="6045200" y="2095500"/>
            <a:ext cx="177800" cy="177800"/>
          </a:xfrm>
          <a:prstGeom prst="rect">
            <a:avLst/>
          </a:prstGeom>
          <a:solidFill>
            <a:srgbClr val="2F6DB5"/>
          </a:solidFill>
          <a:ln>
            <a:noFill/>
          </a:ln>
        </p:spPr>
        <p:txBody>
          <a:bodyPr wrap="square" lIns="0" tIns="0" rIns="0" bIns="0" rtlCol="0" anchor="t">
            <a:noAutofit/>
          </a:bodyPr>
          <a:lstStyle/>
          <a:p>
            <a:endParaRPr lang="en-GB" dirty="0"/>
          </a:p>
        </p:txBody>
      </p:sp>
      <p:sp>
        <p:nvSpPr>
          <p:cNvPr id="106" name="Shape 106"/>
          <p:cNvSpPr txBox="1"/>
          <p:nvPr/>
        </p:nvSpPr>
        <p:spPr>
          <a:xfrm>
            <a:off x="6350000" y="2006600"/>
            <a:ext cx="3175000" cy="3556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600" b="0" dirty="0">
                <a:solidFill>
                  <a:srgbClr val="1F2933"/>
                </a:solidFill>
                <a:latin typeface="Anthropic Sans Text"/>
                <a:cs typeface="Anthropic Sans Text"/>
              </a:rPr>
              <a:t>Missing info / coding</a:t>
            </a:r>
            <a:endParaRPr lang="en-GB" sz="1600" dirty="0"/>
          </a:p>
        </p:txBody>
      </p:sp>
      <p:sp>
        <p:nvSpPr>
          <p:cNvPr id="107" name="Shape 107"/>
          <p:cNvSpPr txBox="1"/>
          <p:nvPr/>
        </p:nvSpPr>
        <p:spPr>
          <a:xfrm>
            <a:off x="9550400" y="2006600"/>
            <a:ext cx="762000" cy="35560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GB" sz="1600" b="1" dirty="0">
                <a:solidFill>
                  <a:srgbClr val="0B1F3A"/>
                </a:solidFill>
                <a:latin typeface="Anthropic Mono"/>
                <a:cs typeface="Anthropic Mono"/>
              </a:rPr>
              <a:t>20%</a:t>
            </a:r>
            <a:endParaRPr lang="en-GB" sz="1600" dirty="0"/>
          </a:p>
        </p:txBody>
      </p:sp>
      <p:sp>
        <p:nvSpPr>
          <p:cNvPr id="108" name="Shape 108"/>
          <p:cNvSpPr/>
          <p:nvPr/>
        </p:nvSpPr>
        <p:spPr>
          <a:xfrm>
            <a:off x="6045200" y="2374900"/>
            <a:ext cx="4267200" cy="9525"/>
          </a:xfrm>
          <a:prstGeom prst="rect">
            <a:avLst/>
          </a:prstGeom>
          <a:solidFill>
            <a:srgbClr val="E0E3E7"/>
          </a:solidFill>
          <a:ln>
            <a:noFill/>
          </a:ln>
        </p:spPr>
        <p:txBody>
          <a:bodyPr wrap="square" lIns="0" tIns="0" rIns="0" bIns="0" rtlCol="0" anchor="t">
            <a:noAutofit/>
          </a:bodyPr>
          <a:lstStyle/>
          <a:p>
            <a:endParaRPr lang="en-GB" dirty="0"/>
          </a:p>
        </p:txBody>
      </p:sp>
      <p:sp>
        <p:nvSpPr>
          <p:cNvPr id="109" name="Shape 109"/>
          <p:cNvSpPr/>
          <p:nvPr/>
        </p:nvSpPr>
        <p:spPr>
          <a:xfrm>
            <a:off x="6045200" y="2476500"/>
            <a:ext cx="177800" cy="177800"/>
          </a:xfrm>
          <a:prstGeom prst="rect">
            <a:avLst/>
          </a:prstGeom>
          <a:solidFill>
            <a:srgbClr val="00A3C4"/>
          </a:solidFill>
          <a:ln>
            <a:noFill/>
          </a:ln>
        </p:spPr>
        <p:txBody>
          <a:bodyPr wrap="square" lIns="0" tIns="0" rIns="0" bIns="0" rtlCol="0" anchor="t">
            <a:noAutofit/>
          </a:bodyPr>
          <a:lstStyle/>
          <a:p>
            <a:endParaRPr lang="en-GB" dirty="0"/>
          </a:p>
        </p:txBody>
      </p:sp>
      <p:sp>
        <p:nvSpPr>
          <p:cNvPr id="110" name="Shape 110"/>
          <p:cNvSpPr txBox="1"/>
          <p:nvPr/>
        </p:nvSpPr>
        <p:spPr>
          <a:xfrm>
            <a:off x="6350000" y="2387600"/>
            <a:ext cx="3175000" cy="3556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600" b="0" dirty="0">
                <a:solidFill>
                  <a:srgbClr val="1F2933"/>
                </a:solidFill>
                <a:latin typeface="Anthropic Sans Text"/>
                <a:cs typeface="Anthropic Sans Text"/>
              </a:rPr>
              <a:t>Prior authorisation</a:t>
            </a:r>
            <a:endParaRPr lang="en-GB" sz="1600" dirty="0"/>
          </a:p>
        </p:txBody>
      </p:sp>
      <p:sp>
        <p:nvSpPr>
          <p:cNvPr id="111" name="Shape 111"/>
          <p:cNvSpPr txBox="1"/>
          <p:nvPr/>
        </p:nvSpPr>
        <p:spPr>
          <a:xfrm>
            <a:off x="9550400" y="2387600"/>
            <a:ext cx="762000" cy="35560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GB" sz="1600" b="1" dirty="0">
                <a:solidFill>
                  <a:srgbClr val="0B1F3A"/>
                </a:solidFill>
                <a:latin typeface="Anthropic Mono"/>
                <a:cs typeface="Anthropic Mono"/>
              </a:rPr>
              <a:t>15%</a:t>
            </a:r>
            <a:endParaRPr lang="en-GB" sz="1600" dirty="0"/>
          </a:p>
        </p:txBody>
      </p:sp>
      <p:sp>
        <p:nvSpPr>
          <p:cNvPr id="112" name="Shape 112"/>
          <p:cNvSpPr/>
          <p:nvPr/>
        </p:nvSpPr>
        <p:spPr>
          <a:xfrm>
            <a:off x="6045200" y="2755900"/>
            <a:ext cx="4267200" cy="9525"/>
          </a:xfrm>
          <a:prstGeom prst="rect">
            <a:avLst/>
          </a:prstGeom>
          <a:solidFill>
            <a:srgbClr val="E0E3E7"/>
          </a:solidFill>
          <a:ln>
            <a:noFill/>
          </a:ln>
        </p:spPr>
        <p:txBody>
          <a:bodyPr wrap="square" lIns="0" tIns="0" rIns="0" bIns="0" rtlCol="0" anchor="t">
            <a:noAutofit/>
          </a:bodyPr>
          <a:lstStyle/>
          <a:p>
            <a:endParaRPr lang="en-GB" dirty="0"/>
          </a:p>
        </p:txBody>
      </p:sp>
      <p:sp>
        <p:nvSpPr>
          <p:cNvPr id="113" name="Shape 113"/>
          <p:cNvSpPr/>
          <p:nvPr/>
        </p:nvSpPr>
        <p:spPr>
          <a:xfrm>
            <a:off x="6045200" y="2857500"/>
            <a:ext cx="177800" cy="177800"/>
          </a:xfrm>
          <a:prstGeom prst="rect">
            <a:avLst/>
          </a:prstGeom>
          <a:solidFill>
            <a:srgbClr val="5B8DEF"/>
          </a:solidFill>
          <a:ln>
            <a:noFill/>
          </a:ln>
        </p:spPr>
        <p:txBody>
          <a:bodyPr wrap="square" lIns="0" tIns="0" rIns="0" bIns="0" rtlCol="0" anchor="t">
            <a:noAutofit/>
          </a:bodyPr>
          <a:lstStyle/>
          <a:p>
            <a:endParaRPr lang="en-GB" dirty="0"/>
          </a:p>
        </p:txBody>
      </p:sp>
      <p:sp>
        <p:nvSpPr>
          <p:cNvPr id="114" name="Shape 114"/>
          <p:cNvSpPr txBox="1"/>
          <p:nvPr/>
        </p:nvSpPr>
        <p:spPr>
          <a:xfrm>
            <a:off x="6350000" y="2768600"/>
            <a:ext cx="3175000" cy="3556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600" b="0" dirty="0">
                <a:solidFill>
                  <a:srgbClr val="1F2933"/>
                </a:solidFill>
                <a:latin typeface="Anthropic Sans Text"/>
                <a:cs typeface="Anthropic Sans Text"/>
              </a:rPr>
              <a:t>Medical necessity</a:t>
            </a:r>
            <a:endParaRPr lang="en-GB" sz="1600" dirty="0"/>
          </a:p>
        </p:txBody>
      </p:sp>
      <p:sp>
        <p:nvSpPr>
          <p:cNvPr id="115" name="Shape 115"/>
          <p:cNvSpPr txBox="1"/>
          <p:nvPr/>
        </p:nvSpPr>
        <p:spPr>
          <a:xfrm>
            <a:off x="9550400" y="2768600"/>
            <a:ext cx="762000" cy="35560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GB" sz="1600" b="1" dirty="0">
                <a:solidFill>
                  <a:srgbClr val="0B1F3A"/>
                </a:solidFill>
                <a:latin typeface="Anthropic Mono"/>
                <a:cs typeface="Anthropic Mono"/>
              </a:rPr>
              <a:t>15%</a:t>
            </a:r>
            <a:endParaRPr lang="en-GB" sz="1600" dirty="0"/>
          </a:p>
        </p:txBody>
      </p:sp>
      <p:sp>
        <p:nvSpPr>
          <p:cNvPr id="116" name="Shape 116"/>
          <p:cNvSpPr/>
          <p:nvPr/>
        </p:nvSpPr>
        <p:spPr>
          <a:xfrm>
            <a:off x="6045200" y="3136900"/>
            <a:ext cx="4267200" cy="9525"/>
          </a:xfrm>
          <a:prstGeom prst="rect">
            <a:avLst/>
          </a:prstGeom>
          <a:solidFill>
            <a:srgbClr val="E0E3E7"/>
          </a:solidFill>
          <a:ln>
            <a:noFill/>
          </a:ln>
        </p:spPr>
        <p:txBody>
          <a:bodyPr wrap="square" lIns="0" tIns="0" rIns="0" bIns="0" rtlCol="0" anchor="t">
            <a:noAutofit/>
          </a:bodyPr>
          <a:lstStyle/>
          <a:p>
            <a:endParaRPr lang="en-GB" dirty="0"/>
          </a:p>
        </p:txBody>
      </p:sp>
      <p:sp>
        <p:nvSpPr>
          <p:cNvPr id="117" name="Shape 117"/>
          <p:cNvSpPr/>
          <p:nvPr/>
        </p:nvSpPr>
        <p:spPr>
          <a:xfrm>
            <a:off x="6045200" y="3238500"/>
            <a:ext cx="177800" cy="177800"/>
          </a:xfrm>
          <a:prstGeom prst="rect">
            <a:avLst/>
          </a:prstGeom>
          <a:solidFill>
            <a:srgbClr val="8FB3F5"/>
          </a:solidFill>
          <a:ln>
            <a:noFill/>
          </a:ln>
        </p:spPr>
        <p:txBody>
          <a:bodyPr wrap="square" lIns="0" tIns="0" rIns="0" bIns="0" rtlCol="0" anchor="t">
            <a:noAutofit/>
          </a:bodyPr>
          <a:lstStyle/>
          <a:p>
            <a:endParaRPr lang="en-GB" dirty="0"/>
          </a:p>
        </p:txBody>
      </p:sp>
      <p:sp>
        <p:nvSpPr>
          <p:cNvPr id="118" name="Shape 118"/>
          <p:cNvSpPr txBox="1"/>
          <p:nvPr/>
        </p:nvSpPr>
        <p:spPr>
          <a:xfrm>
            <a:off x="6350000" y="3149600"/>
            <a:ext cx="3175000" cy="3556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600" b="0" dirty="0">
                <a:solidFill>
                  <a:srgbClr val="1F2933"/>
                </a:solidFill>
                <a:latin typeface="Anthropic Sans Text"/>
                <a:cs typeface="Anthropic Sans Text"/>
              </a:rPr>
              <a:t>Bundling</a:t>
            </a:r>
            <a:endParaRPr lang="en-GB" sz="1600" dirty="0"/>
          </a:p>
        </p:txBody>
      </p:sp>
      <p:sp>
        <p:nvSpPr>
          <p:cNvPr id="119" name="Shape 119"/>
          <p:cNvSpPr txBox="1"/>
          <p:nvPr/>
        </p:nvSpPr>
        <p:spPr>
          <a:xfrm>
            <a:off x="9550400" y="3149600"/>
            <a:ext cx="762000" cy="35560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GB" sz="1600" b="1" dirty="0">
                <a:solidFill>
                  <a:srgbClr val="0B1F3A"/>
                </a:solidFill>
                <a:latin typeface="Anthropic Mono"/>
                <a:cs typeface="Anthropic Mono"/>
              </a:rPr>
              <a:t>10%</a:t>
            </a:r>
            <a:endParaRPr lang="en-GB" sz="1600" dirty="0"/>
          </a:p>
        </p:txBody>
      </p:sp>
      <p:sp>
        <p:nvSpPr>
          <p:cNvPr id="120" name="Shape 120"/>
          <p:cNvSpPr/>
          <p:nvPr/>
        </p:nvSpPr>
        <p:spPr>
          <a:xfrm>
            <a:off x="6045200" y="3517900"/>
            <a:ext cx="4267200" cy="9525"/>
          </a:xfrm>
          <a:prstGeom prst="rect">
            <a:avLst/>
          </a:prstGeom>
          <a:solidFill>
            <a:srgbClr val="E0E3E7"/>
          </a:solidFill>
          <a:ln>
            <a:noFill/>
          </a:ln>
        </p:spPr>
        <p:txBody>
          <a:bodyPr wrap="square" lIns="0" tIns="0" rIns="0" bIns="0" rtlCol="0" anchor="t">
            <a:noAutofit/>
          </a:bodyPr>
          <a:lstStyle/>
          <a:p>
            <a:endParaRPr lang="en-GB" dirty="0"/>
          </a:p>
        </p:txBody>
      </p:sp>
      <p:sp>
        <p:nvSpPr>
          <p:cNvPr id="121" name="Shape 121"/>
          <p:cNvSpPr/>
          <p:nvPr/>
        </p:nvSpPr>
        <p:spPr>
          <a:xfrm>
            <a:off x="6045200" y="3619500"/>
            <a:ext cx="177800" cy="177800"/>
          </a:xfrm>
          <a:prstGeom prst="rect">
            <a:avLst/>
          </a:prstGeom>
          <a:solidFill>
            <a:srgbClr val="F2A541"/>
          </a:solidFill>
          <a:ln>
            <a:noFill/>
          </a:ln>
        </p:spPr>
        <p:txBody>
          <a:bodyPr wrap="square" lIns="0" tIns="0" rIns="0" bIns="0" rtlCol="0" anchor="t">
            <a:noAutofit/>
          </a:bodyPr>
          <a:lstStyle/>
          <a:p>
            <a:endParaRPr lang="en-GB" dirty="0"/>
          </a:p>
        </p:txBody>
      </p:sp>
      <p:sp>
        <p:nvSpPr>
          <p:cNvPr id="122" name="Shape 122"/>
          <p:cNvSpPr txBox="1"/>
          <p:nvPr/>
        </p:nvSpPr>
        <p:spPr>
          <a:xfrm>
            <a:off x="6350000" y="3530600"/>
            <a:ext cx="3175000" cy="3556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600" b="0" dirty="0">
                <a:solidFill>
                  <a:srgbClr val="1F2933"/>
                </a:solidFill>
                <a:latin typeface="Anthropic Sans Text"/>
                <a:cs typeface="Anthropic Sans Text"/>
              </a:rPr>
              <a:t>Timely filing</a:t>
            </a:r>
            <a:endParaRPr lang="en-GB" sz="1600" dirty="0"/>
          </a:p>
        </p:txBody>
      </p:sp>
      <p:sp>
        <p:nvSpPr>
          <p:cNvPr id="123" name="Shape 123"/>
          <p:cNvSpPr txBox="1"/>
          <p:nvPr/>
        </p:nvSpPr>
        <p:spPr>
          <a:xfrm>
            <a:off x="9550400" y="3530600"/>
            <a:ext cx="762000" cy="35560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GB" sz="1600" b="1" dirty="0">
                <a:solidFill>
                  <a:srgbClr val="0B1F3A"/>
                </a:solidFill>
                <a:latin typeface="Anthropic Mono"/>
                <a:cs typeface="Anthropic Mono"/>
              </a:rPr>
              <a:t>5%</a:t>
            </a:r>
            <a:endParaRPr lang="en-GB" sz="1600" dirty="0"/>
          </a:p>
        </p:txBody>
      </p:sp>
      <p:sp>
        <p:nvSpPr>
          <p:cNvPr id="124" name="Shape 124"/>
          <p:cNvSpPr/>
          <p:nvPr/>
        </p:nvSpPr>
        <p:spPr>
          <a:xfrm>
            <a:off x="6045200" y="3898900"/>
            <a:ext cx="4267200" cy="9525"/>
          </a:xfrm>
          <a:prstGeom prst="rect">
            <a:avLst/>
          </a:prstGeom>
          <a:solidFill>
            <a:srgbClr val="E0E3E7"/>
          </a:solidFill>
          <a:ln>
            <a:noFill/>
          </a:ln>
        </p:spPr>
        <p:txBody>
          <a:bodyPr wrap="square" lIns="0" tIns="0" rIns="0" bIns="0" rtlCol="0" anchor="t">
            <a:noAutofit/>
          </a:bodyPr>
          <a:lstStyle/>
          <a:p>
            <a:endParaRPr lang="en-GB" dirty="0"/>
          </a:p>
        </p:txBody>
      </p:sp>
      <p:sp>
        <p:nvSpPr>
          <p:cNvPr id="125" name="Shape 125"/>
          <p:cNvSpPr/>
          <p:nvPr/>
        </p:nvSpPr>
        <p:spPr>
          <a:xfrm>
            <a:off x="6045200" y="4000500"/>
            <a:ext cx="177800" cy="177800"/>
          </a:xfrm>
          <a:prstGeom prst="rect">
            <a:avLst/>
          </a:prstGeom>
          <a:solidFill>
            <a:srgbClr val="9AA5B1"/>
          </a:solidFill>
          <a:ln>
            <a:noFill/>
          </a:ln>
        </p:spPr>
        <p:txBody>
          <a:bodyPr wrap="square" lIns="0" tIns="0" rIns="0" bIns="0" rtlCol="0" anchor="t">
            <a:noAutofit/>
          </a:bodyPr>
          <a:lstStyle/>
          <a:p>
            <a:endParaRPr lang="en-GB" dirty="0"/>
          </a:p>
        </p:txBody>
      </p:sp>
      <p:sp>
        <p:nvSpPr>
          <p:cNvPr id="126" name="Shape 126"/>
          <p:cNvSpPr txBox="1"/>
          <p:nvPr/>
        </p:nvSpPr>
        <p:spPr>
          <a:xfrm>
            <a:off x="6350000" y="3911600"/>
            <a:ext cx="3175000" cy="3556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600" b="0" dirty="0">
                <a:solidFill>
                  <a:srgbClr val="1F2933"/>
                </a:solidFill>
                <a:latin typeface="Anthropic Sans Text"/>
                <a:cs typeface="Anthropic Sans Text"/>
              </a:rPr>
              <a:t>Duplicates</a:t>
            </a:r>
            <a:endParaRPr lang="en-GB" sz="1600" dirty="0"/>
          </a:p>
        </p:txBody>
      </p:sp>
      <p:sp>
        <p:nvSpPr>
          <p:cNvPr id="127" name="Shape 127"/>
          <p:cNvSpPr txBox="1"/>
          <p:nvPr/>
        </p:nvSpPr>
        <p:spPr>
          <a:xfrm>
            <a:off x="9550400" y="3911600"/>
            <a:ext cx="762000" cy="35560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GB" sz="1600" b="1" dirty="0">
                <a:solidFill>
                  <a:srgbClr val="0B1F3A"/>
                </a:solidFill>
                <a:latin typeface="Anthropic Mono"/>
                <a:cs typeface="Anthropic Mono"/>
              </a:rPr>
              <a:t>5%</a:t>
            </a:r>
            <a:endParaRPr lang="en-GB" sz="1600" dirty="0"/>
          </a:p>
        </p:txBody>
      </p:sp>
      <p:sp>
        <p:nvSpPr>
          <p:cNvPr id="128" name="Shape 128"/>
          <p:cNvSpPr/>
          <p:nvPr/>
        </p:nvSpPr>
        <p:spPr>
          <a:xfrm>
            <a:off x="6045200" y="4279900"/>
            <a:ext cx="4267200" cy="9525"/>
          </a:xfrm>
          <a:prstGeom prst="rect">
            <a:avLst/>
          </a:prstGeom>
          <a:solidFill>
            <a:srgbClr val="E0E3E7"/>
          </a:solidFill>
          <a:ln>
            <a:noFill/>
          </a:ln>
        </p:spPr>
        <p:txBody>
          <a:bodyPr wrap="square" lIns="0" tIns="0" rIns="0" bIns="0" rtlCol="0" anchor="t">
            <a:noAutofit/>
          </a:bodyPr>
          <a:lstStyle/>
          <a:p>
            <a:endParaRPr lang="en-GB" dirty="0"/>
          </a:p>
        </p:txBody>
      </p:sp>
      <p:sp>
        <p:nvSpPr>
          <p:cNvPr id="129" name="Shape 129"/>
          <p:cNvSpPr/>
          <p:nvPr/>
        </p:nvSpPr>
        <p:spPr>
          <a:xfrm>
            <a:off x="6045200" y="4381500"/>
            <a:ext cx="177800" cy="177800"/>
          </a:xfrm>
          <a:prstGeom prst="rect">
            <a:avLst/>
          </a:prstGeom>
          <a:solidFill>
            <a:srgbClr val="D5DAE0"/>
          </a:solidFill>
          <a:ln>
            <a:noFill/>
          </a:ln>
        </p:spPr>
        <p:txBody>
          <a:bodyPr wrap="square" lIns="0" tIns="0" rIns="0" bIns="0" rtlCol="0" anchor="t">
            <a:noAutofit/>
          </a:bodyPr>
          <a:lstStyle/>
          <a:p>
            <a:endParaRPr lang="en-GB" dirty="0"/>
          </a:p>
        </p:txBody>
      </p:sp>
      <p:sp>
        <p:nvSpPr>
          <p:cNvPr id="130" name="Shape 130"/>
          <p:cNvSpPr txBox="1"/>
          <p:nvPr/>
        </p:nvSpPr>
        <p:spPr>
          <a:xfrm>
            <a:off x="6350000" y="4292600"/>
            <a:ext cx="3175000" cy="3556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600" b="0" dirty="0">
                <a:solidFill>
                  <a:srgbClr val="1F2933"/>
                </a:solidFill>
                <a:latin typeface="Anthropic Sans Text"/>
                <a:cs typeface="Anthropic Sans Text"/>
              </a:rPr>
              <a:t>Other</a:t>
            </a:r>
            <a:endParaRPr lang="en-GB" sz="1600" dirty="0"/>
          </a:p>
        </p:txBody>
      </p:sp>
      <p:sp>
        <p:nvSpPr>
          <p:cNvPr id="131" name="Shape 131"/>
          <p:cNvSpPr txBox="1"/>
          <p:nvPr/>
        </p:nvSpPr>
        <p:spPr>
          <a:xfrm>
            <a:off x="9550400" y="4292600"/>
            <a:ext cx="762000" cy="35560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GB" sz="1600" b="1" dirty="0">
                <a:solidFill>
                  <a:srgbClr val="0B1F3A"/>
                </a:solidFill>
                <a:latin typeface="Anthropic Mono"/>
                <a:cs typeface="Anthropic Mono"/>
              </a:rPr>
              <a:t>5%</a:t>
            </a:r>
            <a:endParaRPr lang="en-GB" sz="1600" dirty="0"/>
          </a:p>
        </p:txBody>
      </p:sp>
      <p:sp>
        <p:nvSpPr>
          <p:cNvPr id="132" name="Shape 132"/>
          <p:cNvSpPr/>
          <p:nvPr/>
        </p:nvSpPr>
        <p:spPr>
          <a:xfrm>
            <a:off x="6045200" y="4927600"/>
            <a:ext cx="5689600" cy="889000"/>
          </a:xfrm>
          <a:prstGeom prst="rect">
            <a:avLst/>
          </a:prstGeom>
          <a:solidFill>
            <a:srgbClr val="E0F5F9"/>
          </a:solidFill>
          <a:ln>
            <a:noFill/>
          </a:ln>
        </p:spPr>
        <p:txBody>
          <a:bodyPr wrap="square" lIns="228600" tIns="101600" rIns="177800" bIns="101600" rtlCol="0" anchor="ctr">
            <a:noAutofit/>
          </a:bodyPr>
          <a:lstStyle/>
          <a:p>
            <a:pPr marL="0" indent="0" algn="l">
              <a:spcBef>
                <a:spcPts val="0"/>
              </a:spcBef>
              <a:spcAft>
                <a:spcPts val="0"/>
              </a:spcAft>
              <a:buNone/>
            </a:pPr>
            <a:r>
              <a:rPr lang="en-GB" sz="1800" b="1" dirty="0">
                <a:solidFill>
                  <a:srgbClr val="0B1F3A"/>
                </a:solidFill>
                <a:latin typeface="Anthropic Sans Text"/>
                <a:cs typeface="Anthropic Sans Text"/>
              </a:rPr>
              <a:t>Most root causes are preventable or correctable.</a:t>
            </a:r>
            <a:endParaRPr lang="en-GB" sz="1800" dirty="0"/>
          </a:p>
        </p:txBody>
      </p:sp>
      <p:sp>
        <p:nvSpPr>
          <p:cNvPr id="133" name="Shape 133"/>
          <p:cNvSpPr/>
          <p:nvPr/>
        </p:nvSpPr>
        <p:spPr>
          <a:xfrm>
            <a:off x="6045200" y="4927600"/>
            <a:ext cx="63500" cy="889000"/>
          </a:xfrm>
          <a:prstGeom prst="rect">
            <a:avLst/>
          </a:prstGeom>
          <a:solidFill>
            <a:srgbClr val="00A3C4"/>
          </a:solidFill>
          <a:ln>
            <a:noFill/>
          </a:ln>
        </p:spPr>
        <p:txBody>
          <a:bodyPr wrap="square" lIns="0" tIns="0" rIns="0" bIns="0" rtlCol="0" anchor="t">
            <a:noAutofit/>
          </a:bodyPr>
          <a:lstStyle/>
          <a:p>
            <a:endParaRPr lang="en-GB" dirty="0"/>
          </a:p>
        </p:txBody>
      </p:sp>
      <p:sp>
        <p:nvSpPr>
          <p:cNvPr id="134" name="Shape 134"/>
          <p:cNvSpPr txBox="1"/>
          <p:nvPr/>
        </p:nvSpPr>
        <p:spPr>
          <a:xfrm>
            <a:off x="6045200" y="5969000"/>
            <a:ext cx="5689600" cy="2032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900" b="0" dirty="0">
                <a:solidFill>
                  <a:srgbClr val="52606D"/>
                </a:solidFill>
                <a:latin typeface="Anthropic Sans Text"/>
                <a:cs typeface="Anthropic Sans Text"/>
              </a:rPr>
              <a:t>Illustrative mix used in demo dataset.</a:t>
            </a:r>
            <a:endParaRPr lang="en-GB" sz="900" dirty="0"/>
          </a:p>
        </p:txBody>
      </p:sp>
    </p:spTree>
    <p:extLst>
      <p:ext uri="{BB962C8B-B14F-4D97-AF65-F5344CB8AC3E}">
        <p14:creationId xmlns:p14="http://schemas.microsoft.com/office/powerpoint/2010/main" val="20542534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469B9-12A4-F316-B7C0-B3E292CAB51E}"/>
              </a:ext>
            </a:extLst>
          </p:cNvPr>
          <p:cNvSpPr>
            <a:spLocks noGrp="1"/>
          </p:cNvSpPr>
          <p:nvPr>
            <p:ph type="title"/>
          </p:nvPr>
        </p:nvSpPr>
        <p:spPr/>
        <p:txBody>
          <a:bodyPr>
            <a:normAutofit fontScale="90000"/>
          </a:bodyPr>
          <a:lstStyle/>
          <a:p>
            <a:r>
              <a:rPr lang="en-GB" dirty="0"/>
              <a:t>Good looks like same-day triage and zero missed deadlines</a:t>
            </a:r>
          </a:p>
        </p:txBody>
      </p:sp>
      <p:sp>
        <p:nvSpPr>
          <p:cNvPr id="100" name="Shape 100"/>
          <p:cNvSpPr txBox="1"/>
          <p:nvPr/>
        </p:nvSpPr>
        <p:spPr>
          <a:xfrm>
            <a:off x="685800" y="1676400"/>
            <a:ext cx="7620000" cy="2794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200" b="1" spc="150" dirty="0">
                <a:solidFill>
                  <a:srgbClr val="2E9E6A"/>
                </a:solidFill>
                <a:latin typeface="Anthropic Sans Text"/>
                <a:cs typeface="Anthropic Sans Text"/>
              </a:rPr>
              <a:t>THE TARGET STATE</a:t>
            </a:r>
            <a:endParaRPr lang="en-GB" sz="1200" dirty="0"/>
          </a:p>
        </p:txBody>
      </p:sp>
      <p:sp>
        <p:nvSpPr>
          <p:cNvPr id="101" name="Shape 101"/>
          <p:cNvSpPr/>
          <p:nvPr/>
        </p:nvSpPr>
        <p:spPr>
          <a:xfrm>
            <a:off x="685800" y="2108200"/>
            <a:ext cx="2590800" cy="3556000"/>
          </a:xfrm>
          <a:prstGeom prst="rect">
            <a:avLst/>
          </a:prstGeom>
          <a:solidFill>
            <a:srgbClr val="E3F3EA"/>
          </a:solidFill>
          <a:ln>
            <a:noFill/>
          </a:ln>
        </p:spPr>
        <p:txBody>
          <a:bodyPr wrap="square" lIns="0" tIns="0" rIns="0" bIns="0" rtlCol="0" anchor="t">
            <a:noAutofit/>
          </a:bodyPr>
          <a:lstStyle/>
          <a:p>
            <a:endParaRPr lang="en-GB" dirty="0"/>
          </a:p>
        </p:txBody>
      </p:sp>
      <p:sp>
        <p:nvSpPr>
          <p:cNvPr id="102" name="Shape 102"/>
          <p:cNvSpPr/>
          <p:nvPr/>
        </p:nvSpPr>
        <p:spPr>
          <a:xfrm>
            <a:off x="685800" y="2108200"/>
            <a:ext cx="2590800" cy="76200"/>
          </a:xfrm>
          <a:prstGeom prst="rect">
            <a:avLst/>
          </a:prstGeom>
          <a:solidFill>
            <a:srgbClr val="2E9E6A"/>
          </a:solidFill>
          <a:ln>
            <a:noFill/>
          </a:ln>
        </p:spPr>
        <p:txBody>
          <a:bodyPr wrap="square" lIns="0" tIns="0" rIns="0" bIns="0" rtlCol="0" anchor="t">
            <a:noAutofit/>
          </a:bodyPr>
          <a:lstStyle/>
          <a:p>
            <a:endParaRPr lang="en-GB" dirty="0"/>
          </a:p>
        </p:txBody>
      </p:sp>
      <p:sp>
        <p:nvSpPr>
          <p:cNvPr id="103" name="Shape 103"/>
          <p:cNvSpPr txBox="1"/>
          <p:nvPr/>
        </p:nvSpPr>
        <p:spPr>
          <a:xfrm>
            <a:off x="939800" y="2616200"/>
            <a:ext cx="2082800" cy="1143000"/>
          </a:xfrm>
          <a:prstGeom prst="rect">
            <a:avLst/>
          </a:prstGeom>
          <a:noFill/>
          <a:ln>
            <a:noFill/>
          </a:ln>
        </p:spPr>
        <p:txBody>
          <a:bodyPr wrap="none" lIns="0" tIns="0" rIns="0" bIns="0" rtlCol="0" anchor="b">
            <a:noAutofit/>
          </a:bodyPr>
          <a:lstStyle/>
          <a:p>
            <a:pPr marL="0" indent="0" algn="l">
              <a:spcBef>
                <a:spcPts val="0"/>
              </a:spcBef>
              <a:spcAft>
                <a:spcPts val="0"/>
              </a:spcAft>
              <a:buNone/>
            </a:pPr>
            <a:r>
              <a:rPr lang="en-GB" sz="3600" b="1" dirty="0">
                <a:solidFill>
                  <a:srgbClr val="2E9E6A"/>
                </a:solidFill>
                <a:latin typeface="Anthropic Serif Web"/>
                <a:cs typeface="Anthropic Serif Web"/>
              </a:rPr>
              <a:t>Same day</a:t>
            </a:r>
            <a:endParaRPr lang="en-GB" sz="3600" dirty="0"/>
          </a:p>
        </p:txBody>
      </p:sp>
      <p:sp>
        <p:nvSpPr>
          <p:cNvPr id="104" name="Shape 104"/>
          <p:cNvSpPr/>
          <p:nvPr/>
        </p:nvSpPr>
        <p:spPr>
          <a:xfrm>
            <a:off x="939800" y="3987800"/>
            <a:ext cx="508000" cy="38100"/>
          </a:xfrm>
          <a:prstGeom prst="rect">
            <a:avLst/>
          </a:prstGeom>
          <a:solidFill>
            <a:srgbClr val="2E9E6A"/>
          </a:solidFill>
          <a:ln>
            <a:noFill/>
          </a:ln>
        </p:spPr>
        <p:txBody>
          <a:bodyPr wrap="square" lIns="0" tIns="0" rIns="0" bIns="0" rtlCol="0" anchor="t">
            <a:noAutofit/>
          </a:bodyPr>
          <a:lstStyle/>
          <a:p>
            <a:endParaRPr lang="en-GB" dirty="0"/>
          </a:p>
        </p:txBody>
      </p:sp>
      <p:sp>
        <p:nvSpPr>
          <p:cNvPr id="105" name="Shape 105"/>
          <p:cNvSpPr txBox="1"/>
          <p:nvPr/>
        </p:nvSpPr>
        <p:spPr>
          <a:xfrm>
            <a:off x="939800" y="4216400"/>
            <a:ext cx="2133600" cy="1143000"/>
          </a:xfrm>
          <a:prstGeom prst="rect">
            <a:avLst/>
          </a:prstGeom>
          <a:noFill/>
          <a:ln>
            <a:noFill/>
          </a:ln>
        </p:spPr>
        <p:txBody>
          <a:bodyPr wrap="square" lIns="0" tIns="0" rIns="0" bIns="0" rtlCol="0" anchor="t">
            <a:noAutofit/>
          </a:bodyPr>
          <a:lstStyle/>
          <a:p>
            <a:pPr marL="0" indent="0" algn="l">
              <a:lnSpc>
                <a:spcPct val="105000"/>
              </a:lnSpc>
              <a:spcBef>
                <a:spcPts val="0"/>
              </a:spcBef>
              <a:spcAft>
                <a:spcPts val="0"/>
              </a:spcAft>
              <a:buNone/>
            </a:pPr>
            <a:r>
              <a:rPr lang="en-GB" sz="1800" b="1" dirty="0">
                <a:solidFill>
                  <a:srgbClr val="0B1F3A"/>
                </a:solidFill>
                <a:latin typeface="Anthropic Sans Text"/>
                <a:cs typeface="Anthropic Sans Text"/>
              </a:rPr>
              <a:t>Every denial triaged same day</a:t>
            </a:r>
            <a:endParaRPr lang="en-GB" sz="1800" dirty="0"/>
          </a:p>
        </p:txBody>
      </p:sp>
      <p:sp>
        <p:nvSpPr>
          <p:cNvPr id="106" name="Shape 106"/>
          <p:cNvSpPr/>
          <p:nvPr/>
        </p:nvSpPr>
        <p:spPr>
          <a:xfrm>
            <a:off x="3505200" y="2108200"/>
            <a:ext cx="2590800" cy="3556000"/>
          </a:xfrm>
          <a:prstGeom prst="rect">
            <a:avLst/>
          </a:prstGeom>
          <a:solidFill>
            <a:srgbClr val="E3F3EA"/>
          </a:solidFill>
          <a:ln>
            <a:noFill/>
          </a:ln>
        </p:spPr>
        <p:txBody>
          <a:bodyPr wrap="square" lIns="0" tIns="0" rIns="0" bIns="0" rtlCol="0" anchor="t">
            <a:noAutofit/>
          </a:bodyPr>
          <a:lstStyle/>
          <a:p>
            <a:endParaRPr lang="en-GB" dirty="0"/>
          </a:p>
        </p:txBody>
      </p:sp>
      <p:sp>
        <p:nvSpPr>
          <p:cNvPr id="107" name="Shape 107"/>
          <p:cNvSpPr/>
          <p:nvPr/>
        </p:nvSpPr>
        <p:spPr>
          <a:xfrm>
            <a:off x="3505200" y="2108200"/>
            <a:ext cx="2590800" cy="76200"/>
          </a:xfrm>
          <a:prstGeom prst="rect">
            <a:avLst/>
          </a:prstGeom>
          <a:solidFill>
            <a:srgbClr val="2E9E6A"/>
          </a:solidFill>
          <a:ln>
            <a:noFill/>
          </a:ln>
        </p:spPr>
        <p:txBody>
          <a:bodyPr wrap="square" lIns="0" tIns="0" rIns="0" bIns="0" rtlCol="0" anchor="t">
            <a:noAutofit/>
          </a:bodyPr>
          <a:lstStyle/>
          <a:p>
            <a:endParaRPr lang="en-GB" dirty="0"/>
          </a:p>
        </p:txBody>
      </p:sp>
      <p:sp>
        <p:nvSpPr>
          <p:cNvPr id="108" name="Shape 108"/>
          <p:cNvSpPr txBox="1"/>
          <p:nvPr/>
        </p:nvSpPr>
        <p:spPr>
          <a:xfrm>
            <a:off x="3759200" y="2616200"/>
            <a:ext cx="2082800" cy="1143000"/>
          </a:xfrm>
          <a:prstGeom prst="rect">
            <a:avLst/>
          </a:prstGeom>
          <a:noFill/>
          <a:ln>
            <a:noFill/>
          </a:ln>
        </p:spPr>
        <p:txBody>
          <a:bodyPr wrap="none" lIns="0" tIns="0" rIns="0" bIns="0" rtlCol="0" anchor="b">
            <a:noAutofit/>
          </a:bodyPr>
          <a:lstStyle/>
          <a:p>
            <a:pPr marL="0" indent="0" algn="l">
              <a:spcBef>
                <a:spcPts val="0"/>
              </a:spcBef>
              <a:spcAft>
                <a:spcPts val="0"/>
              </a:spcAft>
              <a:buNone/>
            </a:pPr>
            <a:r>
              <a:rPr lang="en-GB" sz="3600" b="1" dirty="0">
                <a:solidFill>
                  <a:srgbClr val="2E9E6A"/>
                </a:solidFill>
                <a:latin typeface="Anthropic Serif Web"/>
                <a:cs typeface="Anthropic Serif Web"/>
              </a:rPr>
              <a:t>1×</a:t>
            </a:r>
            <a:endParaRPr lang="en-GB" sz="3600" dirty="0"/>
          </a:p>
        </p:txBody>
      </p:sp>
      <p:sp>
        <p:nvSpPr>
          <p:cNvPr id="109" name="Shape 109"/>
          <p:cNvSpPr/>
          <p:nvPr/>
        </p:nvSpPr>
        <p:spPr>
          <a:xfrm>
            <a:off x="3759200" y="3987800"/>
            <a:ext cx="508000" cy="38100"/>
          </a:xfrm>
          <a:prstGeom prst="rect">
            <a:avLst/>
          </a:prstGeom>
          <a:solidFill>
            <a:srgbClr val="2E9E6A"/>
          </a:solidFill>
          <a:ln>
            <a:noFill/>
          </a:ln>
        </p:spPr>
        <p:txBody>
          <a:bodyPr wrap="square" lIns="0" tIns="0" rIns="0" bIns="0" rtlCol="0" anchor="t">
            <a:noAutofit/>
          </a:bodyPr>
          <a:lstStyle/>
          <a:p>
            <a:endParaRPr lang="en-GB" dirty="0"/>
          </a:p>
        </p:txBody>
      </p:sp>
      <p:sp>
        <p:nvSpPr>
          <p:cNvPr id="110" name="Shape 110"/>
          <p:cNvSpPr txBox="1"/>
          <p:nvPr/>
        </p:nvSpPr>
        <p:spPr>
          <a:xfrm>
            <a:off x="3759200" y="4216400"/>
            <a:ext cx="2133600" cy="1143000"/>
          </a:xfrm>
          <a:prstGeom prst="rect">
            <a:avLst/>
          </a:prstGeom>
          <a:noFill/>
          <a:ln>
            <a:noFill/>
          </a:ln>
        </p:spPr>
        <p:txBody>
          <a:bodyPr wrap="square" lIns="0" tIns="0" rIns="0" bIns="0" rtlCol="0" anchor="t">
            <a:noAutofit/>
          </a:bodyPr>
          <a:lstStyle/>
          <a:p>
            <a:pPr marL="0" indent="0" algn="l">
              <a:lnSpc>
                <a:spcPct val="105000"/>
              </a:lnSpc>
              <a:spcBef>
                <a:spcPts val="0"/>
              </a:spcBef>
              <a:spcAft>
                <a:spcPts val="0"/>
              </a:spcAft>
              <a:buNone/>
            </a:pPr>
            <a:r>
              <a:rPr lang="en-GB" sz="1800" b="1" dirty="0">
                <a:solidFill>
                  <a:srgbClr val="0B1F3A"/>
                </a:solidFill>
                <a:latin typeface="Anthropic Sans Text"/>
                <a:cs typeface="Anthropic Sans Text"/>
              </a:rPr>
              <a:t>Right action first time</a:t>
            </a:r>
            <a:endParaRPr lang="en-GB" sz="1800" dirty="0"/>
          </a:p>
        </p:txBody>
      </p:sp>
      <p:sp>
        <p:nvSpPr>
          <p:cNvPr id="111" name="Shape 111"/>
          <p:cNvSpPr/>
          <p:nvPr/>
        </p:nvSpPr>
        <p:spPr>
          <a:xfrm>
            <a:off x="6324600" y="2108200"/>
            <a:ext cx="2590800" cy="3556000"/>
          </a:xfrm>
          <a:prstGeom prst="rect">
            <a:avLst/>
          </a:prstGeom>
          <a:solidFill>
            <a:srgbClr val="E3F3EA"/>
          </a:solidFill>
          <a:ln>
            <a:noFill/>
          </a:ln>
        </p:spPr>
        <p:txBody>
          <a:bodyPr wrap="square" lIns="0" tIns="0" rIns="0" bIns="0" rtlCol="0" anchor="t">
            <a:noAutofit/>
          </a:bodyPr>
          <a:lstStyle/>
          <a:p>
            <a:endParaRPr lang="en-GB" dirty="0"/>
          </a:p>
        </p:txBody>
      </p:sp>
      <p:sp>
        <p:nvSpPr>
          <p:cNvPr id="112" name="Shape 112"/>
          <p:cNvSpPr/>
          <p:nvPr/>
        </p:nvSpPr>
        <p:spPr>
          <a:xfrm>
            <a:off x="6324600" y="2108200"/>
            <a:ext cx="2590800" cy="76200"/>
          </a:xfrm>
          <a:prstGeom prst="rect">
            <a:avLst/>
          </a:prstGeom>
          <a:solidFill>
            <a:srgbClr val="2E9E6A"/>
          </a:solidFill>
          <a:ln>
            <a:noFill/>
          </a:ln>
        </p:spPr>
        <p:txBody>
          <a:bodyPr wrap="square" lIns="0" tIns="0" rIns="0" bIns="0" rtlCol="0" anchor="t">
            <a:noAutofit/>
          </a:bodyPr>
          <a:lstStyle/>
          <a:p>
            <a:endParaRPr lang="en-GB" dirty="0"/>
          </a:p>
        </p:txBody>
      </p:sp>
      <p:sp>
        <p:nvSpPr>
          <p:cNvPr id="113" name="Shape 113"/>
          <p:cNvSpPr txBox="1"/>
          <p:nvPr/>
        </p:nvSpPr>
        <p:spPr>
          <a:xfrm>
            <a:off x="6578600" y="2616200"/>
            <a:ext cx="2082800" cy="1143000"/>
          </a:xfrm>
          <a:prstGeom prst="rect">
            <a:avLst/>
          </a:prstGeom>
          <a:noFill/>
          <a:ln>
            <a:noFill/>
          </a:ln>
        </p:spPr>
        <p:txBody>
          <a:bodyPr wrap="none" lIns="0" tIns="0" rIns="0" bIns="0" rtlCol="0" anchor="b">
            <a:noAutofit/>
          </a:bodyPr>
          <a:lstStyle/>
          <a:p>
            <a:pPr marL="0" indent="0" algn="l">
              <a:spcBef>
                <a:spcPts val="0"/>
              </a:spcBef>
              <a:spcAft>
                <a:spcPts val="0"/>
              </a:spcAft>
              <a:buNone/>
            </a:pPr>
            <a:r>
              <a:rPr lang="en-GB" sz="3600" b="1" dirty="0">
                <a:solidFill>
                  <a:srgbClr val="2E9E6A"/>
                </a:solidFill>
                <a:latin typeface="Anthropic Serif Web"/>
                <a:cs typeface="Anthropic Serif Web"/>
              </a:rPr>
              <a:t>0</a:t>
            </a:r>
            <a:endParaRPr lang="en-GB" sz="3600" dirty="0"/>
          </a:p>
        </p:txBody>
      </p:sp>
      <p:sp>
        <p:nvSpPr>
          <p:cNvPr id="114" name="Shape 114"/>
          <p:cNvSpPr/>
          <p:nvPr/>
        </p:nvSpPr>
        <p:spPr>
          <a:xfrm>
            <a:off x="6578600" y="3987800"/>
            <a:ext cx="508000" cy="38100"/>
          </a:xfrm>
          <a:prstGeom prst="rect">
            <a:avLst/>
          </a:prstGeom>
          <a:solidFill>
            <a:srgbClr val="2E9E6A"/>
          </a:solidFill>
          <a:ln>
            <a:noFill/>
          </a:ln>
        </p:spPr>
        <p:txBody>
          <a:bodyPr wrap="square" lIns="0" tIns="0" rIns="0" bIns="0" rtlCol="0" anchor="t">
            <a:noAutofit/>
          </a:bodyPr>
          <a:lstStyle/>
          <a:p>
            <a:endParaRPr lang="en-GB" dirty="0"/>
          </a:p>
        </p:txBody>
      </p:sp>
      <p:sp>
        <p:nvSpPr>
          <p:cNvPr id="115" name="Shape 115"/>
          <p:cNvSpPr txBox="1"/>
          <p:nvPr/>
        </p:nvSpPr>
        <p:spPr>
          <a:xfrm>
            <a:off x="6578600" y="4216400"/>
            <a:ext cx="2133600" cy="1143000"/>
          </a:xfrm>
          <a:prstGeom prst="rect">
            <a:avLst/>
          </a:prstGeom>
          <a:noFill/>
          <a:ln>
            <a:noFill/>
          </a:ln>
        </p:spPr>
        <p:txBody>
          <a:bodyPr wrap="square" lIns="0" tIns="0" rIns="0" bIns="0" rtlCol="0" anchor="t">
            <a:noAutofit/>
          </a:bodyPr>
          <a:lstStyle/>
          <a:p>
            <a:pPr marL="0" indent="0" algn="l">
              <a:lnSpc>
                <a:spcPct val="105000"/>
              </a:lnSpc>
              <a:spcBef>
                <a:spcPts val="0"/>
              </a:spcBef>
              <a:spcAft>
                <a:spcPts val="0"/>
              </a:spcAft>
              <a:buNone/>
            </a:pPr>
            <a:r>
              <a:rPr lang="en-GB" sz="1800" b="1" dirty="0">
                <a:solidFill>
                  <a:srgbClr val="0B1F3A"/>
                </a:solidFill>
                <a:latin typeface="Anthropic Sans Text"/>
                <a:cs typeface="Anthropic Sans Text"/>
              </a:rPr>
              <a:t>Missed deadlines</a:t>
            </a:r>
            <a:endParaRPr lang="en-GB" sz="1800" dirty="0"/>
          </a:p>
        </p:txBody>
      </p:sp>
      <p:sp>
        <p:nvSpPr>
          <p:cNvPr id="116" name="Shape 116"/>
          <p:cNvSpPr/>
          <p:nvPr/>
        </p:nvSpPr>
        <p:spPr>
          <a:xfrm>
            <a:off x="9144000" y="2108200"/>
            <a:ext cx="2590800" cy="3556000"/>
          </a:xfrm>
          <a:prstGeom prst="rect">
            <a:avLst/>
          </a:prstGeom>
          <a:solidFill>
            <a:srgbClr val="E3F3EA"/>
          </a:solidFill>
          <a:ln>
            <a:noFill/>
          </a:ln>
        </p:spPr>
        <p:txBody>
          <a:bodyPr wrap="square" lIns="0" tIns="0" rIns="0" bIns="0" rtlCol="0" anchor="t">
            <a:noAutofit/>
          </a:bodyPr>
          <a:lstStyle/>
          <a:p>
            <a:endParaRPr lang="en-GB" dirty="0"/>
          </a:p>
        </p:txBody>
      </p:sp>
      <p:sp>
        <p:nvSpPr>
          <p:cNvPr id="117" name="Shape 117"/>
          <p:cNvSpPr/>
          <p:nvPr/>
        </p:nvSpPr>
        <p:spPr>
          <a:xfrm>
            <a:off x="9144000" y="2108200"/>
            <a:ext cx="2590800" cy="76200"/>
          </a:xfrm>
          <a:prstGeom prst="rect">
            <a:avLst/>
          </a:prstGeom>
          <a:solidFill>
            <a:srgbClr val="2E9E6A"/>
          </a:solidFill>
          <a:ln>
            <a:noFill/>
          </a:ln>
        </p:spPr>
        <p:txBody>
          <a:bodyPr wrap="square" lIns="0" tIns="0" rIns="0" bIns="0" rtlCol="0" anchor="t">
            <a:noAutofit/>
          </a:bodyPr>
          <a:lstStyle/>
          <a:p>
            <a:endParaRPr lang="en-GB" dirty="0"/>
          </a:p>
        </p:txBody>
      </p:sp>
      <p:sp>
        <p:nvSpPr>
          <p:cNvPr id="118" name="Shape 118"/>
          <p:cNvSpPr txBox="1"/>
          <p:nvPr/>
        </p:nvSpPr>
        <p:spPr>
          <a:xfrm>
            <a:off x="9398000" y="2616200"/>
            <a:ext cx="2082800" cy="1143000"/>
          </a:xfrm>
          <a:prstGeom prst="rect">
            <a:avLst/>
          </a:prstGeom>
          <a:noFill/>
          <a:ln>
            <a:noFill/>
          </a:ln>
        </p:spPr>
        <p:txBody>
          <a:bodyPr wrap="none" lIns="0" tIns="0" rIns="0" bIns="0" rtlCol="0" anchor="b">
            <a:noAutofit/>
          </a:bodyPr>
          <a:lstStyle/>
          <a:p>
            <a:pPr marL="0" indent="0" algn="l">
              <a:spcBef>
                <a:spcPts val="0"/>
              </a:spcBef>
              <a:spcAft>
                <a:spcPts val="0"/>
              </a:spcAft>
              <a:buNone/>
            </a:pPr>
            <a:r>
              <a:rPr lang="en-GB" sz="3600" b="1" dirty="0">
                <a:solidFill>
                  <a:srgbClr val="2E9E6A"/>
                </a:solidFill>
                <a:latin typeface="Anthropic Serif Web"/>
                <a:cs typeface="Anthropic Serif Web"/>
              </a:rPr>
              <a:t>Top $</a:t>
            </a:r>
            <a:endParaRPr lang="en-GB" sz="3600" dirty="0"/>
          </a:p>
        </p:txBody>
      </p:sp>
      <p:sp>
        <p:nvSpPr>
          <p:cNvPr id="119" name="Shape 119"/>
          <p:cNvSpPr/>
          <p:nvPr/>
        </p:nvSpPr>
        <p:spPr>
          <a:xfrm>
            <a:off x="9398000" y="3987800"/>
            <a:ext cx="508000" cy="38100"/>
          </a:xfrm>
          <a:prstGeom prst="rect">
            <a:avLst/>
          </a:prstGeom>
          <a:solidFill>
            <a:srgbClr val="2E9E6A"/>
          </a:solidFill>
          <a:ln>
            <a:noFill/>
          </a:ln>
        </p:spPr>
        <p:txBody>
          <a:bodyPr wrap="square" lIns="0" tIns="0" rIns="0" bIns="0" rtlCol="0" anchor="t">
            <a:noAutofit/>
          </a:bodyPr>
          <a:lstStyle/>
          <a:p>
            <a:endParaRPr lang="en-GB" dirty="0"/>
          </a:p>
        </p:txBody>
      </p:sp>
      <p:sp>
        <p:nvSpPr>
          <p:cNvPr id="120" name="Shape 120"/>
          <p:cNvSpPr txBox="1"/>
          <p:nvPr/>
        </p:nvSpPr>
        <p:spPr>
          <a:xfrm>
            <a:off x="9398000" y="4216400"/>
            <a:ext cx="2133600" cy="1143000"/>
          </a:xfrm>
          <a:prstGeom prst="rect">
            <a:avLst/>
          </a:prstGeom>
          <a:noFill/>
          <a:ln>
            <a:noFill/>
          </a:ln>
        </p:spPr>
        <p:txBody>
          <a:bodyPr wrap="square" lIns="0" tIns="0" rIns="0" bIns="0" rtlCol="0" anchor="t">
            <a:noAutofit/>
          </a:bodyPr>
          <a:lstStyle/>
          <a:p>
            <a:pPr marL="0" indent="0" algn="l">
              <a:lnSpc>
                <a:spcPct val="105000"/>
              </a:lnSpc>
              <a:spcBef>
                <a:spcPts val="0"/>
              </a:spcBef>
              <a:spcAft>
                <a:spcPts val="0"/>
              </a:spcAft>
              <a:buNone/>
            </a:pPr>
            <a:r>
              <a:rPr lang="en-GB" sz="1800" b="1" dirty="0">
                <a:solidFill>
                  <a:srgbClr val="0B1F3A"/>
                </a:solidFill>
                <a:latin typeface="Anthropic Sans Text"/>
                <a:cs typeface="Anthropic Sans Text"/>
              </a:rPr>
              <a:t>Highest-value claims worked first</a:t>
            </a:r>
            <a:endParaRPr lang="en-GB" sz="1800" dirty="0"/>
          </a:p>
        </p:txBody>
      </p:sp>
    </p:spTree>
    <p:extLst>
      <p:ext uri="{BB962C8B-B14F-4D97-AF65-F5344CB8AC3E}">
        <p14:creationId xmlns:p14="http://schemas.microsoft.com/office/powerpoint/2010/main" val="23003989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80717-C156-413B-70CF-9E77B7C5ED03}"/>
              </a:ext>
            </a:extLst>
          </p:cNvPr>
          <p:cNvSpPr>
            <a:spLocks noGrp="1"/>
          </p:cNvSpPr>
          <p:nvPr>
            <p:ph type="title"/>
          </p:nvPr>
        </p:nvSpPr>
        <p:spPr/>
        <p:txBody>
          <a:bodyPr/>
          <a:lstStyle/>
          <a:p>
            <a:r>
              <a:rPr lang="en-GB" dirty="0"/>
              <a:t>The solution</a:t>
            </a:r>
          </a:p>
        </p:txBody>
      </p:sp>
      <p:sp>
        <p:nvSpPr>
          <p:cNvPr id="3" name="Text Placeholder 2">
            <a:extLst>
              <a:ext uri="{FF2B5EF4-FFF2-40B4-BE49-F238E27FC236}">
                <a16:creationId xmlns:a16="http://schemas.microsoft.com/office/drawing/2014/main" id="{F618062E-999E-3CED-C3E3-441992A6B7B8}"/>
              </a:ext>
            </a:extLst>
          </p:cNvPr>
          <p:cNvSpPr>
            <a:spLocks noGrp="1"/>
          </p:cNvSpPr>
          <p:nvPr>
            <p:ph type="body" idx="1"/>
          </p:nvPr>
        </p:nvSpPr>
        <p:spPr/>
        <p:txBody>
          <a:bodyPr/>
          <a:lstStyle/>
          <a:p>
            <a:r>
              <a:rPr lang="en-GB" dirty="0"/>
              <a:t>Denial Navigator turns every denial into one clear, explained decision</a:t>
            </a:r>
          </a:p>
        </p:txBody>
      </p:sp>
      <p:sp>
        <p:nvSpPr>
          <p:cNvPr id="100" name="Shape 100"/>
          <p:cNvSpPr txBox="1"/>
          <p:nvPr/>
        </p:nvSpPr>
        <p:spPr>
          <a:xfrm>
            <a:off x="762000" y="1778000"/>
            <a:ext cx="3810000" cy="3048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200" b="1" spc="200" dirty="0">
                <a:solidFill>
                  <a:srgbClr val="8FDDEB"/>
                </a:solidFill>
                <a:latin typeface="Anthropic Mono"/>
                <a:cs typeface="Anthropic Mono"/>
              </a:rPr>
              <a:t>SECTION 02</a:t>
            </a:r>
            <a:endParaRPr lang="en-GB" sz="1200" dirty="0"/>
          </a:p>
        </p:txBody>
      </p:sp>
      <p:sp>
        <p:nvSpPr>
          <p:cNvPr id="101" name="Shape 101"/>
          <p:cNvSpPr txBox="1"/>
          <p:nvPr/>
        </p:nvSpPr>
        <p:spPr>
          <a:xfrm>
            <a:off x="8890000" y="1524000"/>
            <a:ext cx="2794000" cy="381000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GB" sz="20000" b="1" dirty="0">
                <a:solidFill>
                  <a:srgbClr val="2A5C9C"/>
                </a:solidFill>
                <a:latin typeface="Anthropic Serif Web"/>
                <a:cs typeface="Anthropic Serif Web"/>
              </a:rPr>
              <a:t>02</a:t>
            </a:r>
            <a:endParaRPr lang="en-GB" sz="20000" dirty="0"/>
          </a:p>
        </p:txBody>
      </p:sp>
    </p:spTree>
    <p:extLst>
      <p:ext uri="{BB962C8B-B14F-4D97-AF65-F5344CB8AC3E}">
        <p14:creationId xmlns:p14="http://schemas.microsoft.com/office/powerpoint/2010/main" val="15773699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53819-C7AD-72F0-DEAC-3B0C33CC6E75}"/>
              </a:ext>
            </a:extLst>
          </p:cNvPr>
          <p:cNvSpPr>
            <a:spLocks noGrp="1"/>
          </p:cNvSpPr>
          <p:nvPr>
            <p:ph type="title"/>
          </p:nvPr>
        </p:nvSpPr>
        <p:spPr/>
        <p:txBody>
          <a:bodyPr>
            <a:normAutofit fontScale="90000"/>
          </a:bodyPr>
          <a:lstStyle/>
          <a:p>
            <a:r>
              <a:rPr lang="en-GB" dirty="0"/>
              <a:t>Denials cost hospitals billions, and rural hospitals feel it most</a:t>
            </a:r>
          </a:p>
        </p:txBody>
      </p:sp>
      <p:sp>
        <p:nvSpPr>
          <p:cNvPr id="100" name="Shape 100"/>
          <p:cNvSpPr/>
          <p:nvPr/>
        </p:nvSpPr>
        <p:spPr>
          <a:xfrm>
            <a:off x="685800" y="1574800"/>
            <a:ext cx="3429000" cy="3810000"/>
          </a:xfrm>
          <a:prstGeom prst="rect">
            <a:avLst/>
          </a:prstGeom>
          <a:solidFill>
            <a:srgbClr val="FCE9E3"/>
          </a:solidFill>
          <a:ln>
            <a:noFill/>
          </a:ln>
        </p:spPr>
        <p:txBody>
          <a:bodyPr wrap="square" lIns="0" tIns="0" rIns="0" bIns="0" rtlCol="0" anchor="t">
            <a:noAutofit/>
          </a:bodyPr>
          <a:lstStyle/>
          <a:p>
            <a:endParaRPr lang="en-GB" dirty="0"/>
          </a:p>
        </p:txBody>
      </p:sp>
      <p:sp>
        <p:nvSpPr>
          <p:cNvPr id="101" name="Shape 101"/>
          <p:cNvSpPr/>
          <p:nvPr/>
        </p:nvSpPr>
        <p:spPr>
          <a:xfrm>
            <a:off x="685800" y="1574800"/>
            <a:ext cx="76200" cy="3810000"/>
          </a:xfrm>
          <a:prstGeom prst="rect">
            <a:avLst/>
          </a:prstGeom>
          <a:solidFill>
            <a:srgbClr val="E4572E"/>
          </a:solidFill>
          <a:ln>
            <a:noFill/>
          </a:ln>
        </p:spPr>
        <p:txBody>
          <a:bodyPr wrap="square" lIns="0" tIns="0" rIns="0" bIns="0" rtlCol="0" anchor="t">
            <a:noAutofit/>
          </a:bodyPr>
          <a:lstStyle/>
          <a:p>
            <a:endParaRPr lang="en-GB" dirty="0"/>
          </a:p>
        </p:txBody>
      </p:sp>
      <p:sp>
        <p:nvSpPr>
          <p:cNvPr id="102" name="Shape 102"/>
          <p:cNvSpPr txBox="1"/>
          <p:nvPr/>
        </p:nvSpPr>
        <p:spPr>
          <a:xfrm>
            <a:off x="1041400" y="2082800"/>
            <a:ext cx="2997200" cy="1143000"/>
          </a:xfrm>
          <a:prstGeom prst="rect">
            <a:avLst/>
          </a:prstGeom>
          <a:noFill/>
          <a:ln>
            <a:noFill/>
          </a:ln>
        </p:spPr>
        <p:txBody>
          <a:bodyPr wrap="none" lIns="0" tIns="0" rIns="0" bIns="0" rtlCol="0" anchor="b">
            <a:noAutofit/>
          </a:bodyPr>
          <a:lstStyle/>
          <a:p>
            <a:pPr marL="0" indent="0" algn="l">
              <a:spcBef>
                <a:spcPts val="0"/>
              </a:spcBef>
              <a:spcAft>
                <a:spcPts val="0"/>
              </a:spcAft>
              <a:buNone/>
            </a:pPr>
            <a:r>
              <a:rPr lang="en-GB" sz="5000" b="1" dirty="0">
                <a:solidFill>
                  <a:srgbClr val="E4572E"/>
                </a:solidFill>
                <a:latin typeface="Anthropic Serif Web"/>
                <a:cs typeface="Anthropic Serif Web"/>
              </a:rPr>
              <a:t>$19.7B</a:t>
            </a:r>
            <a:r>
              <a:rPr lang="en-GB" sz="1800" b="0" baseline="110000" dirty="0">
                <a:solidFill>
                  <a:srgbClr val="E4572E"/>
                </a:solidFill>
                <a:latin typeface="Anthropic Sans Text"/>
                <a:cs typeface="Anthropic Sans Text"/>
              </a:rPr>
              <a:t>1</a:t>
            </a:r>
            <a:endParaRPr lang="en-GB" sz="5000" dirty="0"/>
          </a:p>
        </p:txBody>
      </p:sp>
      <p:sp>
        <p:nvSpPr>
          <p:cNvPr id="103" name="Shape 103"/>
          <p:cNvSpPr/>
          <p:nvPr/>
        </p:nvSpPr>
        <p:spPr>
          <a:xfrm>
            <a:off x="1041400" y="3479800"/>
            <a:ext cx="609600" cy="38100"/>
          </a:xfrm>
          <a:prstGeom prst="rect">
            <a:avLst/>
          </a:prstGeom>
          <a:solidFill>
            <a:srgbClr val="E4572E"/>
          </a:solidFill>
          <a:ln>
            <a:noFill/>
          </a:ln>
        </p:spPr>
        <p:txBody>
          <a:bodyPr wrap="square" lIns="0" tIns="0" rIns="0" bIns="0" rtlCol="0" anchor="t">
            <a:noAutofit/>
          </a:bodyPr>
          <a:lstStyle/>
          <a:p>
            <a:endParaRPr lang="en-GB" dirty="0"/>
          </a:p>
        </p:txBody>
      </p:sp>
      <p:sp>
        <p:nvSpPr>
          <p:cNvPr id="104" name="Shape 104"/>
          <p:cNvSpPr txBox="1"/>
          <p:nvPr/>
        </p:nvSpPr>
        <p:spPr>
          <a:xfrm>
            <a:off x="1041400" y="3733800"/>
            <a:ext cx="2794000" cy="1143000"/>
          </a:xfrm>
          <a:prstGeom prst="rect">
            <a:avLst/>
          </a:prstGeom>
          <a:noFill/>
          <a:ln>
            <a:noFill/>
          </a:ln>
        </p:spPr>
        <p:txBody>
          <a:bodyPr wrap="square" lIns="0" tIns="0" rIns="0" bIns="0" rtlCol="0" anchor="t">
            <a:noAutofit/>
          </a:bodyPr>
          <a:lstStyle/>
          <a:p>
            <a:pPr marL="0" indent="0" algn="l">
              <a:lnSpc>
                <a:spcPct val="110000"/>
              </a:lnSpc>
              <a:spcBef>
                <a:spcPts val="0"/>
              </a:spcBef>
              <a:spcAft>
                <a:spcPts val="0"/>
              </a:spcAft>
              <a:buNone/>
            </a:pPr>
            <a:r>
              <a:rPr lang="en-GB" sz="1800" b="0" dirty="0">
                <a:solidFill>
                  <a:srgbClr val="1F2933"/>
                </a:solidFill>
                <a:latin typeface="Anthropic Sans Text"/>
                <a:cs typeface="Anthropic Sans Text"/>
              </a:rPr>
              <a:t>spent by U.S. hospitals fighting denials in 2022</a:t>
            </a:r>
            <a:endParaRPr lang="en-GB" sz="1800" dirty="0"/>
          </a:p>
        </p:txBody>
      </p:sp>
      <p:sp>
        <p:nvSpPr>
          <p:cNvPr id="105" name="Shape 105"/>
          <p:cNvSpPr/>
          <p:nvPr/>
        </p:nvSpPr>
        <p:spPr>
          <a:xfrm>
            <a:off x="4495800" y="1574800"/>
            <a:ext cx="3429000" cy="3810000"/>
          </a:xfrm>
          <a:prstGeom prst="rect">
            <a:avLst/>
          </a:prstGeom>
          <a:solidFill>
            <a:srgbClr val="FCE9E3"/>
          </a:solidFill>
          <a:ln>
            <a:noFill/>
          </a:ln>
        </p:spPr>
        <p:txBody>
          <a:bodyPr wrap="square" lIns="0" tIns="0" rIns="0" bIns="0" rtlCol="0" anchor="t">
            <a:noAutofit/>
          </a:bodyPr>
          <a:lstStyle/>
          <a:p>
            <a:endParaRPr lang="en-GB" dirty="0"/>
          </a:p>
        </p:txBody>
      </p:sp>
      <p:sp>
        <p:nvSpPr>
          <p:cNvPr id="106" name="Shape 106"/>
          <p:cNvSpPr/>
          <p:nvPr/>
        </p:nvSpPr>
        <p:spPr>
          <a:xfrm>
            <a:off x="4495800" y="1574800"/>
            <a:ext cx="76200" cy="3810000"/>
          </a:xfrm>
          <a:prstGeom prst="rect">
            <a:avLst/>
          </a:prstGeom>
          <a:solidFill>
            <a:srgbClr val="E4572E"/>
          </a:solidFill>
          <a:ln>
            <a:noFill/>
          </a:ln>
        </p:spPr>
        <p:txBody>
          <a:bodyPr wrap="square" lIns="0" tIns="0" rIns="0" bIns="0" rtlCol="0" anchor="t">
            <a:noAutofit/>
          </a:bodyPr>
          <a:lstStyle/>
          <a:p>
            <a:endParaRPr lang="en-GB" dirty="0"/>
          </a:p>
        </p:txBody>
      </p:sp>
      <p:sp>
        <p:nvSpPr>
          <p:cNvPr id="107" name="Shape 107"/>
          <p:cNvSpPr txBox="1"/>
          <p:nvPr/>
        </p:nvSpPr>
        <p:spPr>
          <a:xfrm>
            <a:off x="4851400" y="2082800"/>
            <a:ext cx="2997200" cy="1143000"/>
          </a:xfrm>
          <a:prstGeom prst="rect">
            <a:avLst/>
          </a:prstGeom>
          <a:noFill/>
          <a:ln>
            <a:noFill/>
          </a:ln>
        </p:spPr>
        <p:txBody>
          <a:bodyPr wrap="none" lIns="0" tIns="0" rIns="0" bIns="0" rtlCol="0" anchor="b">
            <a:noAutofit/>
          </a:bodyPr>
          <a:lstStyle/>
          <a:p>
            <a:pPr marL="0" indent="0" algn="l">
              <a:spcBef>
                <a:spcPts val="0"/>
              </a:spcBef>
              <a:spcAft>
                <a:spcPts val="0"/>
              </a:spcAft>
              <a:buNone/>
            </a:pPr>
            <a:r>
              <a:rPr lang="en-GB" sz="5000" b="1" dirty="0">
                <a:solidFill>
                  <a:srgbClr val="E4572E"/>
                </a:solidFill>
                <a:latin typeface="Anthropic Serif Web"/>
                <a:cs typeface="Anthropic Serif Web"/>
              </a:rPr>
              <a:t>~18%</a:t>
            </a:r>
            <a:r>
              <a:rPr lang="en-GB" sz="1800" b="0" baseline="110000" dirty="0">
                <a:solidFill>
                  <a:srgbClr val="E4572E"/>
                </a:solidFill>
                <a:latin typeface="Anthropic Sans Text"/>
                <a:cs typeface="Anthropic Sans Text"/>
              </a:rPr>
              <a:t>2</a:t>
            </a:r>
            <a:endParaRPr lang="en-GB" sz="5000" dirty="0"/>
          </a:p>
        </p:txBody>
      </p:sp>
      <p:sp>
        <p:nvSpPr>
          <p:cNvPr id="108" name="Shape 108"/>
          <p:cNvSpPr/>
          <p:nvPr/>
        </p:nvSpPr>
        <p:spPr>
          <a:xfrm>
            <a:off x="4851400" y="3479800"/>
            <a:ext cx="609600" cy="38100"/>
          </a:xfrm>
          <a:prstGeom prst="rect">
            <a:avLst/>
          </a:prstGeom>
          <a:solidFill>
            <a:srgbClr val="E4572E"/>
          </a:solidFill>
          <a:ln>
            <a:noFill/>
          </a:ln>
        </p:spPr>
        <p:txBody>
          <a:bodyPr wrap="square" lIns="0" tIns="0" rIns="0" bIns="0" rtlCol="0" anchor="t">
            <a:noAutofit/>
          </a:bodyPr>
          <a:lstStyle/>
          <a:p>
            <a:endParaRPr lang="en-GB" dirty="0"/>
          </a:p>
        </p:txBody>
      </p:sp>
      <p:sp>
        <p:nvSpPr>
          <p:cNvPr id="109" name="Shape 109"/>
          <p:cNvSpPr txBox="1"/>
          <p:nvPr/>
        </p:nvSpPr>
        <p:spPr>
          <a:xfrm>
            <a:off x="4851400" y="3733800"/>
            <a:ext cx="2794000" cy="1143000"/>
          </a:xfrm>
          <a:prstGeom prst="rect">
            <a:avLst/>
          </a:prstGeom>
          <a:noFill/>
          <a:ln>
            <a:noFill/>
          </a:ln>
        </p:spPr>
        <p:txBody>
          <a:bodyPr wrap="square" lIns="0" tIns="0" rIns="0" bIns="0" rtlCol="0" anchor="t">
            <a:noAutofit/>
          </a:bodyPr>
          <a:lstStyle/>
          <a:p>
            <a:pPr marL="0" indent="0" algn="l">
              <a:lnSpc>
                <a:spcPct val="110000"/>
              </a:lnSpc>
              <a:spcBef>
                <a:spcPts val="0"/>
              </a:spcBef>
              <a:spcAft>
                <a:spcPts val="0"/>
              </a:spcAft>
              <a:buNone/>
            </a:pPr>
            <a:r>
              <a:rPr lang="en-GB" sz="1800" b="0" dirty="0">
                <a:solidFill>
                  <a:srgbClr val="1F2933"/>
                </a:solidFill>
                <a:latin typeface="Anthropic Sans Text"/>
                <a:cs typeface="Anthropic Sans Text"/>
              </a:rPr>
              <a:t>rural claim denial rate, vs ~10% urban</a:t>
            </a:r>
            <a:endParaRPr lang="en-GB" sz="1800" dirty="0"/>
          </a:p>
        </p:txBody>
      </p:sp>
      <p:sp>
        <p:nvSpPr>
          <p:cNvPr id="110" name="Shape 110"/>
          <p:cNvSpPr/>
          <p:nvPr/>
        </p:nvSpPr>
        <p:spPr>
          <a:xfrm>
            <a:off x="8305800" y="1574800"/>
            <a:ext cx="3429000" cy="3810000"/>
          </a:xfrm>
          <a:prstGeom prst="rect">
            <a:avLst/>
          </a:prstGeom>
          <a:solidFill>
            <a:srgbClr val="FCE9E3"/>
          </a:solidFill>
          <a:ln>
            <a:noFill/>
          </a:ln>
        </p:spPr>
        <p:txBody>
          <a:bodyPr wrap="square" lIns="0" tIns="0" rIns="0" bIns="0" rtlCol="0" anchor="t">
            <a:noAutofit/>
          </a:bodyPr>
          <a:lstStyle/>
          <a:p>
            <a:endParaRPr lang="en-GB" dirty="0"/>
          </a:p>
        </p:txBody>
      </p:sp>
      <p:sp>
        <p:nvSpPr>
          <p:cNvPr id="111" name="Shape 111"/>
          <p:cNvSpPr/>
          <p:nvPr/>
        </p:nvSpPr>
        <p:spPr>
          <a:xfrm>
            <a:off x="8305800" y="1574800"/>
            <a:ext cx="76200" cy="3810000"/>
          </a:xfrm>
          <a:prstGeom prst="rect">
            <a:avLst/>
          </a:prstGeom>
          <a:solidFill>
            <a:srgbClr val="E4572E"/>
          </a:solidFill>
          <a:ln>
            <a:noFill/>
          </a:ln>
        </p:spPr>
        <p:txBody>
          <a:bodyPr wrap="square" lIns="0" tIns="0" rIns="0" bIns="0" rtlCol="0" anchor="t">
            <a:noAutofit/>
          </a:bodyPr>
          <a:lstStyle/>
          <a:p>
            <a:endParaRPr lang="en-GB" dirty="0"/>
          </a:p>
        </p:txBody>
      </p:sp>
      <p:sp>
        <p:nvSpPr>
          <p:cNvPr id="112" name="Shape 112"/>
          <p:cNvSpPr txBox="1"/>
          <p:nvPr/>
        </p:nvSpPr>
        <p:spPr>
          <a:xfrm>
            <a:off x="8661400" y="2082800"/>
            <a:ext cx="2997200" cy="1143000"/>
          </a:xfrm>
          <a:prstGeom prst="rect">
            <a:avLst/>
          </a:prstGeom>
          <a:noFill/>
          <a:ln>
            <a:noFill/>
          </a:ln>
        </p:spPr>
        <p:txBody>
          <a:bodyPr wrap="none" lIns="0" tIns="0" rIns="0" bIns="0" rtlCol="0" anchor="b">
            <a:noAutofit/>
          </a:bodyPr>
          <a:lstStyle/>
          <a:p>
            <a:pPr marL="0" indent="0" algn="l">
              <a:spcBef>
                <a:spcPts val="0"/>
              </a:spcBef>
              <a:spcAft>
                <a:spcPts val="0"/>
              </a:spcAft>
              <a:buNone/>
            </a:pPr>
            <a:r>
              <a:rPr lang="en-GB" sz="5000" b="1" dirty="0">
                <a:solidFill>
                  <a:srgbClr val="E4572E"/>
                </a:solidFill>
                <a:latin typeface="Anthropic Serif Web"/>
                <a:cs typeface="Anthropic Serif Web"/>
              </a:rPr>
              <a:t>~$330K</a:t>
            </a:r>
            <a:r>
              <a:rPr lang="en-GB" sz="1800" b="0" baseline="110000" dirty="0">
                <a:solidFill>
                  <a:srgbClr val="E4572E"/>
                </a:solidFill>
                <a:latin typeface="Anthropic Sans Text"/>
                <a:cs typeface="Anthropic Sans Text"/>
              </a:rPr>
              <a:t>3</a:t>
            </a:r>
            <a:endParaRPr lang="en-GB" sz="5000" dirty="0"/>
          </a:p>
        </p:txBody>
      </p:sp>
      <p:sp>
        <p:nvSpPr>
          <p:cNvPr id="113" name="Shape 113"/>
          <p:cNvSpPr/>
          <p:nvPr/>
        </p:nvSpPr>
        <p:spPr>
          <a:xfrm>
            <a:off x="8661400" y="3479800"/>
            <a:ext cx="609600" cy="38100"/>
          </a:xfrm>
          <a:prstGeom prst="rect">
            <a:avLst/>
          </a:prstGeom>
          <a:solidFill>
            <a:srgbClr val="E4572E"/>
          </a:solidFill>
          <a:ln>
            <a:noFill/>
          </a:ln>
        </p:spPr>
        <p:txBody>
          <a:bodyPr wrap="square" lIns="0" tIns="0" rIns="0" bIns="0" rtlCol="0" anchor="t">
            <a:noAutofit/>
          </a:bodyPr>
          <a:lstStyle/>
          <a:p>
            <a:endParaRPr lang="en-GB" dirty="0"/>
          </a:p>
        </p:txBody>
      </p:sp>
      <p:sp>
        <p:nvSpPr>
          <p:cNvPr id="114" name="Shape 114"/>
          <p:cNvSpPr txBox="1"/>
          <p:nvPr/>
        </p:nvSpPr>
        <p:spPr>
          <a:xfrm>
            <a:off x="8661400" y="3733800"/>
            <a:ext cx="2794000" cy="1143000"/>
          </a:xfrm>
          <a:prstGeom prst="rect">
            <a:avLst/>
          </a:prstGeom>
          <a:noFill/>
          <a:ln>
            <a:noFill/>
          </a:ln>
        </p:spPr>
        <p:txBody>
          <a:bodyPr wrap="square" lIns="0" tIns="0" rIns="0" bIns="0" rtlCol="0" anchor="t">
            <a:noAutofit/>
          </a:bodyPr>
          <a:lstStyle/>
          <a:p>
            <a:pPr marL="0" indent="0" algn="l">
              <a:lnSpc>
                <a:spcPct val="110000"/>
              </a:lnSpc>
              <a:spcBef>
                <a:spcPts val="0"/>
              </a:spcBef>
              <a:spcAft>
                <a:spcPts val="0"/>
              </a:spcAft>
              <a:buNone/>
            </a:pPr>
            <a:r>
              <a:rPr lang="en-GB" sz="1800" b="0" dirty="0">
                <a:solidFill>
                  <a:srgbClr val="1F2933"/>
                </a:solidFill>
                <a:latin typeface="Anthropic Sans Text"/>
                <a:cs typeface="Anthropic Sans Text"/>
              </a:rPr>
              <a:t>a year for a small hospital to manage denials</a:t>
            </a:r>
            <a:endParaRPr lang="en-GB" sz="1800" dirty="0"/>
          </a:p>
        </p:txBody>
      </p:sp>
      <p:sp>
        <p:nvSpPr>
          <p:cNvPr id="115" name="Shape 115"/>
          <p:cNvSpPr txBox="1"/>
          <p:nvPr/>
        </p:nvSpPr>
        <p:spPr>
          <a:xfrm>
            <a:off x="1106424" y="5676900"/>
            <a:ext cx="10922000" cy="3810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900" b="0" dirty="0">
                <a:solidFill>
                  <a:srgbClr val="52606D"/>
                </a:solidFill>
                <a:latin typeface="Anthropic Sans Text"/>
                <a:cs typeface="Anthropic Sans Text"/>
              </a:rPr>
              <a:t>1. Premier Inc., 2024.   2–3. Microsoft Cloud blog, October 2025.</a:t>
            </a:r>
            <a:endParaRPr lang="en-GB" sz="900" dirty="0"/>
          </a:p>
        </p:txBody>
      </p:sp>
    </p:spTree>
    <p:extLst>
      <p:ext uri="{BB962C8B-B14F-4D97-AF65-F5344CB8AC3E}">
        <p14:creationId xmlns:p14="http://schemas.microsoft.com/office/powerpoint/2010/main" val="12658133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AF91F-EE29-27E3-0689-2F3C85936678}"/>
              </a:ext>
            </a:extLst>
          </p:cNvPr>
          <p:cNvSpPr>
            <a:spLocks noGrp="1"/>
          </p:cNvSpPr>
          <p:nvPr>
            <p:ph type="title"/>
          </p:nvPr>
        </p:nvSpPr>
        <p:spPr/>
        <p:txBody>
          <a:bodyPr/>
          <a:lstStyle/>
          <a:p>
            <a:r>
              <a:rPr lang="en-GB" dirty="0"/>
              <a:t>Denial Navigator gives every denial a clear next step</a:t>
            </a:r>
          </a:p>
        </p:txBody>
      </p:sp>
      <p:sp>
        <p:nvSpPr>
          <p:cNvPr id="100" name="Shape 100"/>
          <p:cNvSpPr/>
          <p:nvPr/>
        </p:nvSpPr>
        <p:spPr>
          <a:xfrm>
            <a:off x="685800" y="1473200"/>
            <a:ext cx="11049000" cy="787400"/>
          </a:xfrm>
          <a:prstGeom prst="rect">
            <a:avLst/>
          </a:prstGeom>
          <a:solidFill>
            <a:srgbClr val="0B1F3A"/>
          </a:solidFill>
          <a:ln>
            <a:noFill/>
          </a:ln>
        </p:spPr>
        <p:txBody>
          <a:bodyPr wrap="square" lIns="279400" tIns="76200" rIns="279400" bIns="76200" rtlCol="0" anchor="ctr">
            <a:noAutofit/>
          </a:bodyPr>
          <a:lstStyle/>
          <a:p>
            <a:pPr marL="0" indent="0" algn="l">
              <a:spcBef>
                <a:spcPts val="0"/>
              </a:spcBef>
              <a:spcAft>
                <a:spcPts val="0"/>
              </a:spcAft>
              <a:buNone/>
            </a:pPr>
            <a:r>
              <a:rPr lang="en-GB" sz="2000" b="0" dirty="0">
                <a:solidFill>
                  <a:srgbClr val="FFFFFF"/>
                </a:solidFill>
                <a:latin typeface="Anthropic Sans Text"/>
                <a:cs typeface="Anthropic Sans Text"/>
              </a:rPr>
              <a:t>One assistant that turns every denial into </a:t>
            </a:r>
            <a:r>
              <a:rPr lang="en-GB" sz="2000" b="1" dirty="0">
                <a:solidFill>
                  <a:srgbClr val="00A3C4"/>
                </a:solidFill>
                <a:latin typeface="Anthropic Sans Text"/>
                <a:cs typeface="Anthropic Sans Text"/>
              </a:rPr>
              <a:t>one explained decision</a:t>
            </a:r>
            <a:r>
              <a:rPr lang="en-GB" sz="2000" b="0" dirty="0">
                <a:solidFill>
                  <a:srgbClr val="FFFFFF"/>
                </a:solidFill>
                <a:latin typeface="Anthropic Sans Text"/>
                <a:cs typeface="Anthropic Sans Text"/>
              </a:rPr>
              <a:t>, in minutes.</a:t>
            </a:r>
            <a:endParaRPr lang="en-GB" sz="2000" dirty="0"/>
          </a:p>
        </p:txBody>
      </p:sp>
      <p:sp>
        <p:nvSpPr>
          <p:cNvPr id="101" name="Shape 101"/>
          <p:cNvSpPr/>
          <p:nvPr/>
        </p:nvSpPr>
        <p:spPr>
          <a:xfrm>
            <a:off x="685800" y="2540000"/>
            <a:ext cx="2590800" cy="3429000"/>
          </a:xfrm>
          <a:prstGeom prst="rect">
            <a:avLst/>
          </a:prstGeom>
          <a:solidFill>
            <a:srgbClr val="E0F5F9"/>
          </a:solidFill>
          <a:ln>
            <a:noFill/>
          </a:ln>
        </p:spPr>
        <p:txBody>
          <a:bodyPr wrap="square" lIns="0" tIns="0" rIns="0" bIns="0" rtlCol="0" anchor="t">
            <a:noAutofit/>
          </a:bodyPr>
          <a:lstStyle/>
          <a:p>
            <a:endParaRPr lang="en-GB" dirty="0"/>
          </a:p>
        </p:txBody>
      </p:sp>
      <p:sp>
        <p:nvSpPr>
          <p:cNvPr id="102" name="Shape 102"/>
          <p:cNvSpPr/>
          <p:nvPr/>
        </p:nvSpPr>
        <p:spPr>
          <a:xfrm>
            <a:off x="965200" y="2870200"/>
            <a:ext cx="812800" cy="812800"/>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endParaRPr lang="en-GB" sz="1600" dirty="0"/>
          </a:p>
        </p:txBody>
      </p:sp>
      <p:sp>
        <p:nvSpPr>
          <p:cNvPr id="103" name="Shape 103"/>
          <p:cNvSpPr txBox="1"/>
          <p:nvPr/>
        </p:nvSpPr>
        <p:spPr>
          <a:xfrm>
            <a:off x="2514600" y="2844800"/>
            <a:ext cx="508000" cy="254000"/>
          </a:xfrm>
          <a:prstGeom prst="rect">
            <a:avLst/>
          </a:prstGeom>
          <a:noFill/>
          <a:ln>
            <a:noFill/>
          </a:ln>
        </p:spPr>
        <p:txBody>
          <a:bodyPr wrap="square" lIns="0" tIns="0" rIns="0" bIns="0" rtlCol="0" anchor="t">
            <a:noAutofit/>
          </a:bodyPr>
          <a:lstStyle/>
          <a:p>
            <a:pPr marL="0" indent="0" algn="r">
              <a:spcBef>
                <a:spcPts val="0"/>
              </a:spcBef>
              <a:spcAft>
                <a:spcPts val="0"/>
              </a:spcAft>
              <a:buNone/>
            </a:pPr>
            <a:r>
              <a:rPr lang="en-GB" sz="1200" b="1" dirty="0">
                <a:solidFill>
                  <a:srgbClr val="00A3C4"/>
                </a:solidFill>
                <a:latin typeface="Anthropic Mono"/>
                <a:cs typeface="Anthropic Mono"/>
              </a:rPr>
              <a:t>01</a:t>
            </a:r>
            <a:endParaRPr lang="en-GB" sz="1200" dirty="0"/>
          </a:p>
        </p:txBody>
      </p:sp>
      <p:sp>
        <p:nvSpPr>
          <p:cNvPr id="104" name="Shape 104"/>
          <p:cNvSpPr txBox="1"/>
          <p:nvPr/>
        </p:nvSpPr>
        <p:spPr>
          <a:xfrm>
            <a:off x="965200" y="4064000"/>
            <a:ext cx="2082800" cy="4318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2400" b="1" dirty="0">
                <a:solidFill>
                  <a:srgbClr val="0B1F3A"/>
                </a:solidFill>
                <a:latin typeface="Anthropic Sans Text"/>
                <a:cs typeface="Anthropic Sans Text"/>
              </a:rPr>
              <a:t>Understand</a:t>
            </a:r>
            <a:endParaRPr lang="en-GB" sz="2400" dirty="0"/>
          </a:p>
        </p:txBody>
      </p:sp>
      <p:sp>
        <p:nvSpPr>
          <p:cNvPr id="105" name="Shape 105"/>
          <p:cNvSpPr/>
          <p:nvPr/>
        </p:nvSpPr>
        <p:spPr>
          <a:xfrm>
            <a:off x="965200" y="4597400"/>
            <a:ext cx="457200" cy="38100"/>
          </a:xfrm>
          <a:prstGeom prst="rect">
            <a:avLst/>
          </a:prstGeom>
          <a:solidFill>
            <a:srgbClr val="00A3C4"/>
          </a:solidFill>
          <a:ln>
            <a:noFill/>
          </a:ln>
        </p:spPr>
        <p:txBody>
          <a:bodyPr wrap="square" lIns="0" tIns="0" rIns="0" bIns="0" rtlCol="0" anchor="t">
            <a:noAutofit/>
          </a:bodyPr>
          <a:lstStyle/>
          <a:p>
            <a:endParaRPr lang="en-GB" dirty="0"/>
          </a:p>
        </p:txBody>
      </p:sp>
      <p:sp>
        <p:nvSpPr>
          <p:cNvPr id="106" name="Shape 106"/>
          <p:cNvSpPr txBox="1"/>
          <p:nvPr/>
        </p:nvSpPr>
        <p:spPr>
          <a:xfrm>
            <a:off x="965200" y="4775200"/>
            <a:ext cx="2082800" cy="762000"/>
          </a:xfrm>
          <a:prstGeom prst="rect">
            <a:avLst/>
          </a:prstGeom>
          <a:noFill/>
          <a:ln>
            <a:noFill/>
          </a:ln>
        </p:spPr>
        <p:txBody>
          <a:bodyPr wrap="square" lIns="0" tIns="0" rIns="0" bIns="0" rtlCol="0" anchor="t">
            <a:noAutofit/>
          </a:bodyPr>
          <a:lstStyle/>
          <a:p>
            <a:pPr marL="0" indent="0" algn="l">
              <a:lnSpc>
                <a:spcPct val="105000"/>
              </a:lnSpc>
              <a:spcBef>
                <a:spcPts val="0"/>
              </a:spcBef>
              <a:spcAft>
                <a:spcPts val="0"/>
              </a:spcAft>
              <a:buNone/>
            </a:pPr>
            <a:r>
              <a:rPr lang="en-GB" sz="1800" b="0" dirty="0">
                <a:solidFill>
                  <a:srgbClr val="1F2933"/>
                </a:solidFill>
                <a:latin typeface="Anthropic Sans Text"/>
                <a:cs typeface="Anthropic Sans Text"/>
              </a:rPr>
              <a:t>Plain-English cause</a:t>
            </a:r>
            <a:endParaRPr lang="en-GB" sz="1800" dirty="0"/>
          </a:p>
        </p:txBody>
      </p:sp>
      <p:sp>
        <p:nvSpPr>
          <p:cNvPr id="107" name="Shape 107"/>
          <p:cNvSpPr/>
          <p:nvPr/>
        </p:nvSpPr>
        <p:spPr>
          <a:xfrm>
            <a:off x="3505200" y="2540000"/>
            <a:ext cx="2590800" cy="3429000"/>
          </a:xfrm>
          <a:prstGeom prst="rect">
            <a:avLst/>
          </a:prstGeom>
          <a:solidFill>
            <a:srgbClr val="E0F5F9"/>
          </a:solidFill>
          <a:ln>
            <a:noFill/>
          </a:ln>
        </p:spPr>
        <p:txBody>
          <a:bodyPr wrap="square" lIns="0" tIns="0" rIns="0" bIns="0" rtlCol="0" anchor="t">
            <a:noAutofit/>
          </a:bodyPr>
          <a:lstStyle/>
          <a:p>
            <a:endParaRPr lang="en-GB" dirty="0"/>
          </a:p>
        </p:txBody>
      </p:sp>
      <p:sp>
        <p:nvSpPr>
          <p:cNvPr id="108" name="Shape 108"/>
          <p:cNvSpPr/>
          <p:nvPr/>
        </p:nvSpPr>
        <p:spPr>
          <a:xfrm>
            <a:off x="3784600" y="2870200"/>
            <a:ext cx="812800" cy="812800"/>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endParaRPr lang="en-GB" sz="1600" dirty="0"/>
          </a:p>
        </p:txBody>
      </p:sp>
      <p:sp>
        <p:nvSpPr>
          <p:cNvPr id="109" name="Shape 109"/>
          <p:cNvSpPr txBox="1"/>
          <p:nvPr/>
        </p:nvSpPr>
        <p:spPr>
          <a:xfrm>
            <a:off x="5334000" y="2844800"/>
            <a:ext cx="508000" cy="254000"/>
          </a:xfrm>
          <a:prstGeom prst="rect">
            <a:avLst/>
          </a:prstGeom>
          <a:noFill/>
          <a:ln>
            <a:noFill/>
          </a:ln>
        </p:spPr>
        <p:txBody>
          <a:bodyPr wrap="square" lIns="0" tIns="0" rIns="0" bIns="0" rtlCol="0" anchor="t">
            <a:noAutofit/>
          </a:bodyPr>
          <a:lstStyle/>
          <a:p>
            <a:pPr marL="0" indent="0" algn="r">
              <a:spcBef>
                <a:spcPts val="0"/>
              </a:spcBef>
              <a:spcAft>
                <a:spcPts val="0"/>
              </a:spcAft>
              <a:buNone/>
            </a:pPr>
            <a:r>
              <a:rPr lang="en-GB" sz="1200" b="1" dirty="0">
                <a:solidFill>
                  <a:srgbClr val="00A3C4"/>
                </a:solidFill>
                <a:latin typeface="Anthropic Mono"/>
                <a:cs typeface="Anthropic Mono"/>
              </a:rPr>
              <a:t>02</a:t>
            </a:r>
            <a:endParaRPr lang="en-GB" sz="1200" dirty="0"/>
          </a:p>
        </p:txBody>
      </p:sp>
      <p:sp>
        <p:nvSpPr>
          <p:cNvPr id="110" name="Shape 110"/>
          <p:cNvSpPr txBox="1"/>
          <p:nvPr/>
        </p:nvSpPr>
        <p:spPr>
          <a:xfrm>
            <a:off x="3784600" y="4064000"/>
            <a:ext cx="2082800" cy="4318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2400" b="1" dirty="0">
                <a:solidFill>
                  <a:srgbClr val="0B1F3A"/>
                </a:solidFill>
                <a:latin typeface="Anthropic Sans Text"/>
                <a:cs typeface="Anthropic Sans Text"/>
              </a:rPr>
              <a:t>Decide</a:t>
            </a:r>
            <a:endParaRPr lang="en-GB" sz="2400" dirty="0"/>
          </a:p>
        </p:txBody>
      </p:sp>
      <p:sp>
        <p:nvSpPr>
          <p:cNvPr id="111" name="Shape 111"/>
          <p:cNvSpPr/>
          <p:nvPr/>
        </p:nvSpPr>
        <p:spPr>
          <a:xfrm>
            <a:off x="3784600" y="4597400"/>
            <a:ext cx="457200" cy="38100"/>
          </a:xfrm>
          <a:prstGeom prst="rect">
            <a:avLst/>
          </a:prstGeom>
          <a:solidFill>
            <a:srgbClr val="00A3C4"/>
          </a:solidFill>
          <a:ln>
            <a:noFill/>
          </a:ln>
        </p:spPr>
        <p:txBody>
          <a:bodyPr wrap="square" lIns="0" tIns="0" rIns="0" bIns="0" rtlCol="0" anchor="t">
            <a:noAutofit/>
          </a:bodyPr>
          <a:lstStyle/>
          <a:p>
            <a:endParaRPr lang="en-GB" dirty="0"/>
          </a:p>
        </p:txBody>
      </p:sp>
      <p:sp>
        <p:nvSpPr>
          <p:cNvPr id="112" name="Shape 112"/>
          <p:cNvSpPr txBox="1"/>
          <p:nvPr/>
        </p:nvSpPr>
        <p:spPr>
          <a:xfrm>
            <a:off x="3784600" y="4775200"/>
            <a:ext cx="2082800" cy="762000"/>
          </a:xfrm>
          <a:prstGeom prst="rect">
            <a:avLst/>
          </a:prstGeom>
          <a:noFill/>
          <a:ln>
            <a:noFill/>
          </a:ln>
        </p:spPr>
        <p:txBody>
          <a:bodyPr wrap="square" lIns="0" tIns="0" rIns="0" bIns="0" rtlCol="0" anchor="t">
            <a:noAutofit/>
          </a:bodyPr>
          <a:lstStyle/>
          <a:p>
            <a:pPr marL="0" indent="0" algn="l">
              <a:lnSpc>
                <a:spcPct val="105000"/>
              </a:lnSpc>
              <a:spcBef>
                <a:spcPts val="0"/>
              </a:spcBef>
              <a:spcAft>
                <a:spcPts val="0"/>
              </a:spcAft>
              <a:buNone/>
            </a:pPr>
            <a:r>
              <a:rPr lang="en-GB" sz="1800" b="0" dirty="0">
                <a:solidFill>
                  <a:srgbClr val="1F2933"/>
                </a:solidFill>
                <a:latin typeface="Anthropic Sans Text"/>
                <a:cs typeface="Anthropic Sans Text"/>
              </a:rPr>
              <a:t>The right next action</a:t>
            </a:r>
            <a:endParaRPr lang="en-GB" sz="1800" dirty="0"/>
          </a:p>
        </p:txBody>
      </p:sp>
      <p:sp>
        <p:nvSpPr>
          <p:cNvPr id="113" name="Shape 113"/>
          <p:cNvSpPr/>
          <p:nvPr/>
        </p:nvSpPr>
        <p:spPr>
          <a:xfrm>
            <a:off x="6324600" y="2540000"/>
            <a:ext cx="2590800" cy="3429000"/>
          </a:xfrm>
          <a:prstGeom prst="rect">
            <a:avLst/>
          </a:prstGeom>
          <a:solidFill>
            <a:srgbClr val="E0F5F9"/>
          </a:solidFill>
          <a:ln>
            <a:noFill/>
          </a:ln>
        </p:spPr>
        <p:txBody>
          <a:bodyPr wrap="square" lIns="0" tIns="0" rIns="0" bIns="0" rtlCol="0" anchor="t">
            <a:noAutofit/>
          </a:bodyPr>
          <a:lstStyle/>
          <a:p>
            <a:endParaRPr lang="en-GB" dirty="0"/>
          </a:p>
        </p:txBody>
      </p:sp>
      <p:sp>
        <p:nvSpPr>
          <p:cNvPr id="114" name="Shape 114"/>
          <p:cNvSpPr/>
          <p:nvPr/>
        </p:nvSpPr>
        <p:spPr>
          <a:xfrm>
            <a:off x="6604000" y="2870200"/>
            <a:ext cx="812800" cy="812800"/>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endParaRPr lang="en-GB" sz="1600" dirty="0"/>
          </a:p>
        </p:txBody>
      </p:sp>
      <p:sp>
        <p:nvSpPr>
          <p:cNvPr id="115" name="Shape 115"/>
          <p:cNvSpPr txBox="1"/>
          <p:nvPr/>
        </p:nvSpPr>
        <p:spPr>
          <a:xfrm>
            <a:off x="8153400" y="2844800"/>
            <a:ext cx="508000" cy="254000"/>
          </a:xfrm>
          <a:prstGeom prst="rect">
            <a:avLst/>
          </a:prstGeom>
          <a:noFill/>
          <a:ln>
            <a:noFill/>
          </a:ln>
        </p:spPr>
        <p:txBody>
          <a:bodyPr wrap="square" lIns="0" tIns="0" rIns="0" bIns="0" rtlCol="0" anchor="t">
            <a:noAutofit/>
          </a:bodyPr>
          <a:lstStyle/>
          <a:p>
            <a:pPr marL="0" indent="0" algn="r">
              <a:spcBef>
                <a:spcPts val="0"/>
              </a:spcBef>
              <a:spcAft>
                <a:spcPts val="0"/>
              </a:spcAft>
              <a:buNone/>
            </a:pPr>
            <a:r>
              <a:rPr lang="en-GB" sz="1200" b="1" dirty="0">
                <a:solidFill>
                  <a:srgbClr val="00A3C4"/>
                </a:solidFill>
                <a:latin typeface="Anthropic Mono"/>
                <a:cs typeface="Anthropic Mono"/>
              </a:rPr>
              <a:t>03</a:t>
            </a:r>
            <a:endParaRPr lang="en-GB" sz="1200" dirty="0"/>
          </a:p>
        </p:txBody>
      </p:sp>
      <p:sp>
        <p:nvSpPr>
          <p:cNvPr id="116" name="Shape 116"/>
          <p:cNvSpPr txBox="1"/>
          <p:nvPr/>
        </p:nvSpPr>
        <p:spPr>
          <a:xfrm>
            <a:off x="6604000" y="4064000"/>
            <a:ext cx="2082800" cy="4318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2400" b="1" dirty="0">
                <a:solidFill>
                  <a:srgbClr val="0B1F3A"/>
                </a:solidFill>
                <a:latin typeface="Anthropic Sans Text"/>
                <a:cs typeface="Anthropic Sans Text"/>
              </a:rPr>
              <a:t>Prioritise</a:t>
            </a:r>
            <a:endParaRPr lang="en-GB" sz="2400" dirty="0"/>
          </a:p>
        </p:txBody>
      </p:sp>
      <p:sp>
        <p:nvSpPr>
          <p:cNvPr id="117" name="Shape 117"/>
          <p:cNvSpPr/>
          <p:nvPr/>
        </p:nvSpPr>
        <p:spPr>
          <a:xfrm>
            <a:off x="6604000" y="4597400"/>
            <a:ext cx="457200" cy="38100"/>
          </a:xfrm>
          <a:prstGeom prst="rect">
            <a:avLst/>
          </a:prstGeom>
          <a:solidFill>
            <a:srgbClr val="00A3C4"/>
          </a:solidFill>
          <a:ln>
            <a:noFill/>
          </a:ln>
        </p:spPr>
        <p:txBody>
          <a:bodyPr wrap="square" lIns="0" tIns="0" rIns="0" bIns="0" rtlCol="0" anchor="t">
            <a:noAutofit/>
          </a:bodyPr>
          <a:lstStyle/>
          <a:p>
            <a:endParaRPr lang="en-GB" dirty="0"/>
          </a:p>
        </p:txBody>
      </p:sp>
      <p:sp>
        <p:nvSpPr>
          <p:cNvPr id="118" name="Shape 118"/>
          <p:cNvSpPr txBox="1"/>
          <p:nvPr/>
        </p:nvSpPr>
        <p:spPr>
          <a:xfrm>
            <a:off x="6604000" y="4775200"/>
            <a:ext cx="2082800" cy="762000"/>
          </a:xfrm>
          <a:prstGeom prst="rect">
            <a:avLst/>
          </a:prstGeom>
          <a:noFill/>
          <a:ln>
            <a:noFill/>
          </a:ln>
        </p:spPr>
        <p:txBody>
          <a:bodyPr wrap="square" lIns="0" tIns="0" rIns="0" bIns="0" rtlCol="0" anchor="t">
            <a:noAutofit/>
          </a:bodyPr>
          <a:lstStyle/>
          <a:p>
            <a:pPr marL="0" indent="0" algn="l">
              <a:lnSpc>
                <a:spcPct val="105000"/>
              </a:lnSpc>
              <a:spcBef>
                <a:spcPts val="0"/>
              </a:spcBef>
              <a:spcAft>
                <a:spcPts val="0"/>
              </a:spcAft>
              <a:buNone/>
            </a:pPr>
            <a:r>
              <a:rPr lang="en-GB" sz="1800" b="0" dirty="0">
                <a:solidFill>
                  <a:srgbClr val="1F2933"/>
                </a:solidFill>
                <a:latin typeface="Anthropic Sans Text"/>
                <a:cs typeface="Anthropic Sans Text"/>
              </a:rPr>
              <a:t>Dollars × deadline</a:t>
            </a:r>
            <a:endParaRPr lang="en-GB" sz="1800" dirty="0"/>
          </a:p>
        </p:txBody>
      </p:sp>
      <p:sp>
        <p:nvSpPr>
          <p:cNvPr id="119" name="Shape 119"/>
          <p:cNvSpPr/>
          <p:nvPr/>
        </p:nvSpPr>
        <p:spPr>
          <a:xfrm>
            <a:off x="9144000" y="2540000"/>
            <a:ext cx="2590800" cy="3429000"/>
          </a:xfrm>
          <a:prstGeom prst="rect">
            <a:avLst/>
          </a:prstGeom>
          <a:solidFill>
            <a:srgbClr val="E0F5F9"/>
          </a:solidFill>
          <a:ln>
            <a:noFill/>
          </a:ln>
        </p:spPr>
        <p:txBody>
          <a:bodyPr wrap="square" lIns="0" tIns="0" rIns="0" bIns="0" rtlCol="0" anchor="t">
            <a:noAutofit/>
          </a:bodyPr>
          <a:lstStyle/>
          <a:p>
            <a:endParaRPr lang="en-GB" dirty="0"/>
          </a:p>
        </p:txBody>
      </p:sp>
      <p:sp>
        <p:nvSpPr>
          <p:cNvPr id="120" name="Shape 120"/>
          <p:cNvSpPr/>
          <p:nvPr/>
        </p:nvSpPr>
        <p:spPr>
          <a:xfrm>
            <a:off x="9423400" y="2870200"/>
            <a:ext cx="812800" cy="812800"/>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endParaRPr lang="en-GB" sz="1600" dirty="0"/>
          </a:p>
        </p:txBody>
      </p:sp>
      <p:sp>
        <p:nvSpPr>
          <p:cNvPr id="121" name="Shape 121"/>
          <p:cNvSpPr txBox="1"/>
          <p:nvPr/>
        </p:nvSpPr>
        <p:spPr>
          <a:xfrm>
            <a:off x="10972800" y="2844800"/>
            <a:ext cx="508000" cy="254000"/>
          </a:xfrm>
          <a:prstGeom prst="rect">
            <a:avLst/>
          </a:prstGeom>
          <a:noFill/>
          <a:ln>
            <a:noFill/>
          </a:ln>
        </p:spPr>
        <p:txBody>
          <a:bodyPr wrap="square" lIns="0" tIns="0" rIns="0" bIns="0" rtlCol="0" anchor="t">
            <a:noAutofit/>
          </a:bodyPr>
          <a:lstStyle/>
          <a:p>
            <a:pPr marL="0" indent="0" algn="r">
              <a:spcBef>
                <a:spcPts val="0"/>
              </a:spcBef>
              <a:spcAft>
                <a:spcPts val="0"/>
              </a:spcAft>
              <a:buNone/>
            </a:pPr>
            <a:r>
              <a:rPr lang="en-GB" sz="1200" b="1" dirty="0">
                <a:solidFill>
                  <a:srgbClr val="00A3C4"/>
                </a:solidFill>
                <a:latin typeface="Anthropic Mono"/>
                <a:cs typeface="Anthropic Mono"/>
              </a:rPr>
              <a:t>04</a:t>
            </a:r>
            <a:endParaRPr lang="en-GB" sz="1200" dirty="0"/>
          </a:p>
        </p:txBody>
      </p:sp>
      <p:sp>
        <p:nvSpPr>
          <p:cNvPr id="122" name="Shape 122"/>
          <p:cNvSpPr txBox="1"/>
          <p:nvPr/>
        </p:nvSpPr>
        <p:spPr>
          <a:xfrm>
            <a:off x="9423400" y="4064000"/>
            <a:ext cx="2082800" cy="4318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2400" b="1" dirty="0">
                <a:solidFill>
                  <a:srgbClr val="0B1F3A"/>
                </a:solidFill>
                <a:latin typeface="Anthropic Sans Text"/>
                <a:cs typeface="Anthropic Sans Text"/>
              </a:rPr>
              <a:t>Act</a:t>
            </a:r>
            <a:endParaRPr lang="en-GB" sz="2400" dirty="0"/>
          </a:p>
        </p:txBody>
      </p:sp>
      <p:sp>
        <p:nvSpPr>
          <p:cNvPr id="123" name="Shape 123"/>
          <p:cNvSpPr/>
          <p:nvPr/>
        </p:nvSpPr>
        <p:spPr>
          <a:xfrm>
            <a:off x="9423400" y="4597400"/>
            <a:ext cx="457200" cy="38100"/>
          </a:xfrm>
          <a:prstGeom prst="rect">
            <a:avLst/>
          </a:prstGeom>
          <a:solidFill>
            <a:srgbClr val="00A3C4"/>
          </a:solidFill>
          <a:ln>
            <a:noFill/>
          </a:ln>
        </p:spPr>
        <p:txBody>
          <a:bodyPr wrap="square" lIns="0" tIns="0" rIns="0" bIns="0" rtlCol="0" anchor="t">
            <a:noAutofit/>
          </a:bodyPr>
          <a:lstStyle/>
          <a:p>
            <a:endParaRPr lang="en-GB" dirty="0"/>
          </a:p>
        </p:txBody>
      </p:sp>
      <p:sp>
        <p:nvSpPr>
          <p:cNvPr id="124" name="Shape 124"/>
          <p:cNvSpPr txBox="1"/>
          <p:nvPr/>
        </p:nvSpPr>
        <p:spPr>
          <a:xfrm>
            <a:off x="9423400" y="4775200"/>
            <a:ext cx="2082800" cy="762000"/>
          </a:xfrm>
          <a:prstGeom prst="rect">
            <a:avLst/>
          </a:prstGeom>
          <a:noFill/>
          <a:ln>
            <a:noFill/>
          </a:ln>
        </p:spPr>
        <p:txBody>
          <a:bodyPr wrap="square" lIns="0" tIns="0" rIns="0" bIns="0" rtlCol="0" anchor="t">
            <a:noAutofit/>
          </a:bodyPr>
          <a:lstStyle/>
          <a:p>
            <a:pPr marL="0" indent="0" algn="l">
              <a:lnSpc>
                <a:spcPct val="105000"/>
              </a:lnSpc>
              <a:spcBef>
                <a:spcPts val="0"/>
              </a:spcBef>
              <a:spcAft>
                <a:spcPts val="0"/>
              </a:spcAft>
              <a:buNone/>
            </a:pPr>
            <a:r>
              <a:rPr lang="en-GB" sz="1800" b="0" dirty="0">
                <a:solidFill>
                  <a:srgbClr val="1F2933"/>
                </a:solidFill>
                <a:latin typeface="Anthropic Sans Text"/>
                <a:cs typeface="Anthropic Sans Text"/>
              </a:rPr>
              <a:t>Letters, tasks, alerts</a:t>
            </a:r>
            <a:endParaRPr lang="en-GB" sz="1800" dirty="0"/>
          </a:p>
        </p:txBody>
      </p:sp>
      <p:pic>
        <p:nvPicPr>
          <p:cNvPr id="125" name="Graphic 125"/>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3000" y="3048000"/>
            <a:ext cx="457200" cy="457200"/>
          </a:xfrm>
          <a:prstGeom prst="rect">
            <a:avLst/>
          </a:prstGeom>
        </p:spPr>
      </p:pic>
      <p:pic>
        <p:nvPicPr>
          <p:cNvPr id="126" name="Graphic 126"/>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13200" y="3048000"/>
            <a:ext cx="457200" cy="457200"/>
          </a:xfrm>
          <a:prstGeom prst="rect">
            <a:avLst/>
          </a:prstGeom>
        </p:spPr>
      </p:pic>
      <p:pic>
        <p:nvPicPr>
          <p:cNvPr id="127" name="Graphic 127"/>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83400" y="3048000"/>
            <a:ext cx="457200" cy="457200"/>
          </a:xfrm>
          <a:prstGeom prst="rect">
            <a:avLst/>
          </a:prstGeom>
        </p:spPr>
      </p:pic>
      <p:pic>
        <p:nvPicPr>
          <p:cNvPr id="128" name="Graphic 128"/>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753600" y="3048000"/>
            <a:ext cx="457200" cy="457200"/>
          </a:xfrm>
          <a:prstGeom prst="rect">
            <a:avLst/>
          </a:prstGeom>
        </p:spPr>
      </p:pic>
    </p:spTree>
    <p:extLst>
      <p:ext uri="{BB962C8B-B14F-4D97-AF65-F5344CB8AC3E}">
        <p14:creationId xmlns:p14="http://schemas.microsoft.com/office/powerpoint/2010/main" val="30662112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BE55C-AFBB-345B-1ECD-A0C30B4E511C}"/>
              </a:ext>
            </a:extLst>
          </p:cNvPr>
          <p:cNvSpPr>
            <a:spLocks noGrp="1"/>
          </p:cNvSpPr>
          <p:nvPr>
            <p:ph type="title"/>
          </p:nvPr>
        </p:nvSpPr>
        <p:spPr/>
        <p:txBody>
          <a:bodyPr/>
          <a:lstStyle/>
          <a:p>
            <a:r>
              <a:rPr lang="en-GB" dirty="0"/>
              <a:t>Four layers decide, and people always have the final say</a:t>
            </a:r>
          </a:p>
        </p:txBody>
      </p:sp>
      <p:sp>
        <p:nvSpPr>
          <p:cNvPr id="100" name="Shape 100"/>
          <p:cNvSpPr/>
          <p:nvPr/>
        </p:nvSpPr>
        <p:spPr>
          <a:xfrm>
            <a:off x="685800" y="1549400"/>
            <a:ext cx="8255000" cy="939800"/>
          </a:xfrm>
          <a:prstGeom prst="rect">
            <a:avLst/>
          </a:prstGeom>
          <a:solidFill>
            <a:srgbClr val="0B1F3A"/>
          </a:solidFill>
          <a:ln>
            <a:noFill/>
          </a:ln>
        </p:spPr>
        <p:txBody>
          <a:bodyPr wrap="square" lIns="0" tIns="0" rIns="0" bIns="0" rtlCol="0" anchor="t">
            <a:noAutofit/>
          </a:bodyPr>
          <a:lstStyle/>
          <a:p>
            <a:endParaRPr lang="en-GB" dirty="0"/>
          </a:p>
        </p:txBody>
      </p:sp>
      <p:sp>
        <p:nvSpPr>
          <p:cNvPr id="101" name="Shape 101"/>
          <p:cNvSpPr txBox="1"/>
          <p:nvPr/>
        </p:nvSpPr>
        <p:spPr>
          <a:xfrm>
            <a:off x="939800" y="1549400"/>
            <a:ext cx="508000" cy="9398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400" b="1" dirty="0">
                <a:solidFill>
                  <a:srgbClr val="FFFFFF"/>
                </a:solidFill>
                <a:latin typeface="Anthropic Mono"/>
                <a:cs typeface="Anthropic Mono"/>
              </a:rPr>
              <a:t>01</a:t>
            </a:r>
            <a:endParaRPr lang="en-GB" sz="1400" dirty="0"/>
          </a:p>
        </p:txBody>
      </p:sp>
      <p:sp>
        <p:nvSpPr>
          <p:cNvPr id="102" name="Shape 102"/>
          <p:cNvSpPr txBox="1"/>
          <p:nvPr/>
        </p:nvSpPr>
        <p:spPr>
          <a:xfrm>
            <a:off x="1498600" y="1549400"/>
            <a:ext cx="2413000" cy="9398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2000" b="1" dirty="0">
                <a:solidFill>
                  <a:srgbClr val="FFFFFF"/>
                </a:solidFill>
                <a:latin typeface="Anthropic Sans Text"/>
                <a:cs typeface="Anthropic Sans Text"/>
              </a:rPr>
              <a:t>Rules</a:t>
            </a:r>
            <a:endParaRPr lang="en-GB" sz="2000" dirty="0"/>
          </a:p>
        </p:txBody>
      </p:sp>
      <p:sp>
        <p:nvSpPr>
          <p:cNvPr id="103" name="Shape 103"/>
          <p:cNvSpPr txBox="1"/>
          <p:nvPr/>
        </p:nvSpPr>
        <p:spPr>
          <a:xfrm>
            <a:off x="3987800" y="1549400"/>
            <a:ext cx="4699000" cy="9398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600" b="0" dirty="0">
                <a:solidFill>
                  <a:srgbClr val="FFFFFF"/>
                </a:solidFill>
                <a:latin typeface="Anthropic Sans Text"/>
                <a:cs typeface="Anthropic Sans Text"/>
              </a:rPr>
              <a:t>Decide what is knowable: codes, edits, deadlines</a:t>
            </a:r>
            <a:endParaRPr lang="en-GB" sz="1600" dirty="0"/>
          </a:p>
        </p:txBody>
      </p:sp>
      <p:sp>
        <p:nvSpPr>
          <p:cNvPr id="104" name="Shape 104"/>
          <p:cNvSpPr/>
          <p:nvPr/>
        </p:nvSpPr>
        <p:spPr>
          <a:xfrm rot="10800000">
            <a:off x="4686300" y="2514600"/>
            <a:ext cx="254000" cy="127000"/>
          </a:xfrm>
          <a:prstGeom prst="triangle">
            <a:avLst/>
          </a:prstGeom>
          <a:solidFill>
            <a:srgbClr val="9AA5B1"/>
          </a:solidFill>
          <a:ln>
            <a:noFill/>
          </a:ln>
        </p:spPr>
        <p:txBody>
          <a:bodyPr wrap="square" lIns="0" tIns="0" rIns="0" bIns="0" rtlCol="0" anchor="t">
            <a:noAutofit/>
          </a:bodyPr>
          <a:lstStyle/>
          <a:p>
            <a:endParaRPr lang="en-GB" dirty="0"/>
          </a:p>
        </p:txBody>
      </p:sp>
      <p:sp>
        <p:nvSpPr>
          <p:cNvPr id="105" name="Shape 105"/>
          <p:cNvSpPr/>
          <p:nvPr/>
        </p:nvSpPr>
        <p:spPr>
          <a:xfrm>
            <a:off x="685800" y="2667000"/>
            <a:ext cx="8255000" cy="939800"/>
          </a:xfrm>
          <a:prstGeom prst="rect">
            <a:avLst/>
          </a:prstGeom>
          <a:solidFill>
            <a:srgbClr val="1F4E8C"/>
          </a:solidFill>
          <a:ln>
            <a:noFill/>
          </a:ln>
        </p:spPr>
        <p:txBody>
          <a:bodyPr wrap="square" lIns="0" tIns="0" rIns="0" bIns="0" rtlCol="0" anchor="t">
            <a:noAutofit/>
          </a:bodyPr>
          <a:lstStyle/>
          <a:p>
            <a:endParaRPr lang="en-GB" dirty="0"/>
          </a:p>
        </p:txBody>
      </p:sp>
      <p:sp>
        <p:nvSpPr>
          <p:cNvPr id="106" name="Shape 106"/>
          <p:cNvSpPr txBox="1"/>
          <p:nvPr/>
        </p:nvSpPr>
        <p:spPr>
          <a:xfrm>
            <a:off x="939800" y="2667000"/>
            <a:ext cx="508000" cy="9398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400" b="1" dirty="0">
                <a:solidFill>
                  <a:srgbClr val="FFFFFF"/>
                </a:solidFill>
                <a:latin typeface="Anthropic Mono"/>
                <a:cs typeface="Anthropic Mono"/>
              </a:rPr>
              <a:t>02</a:t>
            </a:r>
            <a:endParaRPr lang="en-GB" sz="1400" dirty="0"/>
          </a:p>
        </p:txBody>
      </p:sp>
      <p:sp>
        <p:nvSpPr>
          <p:cNvPr id="107" name="Shape 107"/>
          <p:cNvSpPr txBox="1"/>
          <p:nvPr/>
        </p:nvSpPr>
        <p:spPr>
          <a:xfrm>
            <a:off x="1498600" y="2667000"/>
            <a:ext cx="2413000" cy="9398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2000" b="1" dirty="0">
                <a:solidFill>
                  <a:srgbClr val="FFFFFF"/>
                </a:solidFill>
                <a:latin typeface="Anthropic Sans Text"/>
                <a:cs typeface="Anthropic Sans Text"/>
              </a:rPr>
              <a:t>Prioritisation</a:t>
            </a:r>
            <a:endParaRPr lang="en-GB" sz="2000" dirty="0"/>
          </a:p>
        </p:txBody>
      </p:sp>
      <p:sp>
        <p:nvSpPr>
          <p:cNvPr id="108" name="Shape 108"/>
          <p:cNvSpPr txBox="1"/>
          <p:nvPr/>
        </p:nvSpPr>
        <p:spPr>
          <a:xfrm>
            <a:off x="3987800" y="2667000"/>
            <a:ext cx="4699000" cy="9398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600" b="0" dirty="0">
                <a:solidFill>
                  <a:srgbClr val="FFFFFF"/>
                </a:solidFill>
                <a:latin typeface="Anthropic Sans Text"/>
                <a:cs typeface="Anthropic Sans Text"/>
              </a:rPr>
              <a:t>Ranks claims by recoverable value</a:t>
            </a:r>
            <a:endParaRPr lang="en-GB" sz="1600" dirty="0"/>
          </a:p>
        </p:txBody>
      </p:sp>
      <p:sp>
        <p:nvSpPr>
          <p:cNvPr id="109" name="Shape 109"/>
          <p:cNvSpPr/>
          <p:nvPr/>
        </p:nvSpPr>
        <p:spPr>
          <a:xfrm rot="10800000">
            <a:off x="4686300" y="3632200"/>
            <a:ext cx="254000" cy="127000"/>
          </a:xfrm>
          <a:prstGeom prst="triangle">
            <a:avLst/>
          </a:prstGeom>
          <a:solidFill>
            <a:srgbClr val="9AA5B1"/>
          </a:solidFill>
          <a:ln>
            <a:noFill/>
          </a:ln>
        </p:spPr>
        <p:txBody>
          <a:bodyPr wrap="square" lIns="0" tIns="0" rIns="0" bIns="0" rtlCol="0" anchor="t">
            <a:noAutofit/>
          </a:bodyPr>
          <a:lstStyle/>
          <a:p>
            <a:endParaRPr lang="en-GB" dirty="0"/>
          </a:p>
        </p:txBody>
      </p:sp>
      <p:sp>
        <p:nvSpPr>
          <p:cNvPr id="110" name="Shape 110"/>
          <p:cNvSpPr/>
          <p:nvPr/>
        </p:nvSpPr>
        <p:spPr>
          <a:xfrm>
            <a:off x="685800" y="3784600"/>
            <a:ext cx="8255000" cy="939800"/>
          </a:xfrm>
          <a:prstGeom prst="rect">
            <a:avLst/>
          </a:prstGeom>
          <a:solidFill>
            <a:srgbClr val="00A3C4"/>
          </a:solidFill>
          <a:ln>
            <a:noFill/>
          </a:ln>
        </p:spPr>
        <p:txBody>
          <a:bodyPr wrap="square" lIns="0" tIns="0" rIns="0" bIns="0" rtlCol="0" anchor="t">
            <a:noAutofit/>
          </a:bodyPr>
          <a:lstStyle/>
          <a:p>
            <a:endParaRPr lang="en-GB" dirty="0"/>
          </a:p>
        </p:txBody>
      </p:sp>
      <p:sp>
        <p:nvSpPr>
          <p:cNvPr id="111" name="Shape 111"/>
          <p:cNvSpPr txBox="1"/>
          <p:nvPr/>
        </p:nvSpPr>
        <p:spPr>
          <a:xfrm>
            <a:off x="939800" y="3784600"/>
            <a:ext cx="508000" cy="9398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400" b="1" dirty="0">
                <a:solidFill>
                  <a:srgbClr val="FFFFFF"/>
                </a:solidFill>
                <a:latin typeface="Anthropic Mono"/>
                <a:cs typeface="Anthropic Mono"/>
              </a:rPr>
              <a:t>03</a:t>
            </a:r>
            <a:endParaRPr lang="en-GB" sz="1400" dirty="0"/>
          </a:p>
        </p:txBody>
      </p:sp>
      <p:sp>
        <p:nvSpPr>
          <p:cNvPr id="112" name="Shape 112"/>
          <p:cNvSpPr txBox="1"/>
          <p:nvPr/>
        </p:nvSpPr>
        <p:spPr>
          <a:xfrm>
            <a:off x="1498600" y="3784600"/>
            <a:ext cx="2413000" cy="9398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2000" b="1" dirty="0">
                <a:solidFill>
                  <a:srgbClr val="FFFFFF"/>
                </a:solidFill>
                <a:latin typeface="Anthropic Sans Text"/>
                <a:cs typeface="Anthropic Sans Text"/>
              </a:rPr>
              <a:t>AI agent</a:t>
            </a:r>
            <a:endParaRPr lang="en-GB" sz="2000" dirty="0"/>
          </a:p>
        </p:txBody>
      </p:sp>
      <p:sp>
        <p:nvSpPr>
          <p:cNvPr id="113" name="Shape 113"/>
          <p:cNvSpPr txBox="1"/>
          <p:nvPr/>
        </p:nvSpPr>
        <p:spPr>
          <a:xfrm>
            <a:off x="3987800" y="3784600"/>
            <a:ext cx="4699000" cy="9398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600" b="0" dirty="0">
                <a:solidFill>
                  <a:srgbClr val="FFFFFF"/>
                </a:solidFill>
                <a:latin typeface="Anthropic Sans Text"/>
                <a:cs typeface="Anthropic Sans Text"/>
              </a:rPr>
              <a:t>Explains, cites policy and drafts appeals</a:t>
            </a:r>
            <a:endParaRPr lang="en-GB" sz="1600" dirty="0"/>
          </a:p>
        </p:txBody>
      </p:sp>
      <p:sp>
        <p:nvSpPr>
          <p:cNvPr id="114" name="Shape 114"/>
          <p:cNvSpPr/>
          <p:nvPr/>
        </p:nvSpPr>
        <p:spPr>
          <a:xfrm rot="10800000">
            <a:off x="4686300" y="4749800"/>
            <a:ext cx="254000" cy="127000"/>
          </a:xfrm>
          <a:prstGeom prst="triangle">
            <a:avLst/>
          </a:prstGeom>
          <a:solidFill>
            <a:srgbClr val="9AA5B1"/>
          </a:solidFill>
          <a:ln>
            <a:noFill/>
          </a:ln>
        </p:spPr>
        <p:txBody>
          <a:bodyPr wrap="square" lIns="0" tIns="0" rIns="0" bIns="0" rtlCol="0" anchor="t">
            <a:noAutofit/>
          </a:bodyPr>
          <a:lstStyle/>
          <a:p>
            <a:endParaRPr lang="en-GB" dirty="0"/>
          </a:p>
        </p:txBody>
      </p:sp>
      <p:sp>
        <p:nvSpPr>
          <p:cNvPr id="115" name="Shape 115"/>
          <p:cNvSpPr/>
          <p:nvPr/>
        </p:nvSpPr>
        <p:spPr>
          <a:xfrm>
            <a:off x="685800" y="4902200"/>
            <a:ext cx="8255000" cy="939800"/>
          </a:xfrm>
          <a:prstGeom prst="rect">
            <a:avLst/>
          </a:prstGeom>
          <a:solidFill>
            <a:srgbClr val="2E9E6A"/>
          </a:solidFill>
          <a:ln>
            <a:noFill/>
          </a:ln>
        </p:spPr>
        <p:txBody>
          <a:bodyPr wrap="square" lIns="0" tIns="0" rIns="0" bIns="0" rtlCol="0" anchor="t">
            <a:noAutofit/>
          </a:bodyPr>
          <a:lstStyle/>
          <a:p>
            <a:endParaRPr lang="en-GB" dirty="0"/>
          </a:p>
        </p:txBody>
      </p:sp>
      <p:sp>
        <p:nvSpPr>
          <p:cNvPr id="116" name="Shape 116"/>
          <p:cNvSpPr txBox="1"/>
          <p:nvPr/>
        </p:nvSpPr>
        <p:spPr>
          <a:xfrm>
            <a:off x="939800" y="4902200"/>
            <a:ext cx="508000" cy="9398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400" b="1" dirty="0">
                <a:solidFill>
                  <a:srgbClr val="FFFFFF"/>
                </a:solidFill>
                <a:latin typeface="Anthropic Mono"/>
                <a:cs typeface="Anthropic Mono"/>
              </a:rPr>
              <a:t>04</a:t>
            </a:r>
            <a:endParaRPr lang="en-GB" sz="1400" dirty="0"/>
          </a:p>
        </p:txBody>
      </p:sp>
      <p:sp>
        <p:nvSpPr>
          <p:cNvPr id="117" name="Shape 117"/>
          <p:cNvSpPr txBox="1"/>
          <p:nvPr/>
        </p:nvSpPr>
        <p:spPr>
          <a:xfrm>
            <a:off x="1498600" y="4902200"/>
            <a:ext cx="2413000" cy="9398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2000" b="1" dirty="0">
                <a:solidFill>
                  <a:srgbClr val="FFFFFF"/>
                </a:solidFill>
                <a:latin typeface="Anthropic Sans Text"/>
                <a:cs typeface="Anthropic Sans Text"/>
              </a:rPr>
              <a:t>People</a:t>
            </a:r>
            <a:endParaRPr lang="en-GB" sz="2000" dirty="0"/>
          </a:p>
        </p:txBody>
      </p:sp>
      <p:sp>
        <p:nvSpPr>
          <p:cNvPr id="118" name="Shape 118"/>
          <p:cNvSpPr txBox="1"/>
          <p:nvPr/>
        </p:nvSpPr>
        <p:spPr>
          <a:xfrm>
            <a:off x="3987800" y="4902200"/>
            <a:ext cx="4699000" cy="9398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600" b="0" dirty="0">
                <a:solidFill>
                  <a:srgbClr val="FFFFFF"/>
                </a:solidFill>
                <a:latin typeface="Anthropic Sans Text"/>
                <a:cs typeface="Anthropic Sans Text"/>
              </a:rPr>
              <a:t>Approve; every decision teaches the system</a:t>
            </a:r>
            <a:endParaRPr lang="en-GB" sz="1600" dirty="0"/>
          </a:p>
        </p:txBody>
      </p:sp>
      <p:cxnSp>
        <p:nvCxnSpPr>
          <p:cNvPr id="119" name="Line 119"/>
          <p:cNvCxnSpPr/>
          <p:nvPr/>
        </p:nvCxnSpPr>
        <p:spPr>
          <a:xfrm>
            <a:off x="9271000" y="3835400"/>
            <a:ext cx="0" cy="2006600"/>
          </a:xfrm>
          <a:prstGeom prst="line">
            <a:avLst/>
          </a:prstGeom>
          <a:ln w="25400">
            <a:solidFill>
              <a:srgbClr val="2E9E6A"/>
            </a:solidFill>
          </a:ln>
        </p:spPr>
      </p:cxnSp>
      <p:cxnSp>
        <p:nvCxnSpPr>
          <p:cNvPr id="120" name="Line 120"/>
          <p:cNvCxnSpPr/>
          <p:nvPr/>
        </p:nvCxnSpPr>
        <p:spPr>
          <a:xfrm>
            <a:off x="9118600" y="3835400"/>
            <a:ext cx="152400" cy="0"/>
          </a:xfrm>
          <a:prstGeom prst="line">
            <a:avLst/>
          </a:prstGeom>
          <a:ln w="25400">
            <a:solidFill>
              <a:srgbClr val="2E9E6A"/>
            </a:solidFill>
          </a:ln>
        </p:spPr>
      </p:cxnSp>
      <p:cxnSp>
        <p:nvCxnSpPr>
          <p:cNvPr id="121" name="Line 121"/>
          <p:cNvCxnSpPr/>
          <p:nvPr/>
        </p:nvCxnSpPr>
        <p:spPr>
          <a:xfrm>
            <a:off x="9118600" y="5842000"/>
            <a:ext cx="152400" cy="0"/>
          </a:xfrm>
          <a:prstGeom prst="line">
            <a:avLst/>
          </a:prstGeom>
          <a:ln w="25400">
            <a:solidFill>
              <a:srgbClr val="2E9E6A"/>
            </a:solidFill>
          </a:ln>
        </p:spPr>
      </p:cxnSp>
      <p:sp>
        <p:nvSpPr>
          <p:cNvPr id="122" name="Shape 122"/>
          <p:cNvSpPr txBox="1"/>
          <p:nvPr/>
        </p:nvSpPr>
        <p:spPr>
          <a:xfrm>
            <a:off x="9499600" y="4191000"/>
            <a:ext cx="2235200" cy="1270000"/>
          </a:xfrm>
          <a:prstGeom prst="rect">
            <a:avLst/>
          </a:prstGeom>
          <a:noFill/>
          <a:ln>
            <a:noFill/>
          </a:ln>
        </p:spPr>
        <p:txBody>
          <a:bodyPr wrap="square" lIns="0" tIns="0" rIns="0" bIns="0" rtlCol="0" anchor="ctr">
            <a:noAutofit/>
          </a:bodyPr>
          <a:lstStyle/>
          <a:p>
            <a:pPr marL="0" indent="0" algn="l">
              <a:lnSpc>
                <a:spcPct val="95000"/>
              </a:lnSpc>
              <a:spcBef>
                <a:spcPts val="0"/>
              </a:spcBef>
              <a:spcAft>
                <a:spcPts val="0"/>
              </a:spcAft>
              <a:buNone/>
            </a:pPr>
            <a:r>
              <a:rPr lang="en-GB" sz="2400" b="1" dirty="0">
                <a:solidFill>
                  <a:srgbClr val="2E9E6A"/>
                </a:solidFill>
                <a:latin typeface="Anthropic Serif Web"/>
                <a:cs typeface="Anthropic Serif Web"/>
              </a:rPr>
              <a:t>AI never acts alone.</a:t>
            </a:r>
            <a:endParaRPr lang="en-GB" sz="2400" dirty="0"/>
          </a:p>
        </p:txBody>
      </p:sp>
      <p:sp>
        <p:nvSpPr>
          <p:cNvPr id="123" name="Shape 123"/>
          <p:cNvSpPr txBox="1"/>
          <p:nvPr/>
        </p:nvSpPr>
        <p:spPr>
          <a:xfrm>
            <a:off x="9499600" y="1905000"/>
            <a:ext cx="2235200" cy="15240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600" b="1" dirty="0">
                <a:solidFill>
                  <a:srgbClr val="0B1F3A"/>
                </a:solidFill>
                <a:latin typeface="Anthropic Sans Text"/>
                <a:cs typeface="Anthropic Sans Text"/>
              </a:rPr>
              <a:t>Facts first</a:t>
            </a:r>
            <a:endParaRPr lang="en-GB" sz="1600" dirty="0"/>
          </a:p>
          <a:p>
            <a:pPr marL="0" indent="0" algn="l">
              <a:spcBef>
                <a:spcPts val="400"/>
              </a:spcBef>
              <a:spcAft>
                <a:spcPts val="0"/>
              </a:spcAft>
              <a:buNone/>
            </a:pPr>
            <a:r>
              <a:rPr lang="en-GB" sz="1400" b="0" dirty="0">
                <a:solidFill>
                  <a:srgbClr val="52606D"/>
                </a:solidFill>
                <a:latin typeface="Anthropic Sans Text"/>
                <a:cs typeface="Anthropic Sans Text"/>
              </a:rPr>
              <a:t>Codes and deadlines come from rules, not guesses</a:t>
            </a:r>
            <a:endParaRPr lang="en-GB" sz="1400" dirty="0"/>
          </a:p>
        </p:txBody>
      </p:sp>
      <p:cxnSp>
        <p:nvCxnSpPr>
          <p:cNvPr id="124" name="Line 124"/>
          <p:cNvCxnSpPr/>
          <p:nvPr/>
        </p:nvCxnSpPr>
        <p:spPr>
          <a:xfrm>
            <a:off x="9271000" y="1600200"/>
            <a:ext cx="0" cy="2006600"/>
          </a:xfrm>
          <a:prstGeom prst="line">
            <a:avLst/>
          </a:prstGeom>
          <a:ln w="25400">
            <a:solidFill>
              <a:srgbClr val="0B1F3A"/>
            </a:solidFill>
          </a:ln>
        </p:spPr>
      </p:cxnSp>
      <p:cxnSp>
        <p:nvCxnSpPr>
          <p:cNvPr id="125" name="Line 125"/>
          <p:cNvCxnSpPr/>
          <p:nvPr/>
        </p:nvCxnSpPr>
        <p:spPr>
          <a:xfrm>
            <a:off x="9118600" y="1600200"/>
            <a:ext cx="152400" cy="0"/>
          </a:xfrm>
          <a:prstGeom prst="line">
            <a:avLst/>
          </a:prstGeom>
          <a:ln w="25400">
            <a:solidFill>
              <a:srgbClr val="0B1F3A"/>
            </a:solidFill>
          </a:ln>
        </p:spPr>
      </p:cxnSp>
      <p:cxnSp>
        <p:nvCxnSpPr>
          <p:cNvPr id="126" name="Line 126"/>
          <p:cNvCxnSpPr/>
          <p:nvPr/>
        </p:nvCxnSpPr>
        <p:spPr>
          <a:xfrm>
            <a:off x="9118600" y="3606800"/>
            <a:ext cx="152400" cy="0"/>
          </a:xfrm>
          <a:prstGeom prst="line">
            <a:avLst/>
          </a:prstGeom>
          <a:ln w="25400">
            <a:solidFill>
              <a:srgbClr val="0B1F3A"/>
            </a:solidFill>
          </a:ln>
        </p:spPr>
      </p:cxnSp>
    </p:spTree>
    <p:extLst>
      <p:ext uri="{BB962C8B-B14F-4D97-AF65-F5344CB8AC3E}">
        <p14:creationId xmlns:p14="http://schemas.microsoft.com/office/powerpoint/2010/main" val="31019544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46C12-F686-7CA9-4E4A-A266FC1EFE31}"/>
              </a:ext>
            </a:extLst>
          </p:cNvPr>
          <p:cNvSpPr>
            <a:spLocks noGrp="1"/>
          </p:cNvSpPr>
          <p:nvPr>
            <p:ph type="title"/>
          </p:nvPr>
        </p:nvSpPr>
        <p:spPr/>
        <p:txBody>
          <a:bodyPr/>
          <a:lstStyle/>
          <a:p>
            <a:r>
              <a:rPr lang="en-GB" dirty="0"/>
              <a:t>Eight steps take a denial from remittance to resolution</a:t>
            </a:r>
          </a:p>
        </p:txBody>
      </p:sp>
      <p:sp>
        <p:nvSpPr>
          <p:cNvPr id="100" name="Shape 100"/>
          <p:cNvSpPr/>
          <p:nvPr/>
        </p:nvSpPr>
        <p:spPr>
          <a:xfrm>
            <a:off x="685800" y="1625600"/>
            <a:ext cx="2819400" cy="685800"/>
          </a:xfrm>
          <a:prstGeom prst="homePlate">
            <a:avLst>
              <a:gd name="adj" fmla="val 30000"/>
            </a:avLst>
          </a:prstGeom>
          <a:solidFill>
            <a:srgbClr val="E4572E"/>
          </a:solidFill>
          <a:ln>
            <a:noFill/>
          </a:ln>
        </p:spPr>
        <p:txBody>
          <a:bodyPr wrap="square" lIns="203200" tIns="0" rIns="254000" bIns="0" rtlCol="0" anchor="ctr">
            <a:noAutofit/>
          </a:bodyPr>
          <a:lstStyle/>
          <a:p>
            <a:pPr marL="0" indent="0" algn="l">
              <a:spcBef>
                <a:spcPts val="0"/>
              </a:spcBef>
              <a:spcAft>
                <a:spcPts val="0"/>
              </a:spcAft>
              <a:buNone/>
            </a:pPr>
            <a:r>
              <a:rPr lang="en-GB" sz="2400" b="1" dirty="0">
                <a:solidFill>
                  <a:srgbClr val="FFFFFF"/>
                </a:solidFill>
                <a:latin typeface="Anthropic Serif Web"/>
                <a:cs typeface="Anthropic Serif Web"/>
              </a:rPr>
              <a:t>1</a:t>
            </a:r>
            <a:endParaRPr lang="en-GB" sz="2400" dirty="0"/>
          </a:p>
        </p:txBody>
      </p:sp>
      <p:sp>
        <p:nvSpPr>
          <p:cNvPr id="101" name="Shape 101"/>
          <p:cNvSpPr txBox="1"/>
          <p:nvPr/>
        </p:nvSpPr>
        <p:spPr>
          <a:xfrm>
            <a:off x="889000" y="2438400"/>
            <a:ext cx="2184400" cy="1066800"/>
          </a:xfrm>
          <a:prstGeom prst="rect">
            <a:avLst/>
          </a:prstGeom>
          <a:noFill/>
          <a:ln>
            <a:noFill/>
          </a:ln>
        </p:spPr>
        <p:txBody>
          <a:bodyPr wrap="square" lIns="0" tIns="0" rIns="0" bIns="0" rtlCol="0" anchor="t">
            <a:noAutofit/>
          </a:bodyPr>
          <a:lstStyle/>
          <a:p>
            <a:pPr marL="0" indent="0" algn="l">
              <a:lnSpc>
                <a:spcPct val="105000"/>
              </a:lnSpc>
              <a:spcBef>
                <a:spcPts val="0"/>
              </a:spcBef>
              <a:spcAft>
                <a:spcPts val="0"/>
              </a:spcAft>
              <a:buNone/>
            </a:pPr>
            <a:r>
              <a:rPr lang="en-GB" sz="1600" b="0" dirty="0">
                <a:solidFill>
                  <a:srgbClr val="1F2933"/>
                </a:solidFill>
                <a:latin typeface="Anthropic Sans Text"/>
                <a:cs typeface="Anthropic Sans Text"/>
              </a:rPr>
              <a:t>Remittance (</a:t>
            </a:r>
            <a:r>
              <a:rPr lang="en-GB" sz="1600" b="0" dirty="0">
                <a:solidFill>
                  <a:srgbClr val="1F2933"/>
                </a:solidFill>
                <a:latin typeface="Anthropic Mono"/>
                <a:cs typeface="Anthropic Mono"/>
              </a:rPr>
              <a:t>835</a:t>
            </a:r>
            <a:r>
              <a:rPr lang="en-GB" sz="1600" b="0" dirty="0">
                <a:solidFill>
                  <a:srgbClr val="1F2933"/>
                </a:solidFill>
                <a:latin typeface="Anthropic Sans Text"/>
                <a:cs typeface="Anthropic Sans Text"/>
              </a:rPr>
              <a:t>) received</a:t>
            </a:r>
            <a:endParaRPr lang="en-GB" sz="1600" dirty="0"/>
          </a:p>
        </p:txBody>
      </p:sp>
      <p:sp>
        <p:nvSpPr>
          <p:cNvPr id="102" name="Shape 102"/>
          <p:cNvSpPr/>
          <p:nvPr/>
        </p:nvSpPr>
        <p:spPr>
          <a:xfrm>
            <a:off x="3429000" y="1625600"/>
            <a:ext cx="2819400" cy="685800"/>
          </a:xfrm>
          <a:prstGeom prst="chevron">
            <a:avLst>
              <a:gd name="adj" fmla="val 30000"/>
            </a:avLst>
          </a:prstGeom>
          <a:solidFill>
            <a:srgbClr val="E9733A"/>
          </a:solidFill>
          <a:ln>
            <a:noFill/>
          </a:ln>
        </p:spPr>
        <p:txBody>
          <a:bodyPr wrap="square" lIns="381000" tIns="0" rIns="254000" bIns="0" rtlCol="0" anchor="ctr">
            <a:noAutofit/>
          </a:bodyPr>
          <a:lstStyle/>
          <a:p>
            <a:pPr marL="0" indent="0" algn="l">
              <a:spcBef>
                <a:spcPts val="0"/>
              </a:spcBef>
              <a:spcAft>
                <a:spcPts val="0"/>
              </a:spcAft>
              <a:buNone/>
            </a:pPr>
            <a:r>
              <a:rPr lang="en-GB" sz="2400" b="1" dirty="0">
                <a:solidFill>
                  <a:srgbClr val="FFFFFF"/>
                </a:solidFill>
                <a:latin typeface="Anthropic Serif Web"/>
                <a:cs typeface="Anthropic Serif Web"/>
              </a:rPr>
              <a:t>2</a:t>
            </a:r>
            <a:endParaRPr lang="en-GB" sz="2400" dirty="0"/>
          </a:p>
        </p:txBody>
      </p:sp>
      <p:sp>
        <p:nvSpPr>
          <p:cNvPr id="103" name="Shape 103"/>
          <p:cNvSpPr txBox="1"/>
          <p:nvPr/>
        </p:nvSpPr>
        <p:spPr>
          <a:xfrm>
            <a:off x="3810000" y="2438400"/>
            <a:ext cx="2184400" cy="1066800"/>
          </a:xfrm>
          <a:prstGeom prst="rect">
            <a:avLst/>
          </a:prstGeom>
          <a:noFill/>
          <a:ln>
            <a:noFill/>
          </a:ln>
        </p:spPr>
        <p:txBody>
          <a:bodyPr wrap="square" lIns="0" tIns="0" rIns="0" bIns="0" rtlCol="0" anchor="t">
            <a:noAutofit/>
          </a:bodyPr>
          <a:lstStyle/>
          <a:p>
            <a:pPr marL="0" indent="0" algn="l">
              <a:lnSpc>
                <a:spcPct val="105000"/>
              </a:lnSpc>
              <a:spcBef>
                <a:spcPts val="0"/>
              </a:spcBef>
              <a:spcAft>
                <a:spcPts val="0"/>
              </a:spcAft>
              <a:buNone/>
            </a:pPr>
            <a:r>
              <a:rPr lang="en-GB" sz="1600" b="0" dirty="0">
                <a:solidFill>
                  <a:srgbClr val="1F2933"/>
                </a:solidFill>
                <a:latin typeface="Anthropic Sans Text"/>
                <a:cs typeface="Anthropic Sans Text"/>
              </a:rPr>
              <a:t>Parsed and matched to claim</a:t>
            </a:r>
            <a:endParaRPr lang="en-GB" sz="1600" dirty="0"/>
          </a:p>
        </p:txBody>
      </p:sp>
      <p:sp>
        <p:nvSpPr>
          <p:cNvPr id="104" name="Shape 104"/>
          <p:cNvSpPr/>
          <p:nvPr/>
        </p:nvSpPr>
        <p:spPr>
          <a:xfrm>
            <a:off x="6172200" y="1625600"/>
            <a:ext cx="2819400" cy="685800"/>
          </a:xfrm>
          <a:prstGeom prst="chevron">
            <a:avLst>
              <a:gd name="adj" fmla="val 30000"/>
            </a:avLst>
          </a:prstGeom>
          <a:solidFill>
            <a:srgbClr val="EE8E3F"/>
          </a:solidFill>
          <a:ln>
            <a:noFill/>
          </a:ln>
        </p:spPr>
        <p:txBody>
          <a:bodyPr wrap="square" lIns="381000" tIns="0" rIns="254000" bIns="0" rtlCol="0" anchor="ctr">
            <a:noAutofit/>
          </a:bodyPr>
          <a:lstStyle/>
          <a:p>
            <a:pPr marL="0" indent="0" algn="l">
              <a:spcBef>
                <a:spcPts val="0"/>
              </a:spcBef>
              <a:spcAft>
                <a:spcPts val="0"/>
              </a:spcAft>
              <a:buNone/>
            </a:pPr>
            <a:r>
              <a:rPr lang="en-GB" sz="2400" b="1" dirty="0">
                <a:solidFill>
                  <a:srgbClr val="FFFFFF"/>
                </a:solidFill>
                <a:latin typeface="Anthropic Serif Web"/>
                <a:cs typeface="Anthropic Serif Web"/>
              </a:rPr>
              <a:t>3</a:t>
            </a:r>
            <a:endParaRPr lang="en-GB" sz="2400" dirty="0"/>
          </a:p>
        </p:txBody>
      </p:sp>
      <p:sp>
        <p:nvSpPr>
          <p:cNvPr id="105" name="Shape 105"/>
          <p:cNvSpPr txBox="1"/>
          <p:nvPr/>
        </p:nvSpPr>
        <p:spPr>
          <a:xfrm>
            <a:off x="6553200" y="2438400"/>
            <a:ext cx="2184400" cy="1066800"/>
          </a:xfrm>
          <a:prstGeom prst="rect">
            <a:avLst/>
          </a:prstGeom>
          <a:noFill/>
          <a:ln>
            <a:noFill/>
          </a:ln>
        </p:spPr>
        <p:txBody>
          <a:bodyPr wrap="square" lIns="0" tIns="0" rIns="0" bIns="0" rtlCol="0" anchor="t">
            <a:noAutofit/>
          </a:bodyPr>
          <a:lstStyle/>
          <a:p>
            <a:pPr marL="0" indent="0" algn="l">
              <a:lnSpc>
                <a:spcPct val="105000"/>
              </a:lnSpc>
              <a:spcBef>
                <a:spcPts val="0"/>
              </a:spcBef>
              <a:spcAft>
                <a:spcPts val="0"/>
              </a:spcAft>
              <a:buNone/>
            </a:pPr>
            <a:r>
              <a:rPr lang="en-GB" sz="1600" b="0" dirty="0">
                <a:solidFill>
                  <a:srgbClr val="1F2933"/>
                </a:solidFill>
                <a:latin typeface="Anthropic Sans Text"/>
                <a:cs typeface="Anthropic Sans Text"/>
              </a:rPr>
              <a:t>Routine adjustments filtered out</a:t>
            </a:r>
            <a:endParaRPr lang="en-GB" sz="1600" dirty="0"/>
          </a:p>
        </p:txBody>
      </p:sp>
      <p:sp>
        <p:nvSpPr>
          <p:cNvPr id="106" name="Shape 106"/>
          <p:cNvSpPr/>
          <p:nvPr/>
        </p:nvSpPr>
        <p:spPr>
          <a:xfrm>
            <a:off x="8915400" y="1625600"/>
            <a:ext cx="2819400" cy="685800"/>
          </a:xfrm>
          <a:prstGeom prst="chevron">
            <a:avLst>
              <a:gd name="adj" fmla="val 30000"/>
            </a:avLst>
          </a:prstGeom>
          <a:solidFill>
            <a:srgbClr val="F2A541"/>
          </a:solidFill>
          <a:ln>
            <a:noFill/>
          </a:ln>
        </p:spPr>
        <p:txBody>
          <a:bodyPr wrap="square" lIns="381000" tIns="0" rIns="254000" bIns="0" rtlCol="0" anchor="ctr">
            <a:noAutofit/>
          </a:bodyPr>
          <a:lstStyle/>
          <a:p>
            <a:pPr marL="0" indent="0" algn="l">
              <a:spcBef>
                <a:spcPts val="0"/>
              </a:spcBef>
              <a:spcAft>
                <a:spcPts val="0"/>
              </a:spcAft>
              <a:buNone/>
            </a:pPr>
            <a:r>
              <a:rPr lang="en-GB" sz="2400" b="1" dirty="0">
                <a:solidFill>
                  <a:srgbClr val="FFFFFF"/>
                </a:solidFill>
                <a:latin typeface="Anthropic Serif Web"/>
                <a:cs typeface="Anthropic Serif Web"/>
              </a:rPr>
              <a:t>4</a:t>
            </a:r>
            <a:endParaRPr lang="en-GB" sz="2400" dirty="0"/>
          </a:p>
        </p:txBody>
      </p:sp>
      <p:sp>
        <p:nvSpPr>
          <p:cNvPr id="107" name="Shape 107"/>
          <p:cNvSpPr txBox="1"/>
          <p:nvPr/>
        </p:nvSpPr>
        <p:spPr>
          <a:xfrm>
            <a:off x="9296400" y="2438400"/>
            <a:ext cx="2184400" cy="1066800"/>
          </a:xfrm>
          <a:prstGeom prst="rect">
            <a:avLst/>
          </a:prstGeom>
          <a:noFill/>
          <a:ln>
            <a:noFill/>
          </a:ln>
        </p:spPr>
        <p:txBody>
          <a:bodyPr wrap="square" lIns="0" tIns="0" rIns="0" bIns="0" rtlCol="0" anchor="t">
            <a:noAutofit/>
          </a:bodyPr>
          <a:lstStyle/>
          <a:p>
            <a:pPr marL="0" indent="0" algn="l">
              <a:lnSpc>
                <a:spcPct val="105000"/>
              </a:lnSpc>
              <a:spcBef>
                <a:spcPts val="0"/>
              </a:spcBef>
              <a:spcAft>
                <a:spcPts val="0"/>
              </a:spcAft>
              <a:buNone/>
            </a:pPr>
            <a:r>
              <a:rPr lang="en-GB" sz="1600" b="0" dirty="0">
                <a:solidFill>
                  <a:srgbClr val="1F2933"/>
                </a:solidFill>
                <a:latin typeface="Anthropic Sans Text"/>
                <a:cs typeface="Anthropic Sans Text"/>
              </a:rPr>
              <a:t>Rules check codes, edits, coverage, deadlines</a:t>
            </a:r>
            <a:endParaRPr lang="en-GB" sz="1600" dirty="0"/>
          </a:p>
        </p:txBody>
      </p:sp>
      <p:sp>
        <p:nvSpPr>
          <p:cNvPr id="108" name="Shape 108"/>
          <p:cNvSpPr/>
          <p:nvPr/>
        </p:nvSpPr>
        <p:spPr>
          <a:xfrm>
            <a:off x="685800" y="3810000"/>
            <a:ext cx="2819400" cy="685800"/>
          </a:xfrm>
          <a:prstGeom prst="homePlate">
            <a:avLst>
              <a:gd name="adj" fmla="val 30000"/>
            </a:avLst>
          </a:prstGeom>
          <a:solidFill>
            <a:srgbClr val="BFA34A"/>
          </a:solidFill>
          <a:ln>
            <a:noFill/>
          </a:ln>
        </p:spPr>
        <p:txBody>
          <a:bodyPr wrap="square" lIns="203200" tIns="0" rIns="254000" bIns="0" rtlCol="0" anchor="ctr">
            <a:noAutofit/>
          </a:bodyPr>
          <a:lstStyle/>
          <a:p>
            <a:pPr marL="0" indent="0" algn="l">
              <a:spcBef>
                <a:spcPts val="0"/>
              </a:spcBef>
              <a:spcAft>
                <a:spcPts val="0"/>
              </a:spcAft>
              <a:buNone/>
            </a:pPr>
            <a:r>
              <a:rPr lang="en-GB" sz="2400" b="1" dirty="0">
                <a:solidFill>
                  <a:srgbClr val="FFFFFF"/>
                </a:solidFill>
                <a:latin typeface="Anthropic Serif Web"/>
                <a:cs typeface="Anthropic Serif Web"/>
              </a:rPr>
              <a:t>5</a:t>
            </a:r>
            <a:endParaRPr lang="en-GB" sz="2400" dirty="0"/>
          </a:p>
        </p:txBody>
      </p:sp>
      <p:sp>
        <p:nvSpPr>
          <p:cNvPr id="109" name="Shape 109"/>
          <p:cNvSpPr txBox="1"/>
          <p:nvPr/>
        </p:nvSpPr>
        <p:spPr>
          <a:xfrm>
            <a:off x="889000" y="4622800"/>
            <a:ext cx="2184400" cy="1066800"/>
          </a:xfrm>
          <a:prstGeom prst="rect">
            <a:avLst/>
          </a:prstGeom>
          <a:noFill/>
          <a:ln>
            <a:noFill/>
          </a:ln>
        </p:spPr>
        <p:txBody>
          <a:bodyPr wrap="square" lIns="0" tIns="0" rIns="0" bIns="0" rtlCol="0" anchor="t">
            <a:noAutofit/>
          </a:bodyPr>
          <a:lstStyle/>
          <a:p>
            <a:pPr marL="0" indent="0" algn="l">
              <a:lnSpc>
                <a:spcPct val="105000"/>
              </a:lnSpc>
              <a:spcBef>
                <a:spcPts val="0"/>
              </a:spcBef>
              <a:spcAft>
                <a:spcPts val="0"/>
              </a:spcAft>
              <a:buNone/>
            </a:pPr>
            <a:r>
              <a:rPr lang="en-GB" sz="1600" b="0" dirty="0">
                <a:solidFill>
                  <a:srgbClr val="1F2933"/>
                </a:solidFill>
                <a:latin typeface="Anthropic Sans Text"/>
                <a:cs typeface="Anthropic Sans Text"/>
              </a:rPr>
              <a:t>Prioritisation scores recovery and urgency</a:t>
            </a:r>
            <a:endParaRPr lang="en-GB" sz="1600" dirty="0"/>
          </a:p>
        </p:txBody>
      </p:sp>
      <p:sp>
        <p:nvSpPr>
          <p:cNvPr id="110" name="Shape 110"/>
          <p:cNvSpPr/>
          <p:nvPr/>
        </p:nvSpPr>
        <p:spPr>
          <a:xfrm>
            <a:off x="3429000" y="3810000"/>
            <a:ext cx="2819400" cy="685800"/>
          </a:xfrm>
          <a:prstGeom prst="chevron">
            <a:avLst>
              <a:gd name="adj" fmla="val 30000"/>
            </a:avLst>
          </a:prstGeom>
          <a:solidFill>
            <a:srgbClr val="88A254"/>
          </a:solidFill>
          <a:ln>
            <a:noFill/>
          </a:ln>
        </p:spPr>
        <p:txBody>
          <a:bodyPr wrap="square" lIns="381000" tIns="0" rIns="254000" bIns="0" rtlCol="0" anchor="ctr">
            <a:noAutofit/>
          </a:bodyPr>
          <a:lstStyle/>
          <a:p>
            <a:pPr marL="0" indent="0" algn="l">
              <a:spcBef>
                <a:spcPts val="0"/>
              </a:spcBef>
              <a:spcAft>
                <a:spcPts val="0"/>
              </a:spcAft>
              <a:buNone/>
            </a:pPr>
            <a:r>
              <a:rPr lang="en-GB" sz="2400" b="1" dirty="0">
                <a:solidFill>
                  <a:srgbClr val="FFFFFF"/>
                </a:solidFill>
                <a:latin typeface="Anthropic Serif Web"/>
                <a:cs typeface="Anthropic Serif Web"/>
              </a:rPr>
              <a:t>6</a:t>
            </a:r>
            <a:endParaRPr lang="en-GB" sz="2400" dirty="0"/>
          </a:p>
        </p:txBody>
      </p:sp>
      <p:sp>
        <p:nvSpPr>
          <p:cNvPr id="111" name="Shape 111"/>
          <p:cNvSpPr txBox="1"/>
          <p:nvPr/>
        </p:nvSpPr>
        <p:spPr>
          <a:xfrm>
            <a:off x="3810000" y="4622800"/>
            <a:ext cx="2184400" cy="1066800"/>
          </a:xfrm>
          <a:prstGeom prst="rect">
            <a:avLst/>
          </a:prstGeom>
          <a:noFill/>
          <a:ln>
            <a:noFill/>
          </a:ln>
        </p:spPr>
        <p:txBody>
          <a:bodyPr wrap="square" lIns="0" tIns="0" rIns="0" bIns="0" rtlCol="0" anchor="t">
            <a:noAutofit/>
          </a:bodyPr>
          <a:lstStyle/>
          <a:p>
            <a:pPr marL="0" indent="0" algn="l">
              <a:lnSpc>
                <a:spcPct val="105000"/>
              </a:lnSpc>
              <a:spcBef>
                <a:spcPts val="0"/>
              </a:spcBef>
              <a:spcAft>
                <a:spcPts val="0"/>
              </a:spcAft>
              <a:buNone/>
            </a:pPr>
            <a:r>
              <a:rPr lang="en-GB" sz="1600" b="0" dirty="0">
                <a:solidFill>
                  <a:srgbClr val="1F2933"/>
                </a:solidFill>
                <a:latin typeface="Anthropic Sans Text"/>
                <a:cs typeface="Anthropic Sans Text"/>
              </a:rPr>
              <a:t>AI explains and drafts</a:t>
            </a:r>
            <a:endParaRPr lang="en-GB" sz="1600" dirty="0"/>
          </a:p>
        </p:txBody>
      </p:sp>
      <p:sp>
        <p:nvSpPr>
          <p:cNvPr id="112" name="Shape 112"/>
          <p:cNvSpPr/>
          <p:nvPr/>
        </p:nvSpPr>
        <p:spPr>
          <a:xfrm>
            <a:off x="6172200" y="3810000"/>
            <a:ext cx="2819400" cy="685800"/>
          </a:xfrm>
          <a:prstGeom prst="chevron">
            <a:avLst>
              <a:gd name="adj" fmla="val 30000"/>
            </a:avLst>
          </a:prstGeom>
          <a:solidFill>
            <a:srgbClr val="56A05F"/>
          </a:solidFill>
          <a:ln>
            <a:noFill/>
          </a:ln>
        </p:spPr>
        <p:txBody>
          <a:bodyPr wrap="square" lIns="381000" tIns="0" rIns="254000" bIns="0" rtlCol="0" anchor="ctr">
            <a:noAutofit/>
          </a:bodyPr>
          <a:lstStyle/>
          <a:p>
            <a:pPr marL="0" indent="0" algn="l">
              <a:spcBef>
                <a:spcPts val="0"/>
              </a:spcBef>
              <a:spcAft>
                <a:spcPts val="0"/>
              </a:spcAft>
              <a:buNone/>
            </a:pPr>
            <a:r>
              <a:rPr lang="en-GB" sz="2400" b="1" dirty="0">
                <a:solidFill>
                  <a:srgbClr val="FFFFFF"/>
                </a:solidFill>
                <a:latin typeface="Anthropic Serif Web"/>
                <a:cs typeface="Anthropic Serif Web"/>
              </a:rPr>
              <a:t>7</a:t>
            </a:r>
            <a:endParaRPr lang="en-GB" sz="2400" dirty="0"/>
          </a:p>
        </p:txBody>
      </p:sp>
      <p:sp>
        <p:nvSpPr>
          <p:cNvPr id="113" name="Shape 113"/>
          <p:cNvSpPr txBox="1"/>
          <p:nvPr/>
        </p:nvSpPr>
        <p:spPr>
          <a:xfrm>
            <a:off x="6553200" y="4622800"/>
            <a:ext cx="2184400" cy="1066800"/>
          </a:xfrm>
          <a:prstGeom prst="rect">
            <a:avLst/>
          </a:prstGeom>
          <a:noFill/>
          <a:ln>
            <a:noFill/>
          </a:ln>
        </p:spPr>
        <p:txBody>
          <a:bodyPr wrap="square" lIns="0" tIns="0" rIns="0" bIns="0" rtlCol="0" anchor="t">
            <a:noAutofit/>
          </a:bodyPr>
          <a:lstStyle/>
          <a:p>
            <a:pPr marL="0" indent="0" algn="l">
              <a:lnSpc>
                <a:spcPct val="105000"/>
              </a:lnSpc>
              <a:spcBef>
                <a:spcPts val="0"/>
              </a:spcBef>
              <a:spcAft>
                <a:spcPts val="0"/>
              </a:spcAft>
              <a:buNone/>
            </a:pPr>
            <a:r>
              <a:rPr lang="en-GB" sz="1600" b="0" dirty="0">
                <a:solidFill>
                  <a:srgbClr val="1F2933"/>
                </a:solidFill>
                <a:latin typeface="Anthropic Sans Text"/>
                <a:cs typeface="Anthropic Sans Text"/>
              </a:rPr>
              <a:t>Routed to the right team, with a Teams alert</a:t>
            </a:r>
            <a:endParaRPr lang="en-GB" sz="1600" dirty="0"/>
          </a:p>
        </p:txBody>
      </p:sp>
      <p:sp>
        <p:nvSpPr>
          <p:cNvPr id="114" name="Shape 114"/>
          <p:cNvSpPr/>
          <p:nvPr/>
        </p:nvSpPr>
        <p:spPr>
          <a:xfrm>
            <a:off x="8915400" y="3810000"/>
            <a:ext cx="2819400" cy="685800"/>
          </a:xfrm>
          <a:prstGeom prst="chevron">
            <a:avLst>
              <a:gd name="adj" fmla="val 30000"/>
            </a:avLst>
          </a:prstGeom>
          <a:solidFill>
            <a:srgbClr val="2E9E6A"/>
          </a:solidFill>
          <a:ln>
            <a:noFill/>
          </a:ln>
        </p:spPr>
        <p:txBody>
          <a:bodyPr wrap="square" lIns="381000" tIns="0" rIns="254000" bIns="0" rtlCol="0" anchor="ctr">
            <a:noAutofit/>
          </a:bodyPr>
          <a:lstStyle/>
          <a:p>
            <a:pPr marL="0" indent="0" algn="l">
              <a:spcBef>
                <a:spcPts val="0"/>
              </a:spcBef>
              <a:spcAft>
                <a:spcPts val="0"/>
              </a:spcAft>
              <a:buNone/>
            </a:pPr>
            <a:r>
              <a:rPr lang="en-GB" sz="2400" b="1" dirty="0">
                <a:solidFill>
                  <a:srgbClr val="FFFFFF"/>
                </a:solidFill>
                <a:latin typeface="Anthropic Serif Web"/>
                <a:cs typeface="Anthropic Serif Web"/>
              </a:rPr>
              <a:t>8</a:t>
            </a:r>
            <a:endParaRPr lang="en-GB" sz="2400" dirty="0"/>
          </a:p>
        </p:txBody>
      </p:sp>
      <p:sp>
        <p:nvSpPr>
          <p:cNvPr id="115" name="Shape 115"/>
          <p:cNvSpPr txBox="1"/>
          <p:nvPr/>
        </p:nvSpPr>
        <p:spPr>
          <a:xfrm>
            <a:off x="9296400" y="4622800"/>
            <a:ext cx="2184400" cy="1066800"/>
          </a:xfrm>
          <a:prstGeom prst="rect">
            <a:avLst/>
          </a:prstGeom>
          <a:noFill/>
          <a:ln>
            <a:noFill/>
          </a:ln>
        </p:spPr>
        <p:txBody>
          <a:bodyPr wrap="square" lIns="0" tIns="0" rIns="0" bIns="0" rtlCol="0" anchor="t">
            <a:noAutofit/>
          </a:bodyPr>
          <a:lstStyle/>
          <a:p>
            <a:pPr marL="0" indent="0" algn="l">
              <a:lnSpc>
                <a:spcPct val="105000"/>
              </a:lnSpc>
              <a:spcBef>
                <a:spcPts val="0"/>
              </a:spcBef>
              <a:spcAft>
                <a:spcPts val="0"/>
              </a:spcAft>
              <a:buNone/>
            </a:pPr>
            <a:r>
              <a:rPr lang="en-GB" sz="1600" b="0" dirty="0">
                <a:solidFill>
                  <a:srgbClr val="1F2933"/>
                </a:solidFill>
                <a:latin typeface="Anthropic Sans Text"/>
                <a:cs typeface="Anthropic Sans Text"/>
              </a:rPr>
              <a:t>Approved, resubmitted or appealed; outcome learned</a:t>
            </a:r>
            <a:endParaRPr lang="en-GB" sz="1600" dirty="0"/>
          </a:p>
        </p:txBody>
      </p:sp>
      <p:sp>
        <p:nvSpPr>
          <p:cNvPr id="116" name="Shape 116"/>
          <p:cNvSpPr txBox="1"/>
          <p:nvPr/>
        </p:nvSpPr>
        <p:spPr>
          <a:xfrm>
            <a:off x="685800" y="5969000"/>
            <a:ext cx="2540000" cy="228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100" b="1" spc="150" dirty="0">
                <a:solidFill>
                  <a:srgbClr val="E4572E"/>
                </a:solidFill>
                <a:latin typeface="Anthropic Sans Text"/>
                <a:cs typeface="Anthropic Sans Text"/>
              </a:rPr>
              <a:t>PROBLEM</a:t>
            </a:r>
            <a:endParaRPr lang="en-GB" sz="1100" dirty="0"/>
          </a:p>
        </p:txBody>
      </p:sp>
      <p:sp>
        <p:nvSpPr>
          <p:cNvPr id="117" name="Shape 117"/>
          <p:cNvSpPr/>
          <p:nvPr/>
        </p:nvSpPr>
        <p:spPr>
          <a:xfrm>
            <a:off x="1651000" y="6057900"/>
            <a:ext cx="8382000" cy="50800"/>
          </a:xfrm>
          <a:prstGeom prst="rect">
            <a:avLst/>
          </a:prstGeom>
          <a:solidFill>
            <a:srgbClr val="E0E3E7"/>
          </a:solidFill>
          <a:ln>
            <a:noFill/>
          </a:ln>
        </p:spPr>
        <p:txBody>
          <a:bodyPr wrap="square" lIns="0" tIns="0" rIns="0" bIns="0" rtlCol="0" anchor="t">
            <a:noAutofit/>
          </a:bodyPr>
          <a:lstStyle/>
          <a:p>
            <a:endParaRPr lang="en-GB" dirty="0"/>
          </a:p>
        </p:txBody>
      </p:sp>
      <p:sp>
        <p:nvSpPr>
          <p:cNvPr id="118" name="Shape 118"/>
          <p:cNvSpPr txBox="1"/>
          <p:nvPr/>
        </p:nvSpPr>
        <p:spPr>
          <a:xfrm>
            <a:off x="9194800" y="5969000"/>
            <a:ext cx="2540000" cy="228600"/>
          </a:xfrm>
          <a:prstGeom prst="rect">
            <a:avLst/>
          </a:prstGeom>
          <a:noFill/>
          <a:ln>
            <a:noFill/>
          </a:ln>
        </p:spPr>
        <p:txBody>
          <a:bodyPr wrap="square" lIns="0" tIns="0" rIns="0" bIns="0" rtlCol="0" anchor="t">
            <a:noAutofit/>
          </a:bodyPr>
          <a:lstStyle/>
          <a:p>
            <a:pPr marL="0" indent="0" algn="r">
              <a:spcBef>
                <a:spcPts val="0"/>
              </a:spcBef>
              <a:spcAft>
                <a:spcPts val="0"/>
              </a:spcAft>
              <a:buNone/>
            </a:pPr>
            <a:r>
              <a:rPr lang="en-GB" sz="1100" b="1" spc="150" dirty="0">
                <a:solidFill>
                  <a:srgbClr val="2E9E6A"/>
                </a:solidFill>
                <a:latin typeface="Anthropic Sans Text"/>
                <a:cs typeface="Anthropic Sans Text"/>
              </a:rPr>
              <a:t>RESOLVED</a:t>
            </a:r>
            <a:endParaRPr lang="en-GB" sz="1100" dirty="0"/>
          </a:p>
        </p:txBody>
      </p:sp>
    </p:spTree>
    <p:extLst>
      <p:ext uri="{BB962C8B-B14F-4D97-AF65-F5344CB8AC3E}">
        <p14:creationId xmlns:p14="http://schemas.microsoft.com/office/powerpoint/2010/main" val="28632412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3AF67-408B-35CE-20FC-654A90607BFD}"/>
              </a:ext>
            </a:extLst>
          </p:cNvPr>
          <p:cNvSpPr>
            <a:spLocks noGrp="1"/>
          </p:cNvSpPr>
          <p:nvPr>
            <p:ph type="title"/>
          </p:nvPr>
        </p:nvSpPr>
        <p:spPr/>
        <p:txBody>
          <a:bodyPr/>
          <a:lstStyle/>
          <a:p>
            <a:r>
              <a:rPr lang="en-GB" dirty="0"/>
              <a:t>Every denial ends in one of nine clear decisions</a:t>
            </a:r>
          </a:p>
        </p:txBody>
      </p:sp>
      <p:sp>
        <p:nvSpPr>
          <p:cNvPr id="100" name="Shape 100"/>
          <p:cNvSpPr txBox="1"/>
          <p:nvPr/>
        </p:nvSpPr>
        <p:spPr>
          <a:xfrm>
            <a:off x="685800" y="1701800"/>
            <a:ext cx="1778000" cy="711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300" b="1" spc="150" dirty="0">
                <a:solidFill>
                  <a:srgbClr val="2E9E6A"/>
                </a:solidFill>
                <a:latin typeface="Anthropic Sans Text"/>
                <a:cs typeface="Anthropic Sans Text"/>
              </a:rPr>
              <a:t>RECOVER</a:t>
            </a:r>
            <a:endParaRPr lang="en-GB" sz="1300" dirty="0"/>
          </a:p>
        </p:txBody>
      </p:sp>
      <p:sp>
        <p:nvSpPr>
          <p:cNvPr id="101" name="Shape 101"/>
          <p:cNvSpPr/>
          <p:nvPr/>
        </p:nvSpPr>
        <p:spPr>
          <a:xfrm>
            <a:off x="685800" y="2667000"/>
            <a:ext cx="11049000" cy="9525"/>
          </a:xfrm>
          <a:prstGeom prst="rect">
            <a:avLst/>
          </a:prstGeom>
          <a:solidFill>
            <a:srgbClr val="E0E3E7"/>
          </a:solidFill>
          <a:ln>
            <a:noFill/>
          </a:ln>
        </p:spPr>
        <p:txBody>
          <a:bodyPr wrap="square" lIns="0" tIns="0" rIns="0" bIns="0" rtlCol="0" anchor="t">
            <a:noAutofit/>
          </a:bodyPr>
          <a:lstStyle/>
          <a:p>
            <a:endParaRPr lang="en-GB" dirty="0"/>
          </a:p>
        </p:txBody>
      </p:sp>
      <p:sp>
        <p:nvSpPr>
          <p:cNvPr id="102" name="Shape 102"/>
          <p:cNvSpPr/>
          <p:nvPr/>
        </p:nvSpPr>
        <p:spPr>
          <a:xfrm>
            <a:off x="2413000" y="1701800"/>
            <a:ext cx="2184400" cy="711200"/>
          </a:xfrm>
          <a:prstGeom prst="roundRect">
            <a:avLst>
              <a:gd name="adj" fmla="val 50000"/>
            </a:avLst>
          </a:prstGeom>
          <a:solidFill>
            <a:srgbClr val="2E9E6A"/>
          </a:solidFill>
          <a:ln>
            <a:noFill/>
          </a:ln>
        </p:spPr>
        <p:txBody>
          <a:bodyPr wrap="square" lIns="101600" tIns="0" rIns="101600" bIns="0" rtlCol="0" anchor="ctr">
            <a:noAutofit/>
          </a:bodyPr>
          <a:lstStyle/>
          <a:p>
            <a:pPr marL="0" indent="0" algn="ctr">
              <a:spcBef>
                <a:spcPts val="0"/>
              </a:spcBef>
              <a:spcAft>
                <a:spcPts val="0"/>
              </a:spcAft>
              <a:buNone/>
            </a:pPr>
            <a:r>
              <a:rPr lang="en-GB" sz="1600" b="1" dirty="0">
                <a:solidFill>
                  <a:srgbClr val="FFFFFF"/>
                </a:solidFill>
                <a:latin typeface="Anthropic Sans Text"/>
                <a:cs typeface="Anthropic Sans Text"/>
              </a:rPr>
              <a:t>Correct &amp; resubmit</a:t>
            </a:r>
            <a:endParaRPr lang="en-GB" sz="1600" dirty="0"/>
          </a:p>
        </p:txBody>
      </p:sp>
      <p:sp>
        <p:nvSpPr>
          <p:cNvPr id="103" name="Shape 103"/>
          <p:cNvSpPr/>
          <p:nvPr/>
        </p:nvSpPr>
        <p:spPr>
          <a:xfrm>
            <a:off x="4749800" y="1701800"/>
            <a:ext cx="2184400" cy="711200"/>
          </a:xfrm>
          <a:prstGeom prst="roundRect">
            <a:avLst>
              <a:gd name="adj" fmla="val 50000"/>
            </a:avLst>
          </a:prstGeom>
          <a:solidFill>
            <a:srgbClr val="2E9E6A"/>
          </a:solidFill>
          <a:ln>
            <a:noFill/>
          </a:ln>
        </p:spPr>
        <p:txBody>
          <a:bodyPr wrap="square" lIns="101600" tIns="0" rIns="101600" bIns="0" rtlCol="0" anchor="ctr">
            <a:noAutofit/>
          </a:bodyPr>
          <a:lstStyle/>
          <a:p>
            <a:pPr marL="0" indent="0" algn="ctr">
              <a:spcBef>
                <a:spcPts val="0"/>
              </a:spcBef>
              <a:spcAft>
                <a:spcPts val="0"/>
              </a:spcAft>
              <a:buNone/>
            </a:pPr>
            <a:r>
              <a:rPr lang="en-GB" sz="1600" b="1" dirty="0">
                <a:solidFill>
                  <a:srgbClr val="FFFFFF"/>
                </a:solidFill>
                <a:latin typeface="Anthropic Sans Text"/>
                <a:cs typeface="Anthropic Sans Text"/>
              </a:rPr>
              <a:t>Submit new claim</a:t>
            </a:r>
            <a:endParaRPr lang="en-GB" sz="1600" dirty="0"/>
          </a:p>
        </p:txBody>
      </p:sp>
      <p:sp>
        <p:nvSpPr>
          <p:cNvPr id="104" name="Shape 104"/>
          <p:cNvSpPr/>
          <p:nvPr/>
        </p:nvSpPr>
        <p:spPr>
          <a:xfrm>
            <a:off x="7086600" y="1701800"/>
            <a:ext cx="2184400" cy="711200"/>
          </a:xfrm>
          <a:prstGeom prst="roundRect">
            <a:avLst>
              <a:gd name="adj" fmla="val 50000"/>
            </a:avLst>
          </a:prstGeom>
          <a:solidFill>
            <a:srgbClr val="2E9E6A"/>
          </a:solidFill>
          <a:ln>
            <a:noFill/>
          </a:ln>
        </p:spPr>
        <p:txBody>
          <a:bodyPr wrap="square" lIns="101600" tIns="0" rIns="101600" bIns="0" rtlCol="0" anchor="ctr">
            <a:noAutofit/>
          </a:bodyPr>
          <a:lstStyle/>
          <a:p>
            <a:pPr marL="0" indent="0" algn="ctr">
              <a:spcBef>
                <a:spcPts val="0"/>
              </a:spcBef>
              <a:spcAft>
                <a:spcPts val="0"/>
              </a:spcAft>
              <a:buNone/>
            </a:pPr>
            <a:r>
              <a:rPr lang="en-GB" sz="1600" b="1" dirty="0">
                <a:solidFill>
                  <a:srgbClr val="FFFFFF"/>
                </a:solidFill>
                <a:latin typeface="Anthropic Sans Text"/>
                <a:cs typeface="Anthropic Sans Text"/>
              </a:rPr>
              <a:t>Appeal</a:t>
            </a:r>
            <a:endParaRPr lang="en-GB" sz="1600" dirty="0"/>
          </a:p>
        </p:txBody>
      </p:sp>
      <p:sp>
        <p:nvSpPr>
          <p:cNvPr id="105" name="Shape 105"/>
          <p:cNvSpPr/>
          <p:nvPr/>
        </p:nvSpPr>
        <p:spPr>
          <a:xfrm>
            <a:off x="9423400" y="1701800"/>
            <a:ext cx="2184400" cy="711200"/>
          </a:xfrm>
          <a:prstGeom prst="roundRect">
            <a:avLst>
              <a:gd name="adj" fmla="val 50000"/>
            </a:avLst>
          </a:prstGeom>
          <a:solidFill>
            <a:srgbClr val="2E9E6A"/>
          </a:solidFill>
          <a:ln>
            <a:noFill/>
          </a:ln>
        </p:spPr>
        <p:txBody>
          <a:bodyPr wrap="square" lIns="101600" tIns="0" rIns="101600" bIns="0" rtlCol="0" anchor="ctr">
            <a:noAutofit/>
          </a:bodyPr>
          <a:lstStyle/>
          <a:p>
            <a:pPr marL="0" indent="0" algn="ctr">
              <a:spcBef>
                <a:spcPts val="0"/>
              </a:spcBef>
              <a:spcAft>
                <a:spcPts val="0"/>
              </a:spcAft>
              <a:buNone/>
            </a:pPr>
            <a:r>
              <a:rPr lang="en-GB" sz="1600" b="1" dirty="0">
                <a:solidFill>
                  <a:srgbClr val="FFFFFF"/>
                </a:solidFill>
                <a:latin typeface="Anthropic Sans Text"/>
                <a:cs typeface="Anthropic Sans Text"/>
              </a:rPr>
              <a:t>Obtain retro-auth</a:t>
            </a:r>
            <a:endParaRPr lang="en-GB" sz="1600" dirty="0"/>
          </a:p>
        </p:txBody>
      </p:sp>
      <p:sp>
        <p:nvSpPr>
          <p:cNvPr id="106" name="Shape 106"/>
          <p:cNvSpPr txBox="1"/>
          <p:nvPr/>
        </p:nvSpPr>
        <p:spPr>
          <a:xfrm>
            <a:off x="685800" y="2819400"/>
            <a:ext cx="1778000" cy="711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300" b="1" spc="150" dirty="0">
                <a:solidFill>
                  <a:srgbClr val="1F4E8C"/>
                </a:solidFill>
                <a:latin typeface="Anthropic Sans Text"/>
                <a:cs typeface="Anthropic Sans Text"/>
              </a:rPr>
              <a:t>REDIRECT</a:t>
            </a:r>
            <a:endParaRPr lang="en-GB" sz="1300" dirty="0"/>
          </a:p>
        </p:txBody>
      </p:sp>
      <p:sp>
        <p:nvSpPr>
          <p:cNvPr id="107" name="Shape 107"/>
          <p:cNvSpPr/>
          <p:nvPr/>
        </p:nvSpPr>
        <p:spPr>
          <a:xfrm>
            <a:off x="685800" y="3784600"/>
            <a:ext cx="11049000" cy="9525"/>
          </a:xfrm>
          <a:prstGeom prst="rect">
            <a:avLst/>
          </a:prstGeom>
          <a:solidFill>
            <a:srgbClr val="E0E3E7"/>
          </a:solidFill>
          <a:ln>
            <a:noFill/>
          </a:ln>
        </p:spPr>
        <p:txBody>
          <a:bodyPr wrap="square" lIns="0" tIns="0" rIns="0" bIns="0" rtlCol="0" anchor="t">
            <a:noAutofit/>
          </a:bodyPr>
          <a:lstStyle/>
          <a:p>
            <a:endParaRPr lang="en-GB" dirty="0"/>
          </a:p>
        </p:txBody>
      </p:sp>
      <p:sp>
        <p:nvSpPr>
          <p:cNvPr id="108" name="Shape 108"/>
          <p:cNvSpPr/>
          <p:nvPr/>
        </p:nvSpPr>
        <p:spPr>
          <a:xfrm>
            <a:off x="2413000" y="2819400"/>
            <a:ext cx="2184400" cy="711200"/>
          </a:xfrm>
          <a:prstGeom prst="roundRect">
            <a:avLst>
              <a:gd name="adj" fmla="val 50000"/>
            </a:avLst>
          </a:prstGeom>
          <a:solidFill>
            <a:srgbClr val="1F4E8C"/>
          </a:solidFill>
          <a:ln>
            <a:noFill/>
          </a:ln>
        </p:spPr>
        <p:txBody>
          <a:bodyPr wrap="square" lIns="101600" tIns="0" rIns="101600" bIns="0" rtlCol="0" anchor="ctr">
            <a:noAutofit/>
          </a:bodyPr>
          <a:lstStyle/>
          <a:p>
            <a:pPr marL="0" indent="0" algn="ctr">
              <a:spcBef>
                <a:spcPts val="0"/>
              </a:spcBef>
              <a:spcAft>
                <a:spcPts val="0"/>
              </a:spcAft>
              <a:buNone/>
            </a:pPr>
            <a:r>
              <a:rPr lang="en-GB" sz="1600" b="1" dirty="0">
                <a:solidFill>
                  <a:srgbClr val="FFFFFF"/>
                </a:solidFill>
                <a:latin typeface="Anthropic Sans Text"/>
                <a:cs typeface="Anthropic Sans Text"/>
              </a:rPr>
              <a:t>Bill other payer</a:t>
            </a:r>
            <a:endParaRPr lang="en-GB" sz="1600" dirty="0"/>
          </a:p>
        </p:txBody>
      </p:sp>
      <p:sp>
        <p:nvSpPr>
          <p:cNvPr id="109" name="Shape 109"/>
          <p:cNvSpPr/>
          <p:nvPr/>
        </p:nvSpPr>
        <p:spPr>
          <a:xfrm>
            <a:off x="4749800" y="2819400"/>
            <a:ext cx="2184400" cy="711200"/>
          </a:xfrm>
          <a:prstGeom prst="roundRect">
            <a:avLst>
              <a:gd name="adj" fmla="val 50000"/>
            </a:avLst>
          </a:prstGeom>
          <a:solidFill>
            <a:srgbClr val="1F4E8C"/>
          </a:solidFill>
          <a:ln>
            <a:noFill/>
          </a:ln>
        </p:spPr>
        <p:txBody>
          <a:bodyPr wrap="square" lIns="101600" tIns="0" rIns="101600" bIns="0" rtlCol="0" anchor="ctr">
            <a:noAutofit/>
          </a:bodyPr>
          <a:lstStyle/>
          <a:p>
            <a:pPr marL="0" indent="0" algn="ctr">
              <a:spcBef>
                <a:spcPts val="0"/>
              </a:spcBef>
              <a:spcAft>
                <a:spcPts val="0"/>
              </a:spcAft>
              <a:buNone/>
            </a:pPr>
            <a:r>
              <a:rPr lang="en-GB" sz="1600" b="1" dirty="0">
                <a:solidFill>
                  <a:srgbClr val="FFFFFF"/>
                </a:solidFill>
                <a:latin typeface="Anthropic Sans Text"/>
                <a:cs typeface="Anthropic Sans Text"/>
              </a:rPr>
              <a:t>Bill patient</a:t>
            </a:r>
            <a:endParaRPr lang="en-GB" sz="1600" dirty="0"/>
          </a:p>
        </p:txBody>
      </p:sp>
      <p:sp>
        <p:nvSpPr>
          <p:cNvPr id="110" name="Shape 110"/>
          <p:cNvSpPr/>
          <p:nvPr/>
        </p:nvSpPr>
        <p:spPr>
          <a:xfrm>
            <a:off x="7086600" y="2819400"/>
            <a:ext cx="2184400" cy="711200"/>
          </a:xfrm>
          <a:prstGeom prst="roundRect">
            <a:avLst>
              <a:gd name="adj" fmla="val 50000"/>
            </a:avLst>
          </a:prstGeom>
          <a:solidFill>
            <a:srgbClr val="1F4E8C"/>
          </a:solidFill>
          <a:ln>
            <a:noFill/>
          </a:ln>
        </p:spPr>
        <p:txBody>
          <a:bodyPr wrap="square" lIns="101600" tIns="0" rIns="101600" bIns="0" rtlCol="0" anchor="ctr">
            <a:noAutofit/>
          </a:bodyPr>
          <a:lstStyle/>
          <a:p>
            <a:pPr marL="0" indent="0" algn="ctr">
              <a:spcBef>
                <a:spcPts val="0"/>
              </a:spcBef>
              <a:spcAft>
                <a:spcPts val="0"/>
              </a:spcAft>
              <a:buNone/>
            </a:pPr>
            <a:r>
              <a:rPr lang="en-GB" sz="1600" b="1" dirty="0">
                <a:solidFill>
                  <a:srgbClr val="FFFFFF"/>
                </a:solidFill>
                <a:latin typeface="Anthropic Sans Text"/>
                <a:cs typeface="Anthropic Sans Text"/>
              </a:rPr>
              <a:t>Route to credentialing</a:t>
            </a:r>
            <a:endParaRPr lang="en-GB" sz="1600" dirty="0"/>
          </a:p>
        </p:txBody>
      </p:sp>
      <p:sp>
        <p:nvSpPr>
          <p:cNvPr id="111" name="Shape 111"/>
          <p:cNvSpPr txBox="1"/>
          <p:nvPr/>
        </p:nvSpPr>
        <p:spPr>
          <a:xfrm>
            <a:off x="685800" y="3937000"/>
            <a:ext cx="1778000" cy="711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300" b="1" spc="150" dirty="0">
                <a:solidFill>
                  <a:srgbClr val="52606D"/>
                </a:solidFill>
                <a:latin typeface="Anthropic Sans Text"/>
                <a:cs typeface="Anthropic Sans Text"/>
              </a:rPr>
              <a:t>CLOSE</a:t>
            </a:r>
            <a:endParaRPr lang="en-GB" sz="1300" dirty="0"/>
          </a:p>
        </p:txBody>
      </p:sp>
      <p:sp>
        <p:nvSpPr>
          <p:cNvPr id="112" name="Shape 112"/>
          <p:cNvSpPr/>
          <p:nvPr/>
        </p:nvSpPr>
        <p:spPr>
          <a:xfrm>
            <a:off x="685800" y="4902200"/>
            <a:ext cx="11049000" cy="9525"/>
          </a:xfrm>
          <a:prstGeom prst="rect">
            <a:avLst/>
          </a:prstGeom>
          <a:solidFill>
            <a:srgbClr val="E0E3E7"/>
          </a:solidFill>
          <a:ln>
            <a:noFill/>
          </a:ln>
        </p:spPr>
        <p:txBody>
          <a:bodyPr wrap="square" lIns="0" tIns="0" rIns="0" bIns="0" rtlCol="0" anchor="t">
            <a:noAutofit/>
          </a:bodyPr>
          <a:lstStyle/>
          <a:p>
            <a:endParaRPr lang="en-GB" dirty="0"/>
          </a:p>
        </p:txBody>
      </p:sp>
      <p:sp>
        <p:nvSpPr>
          <p:cNvPr id="113" name="Shape 113"/>
          <p:cNvSpPr/>
          <p:nvPr/>
        </p:nvSpPr>
        <p:spPr>
          <a:xfrm>
            <a:off x="2413000" y="3937000"/>
            <a:ext cx="2184400" cy="711200"/>
          </a:xfrm>
          <a:prstGeom prst="roundRect">
            <a:avLst>
              <a:gd name="adj" fmla="val 50000"/>
            </a:avLst>
          </a:prstGeom>
          <a:solidFill>
            <a:srgbClr val="E4572E"/>
          </a:solidFill>
          <a:ln>
            <a:noFill/>
          </a:ln>
        </p:spPr>
        <p:txBody>
          <a:bodyPr wrap="square" lIns="101600" tIns="0" rIns="101600" bIns="0" rtlCol="0" anchor="ctr">
            <a:noAutofit/>
          </a:bodyPr>
          <a:lstStyle/>
          <a:p>
            <a:pPr marL="0" indent="0" algn="ctr">
              <a:spcBef>
                <a:spcPts val="0"/>
              </a:spcBef>
              <a:spcAft>
                <a:spcPts val="0"/>
              </a:spcAft>
              <a:buNone/>
            </a:pPr>
            <a:r>
              <a:rPr lang="en-GB" sz="1600" b="1" dirty="0">
                <a:solidFill>
                  <a:srgbClr val="FFFFFF"/>
                </a:solidFill>
                <a:latin typeface="Anthropic Sans Text"/>
                <a:cs typeface="Anthropic Sans Text"/>
              </a:rPr>
              <a:t>Write off</a:t>
            </a:r>
            <a:endParaRPr lang="en-GB" sz="1600" dirty="0"/>
          </a:p>
        </p:txBody>
      </p:sp>
      <p:sp>
        <p:nvSpPr>
          <p:cNvPr id="114" name="Shape 114"/>
          <p:cNvSpPr/>
          <p:nvPr/>
        </p:nvSpPr>
        <p:spPr>
          <a:xfrm>
            <a:off x="4749800" y="3937000"/>
            <a:ext cx="2184400" cy="711200"/>
          </a:xfrm>
          <a:prstGeom prst="roundRect">
            <a:avLst>
              <a:gd name="adj" fmla="val 50000"/>
            </a:avLst>
          </a:prstGeom>
          <a:solidFill>
            <a:srgbClr val="52606D"/>
          </a:solidFill>
          <a:ln>
            <a:noFill/>
          </a:ln>
        </p:spPr>
        <p:txBody>
          <a:bodyPr wrap="square" lIns="101600" tIns="0" rIns="101600" bIns="0" rtlCol="0" anchor="ctr">
            <a:noAutofit/>
          </a:bodyPr>
          <a:lstStyle/>
          <a:p>
            <a:pPr marL="0" indent="0" algn="ctr">
              <a:spcBef>
                <a:spcPts val="0"/>
              </a:spcBef>
              <a:spcAft>
                <a:spcPts val="0"/>
              </a:spcAft>
              <a:buNone/>
            </a:pPr>
            <a:r>
              <a:rPr lang="en-GB" sz="1600" b="1" dirty="0">
                <a:solidFill>
                  <a:srgbClr val="FFFFFF"/>
                </a:solidFill>
                <a:latin typeface="Anthropic Sans Text"/>
                <a:cs typeface="Anthropic Sans Text"/>
              </a:rPr>
              <a:t>No action</a:t>
            </a:r>
            <a:endParaRPr lang="en-GB" sz="1600" dirty="0"/>
          </a:p>
        </p:txBody>
      </p:sp>
      <p:sp>
        <p:nvSpPr>
          <p:cNvPr id="115" name="Shape 115"/>
          <p:cNvSpPr/>
          <p:nvPr/>
        </p:nvSpPr>
        <p:spPr>
          <a:xfrm>
            <a:off x="685800" y="5207000"/>
            <a:ext cx="11049000" cy="889000"/>
          </a:xfrm>
          <a:prstGeom prst="rect">
            <a:avLst/>
          </a:prstGeom>
          <a:solidFill>
            <a:srgbClr val="0B1F3A"/>
          </a:solidFill>
          <a:ln>
            <a:noFill/>
          </a:ln>
        </p:spPr>
        <p:txBody>
          <a:bodyPr wrap="square" lIns="304800" tIns="0" rIns="304800" bIns="0" rtlCol="0" anchor="ctr">
            <a:noAutofit/>
          </a:bodyPr>
          <a:lstStyle/>
          <a:p>
            <a:pPr marL="0" indent="0" algn="l">
              <a:spcBef>
                <a:spcPts val="0"/>
              </a:spcBef>
              <a:spcAft>
                <a:spcPts val="0"/>
              </a:spcAft>
              <a:buNone/>
            </a:pPr>
            <a:r>
              <a:rPr lang="en-GB" sz="2600" b="1" dirty="0">
                <a:solidFill>
                  <a:srgbClr val="FFFFFF"/>
                </a:solidFill>
                <a:latin typeface="Anthropic Serif Web"/>
                <a:cs typeface="Anthropic Serif Web"/>
              </a:rPr>
              <a:t>One action, one owner, </a:t>
            </a:r>
            <a:r>
              <a:rPr lang="en-GB" sz="2600" b="1" dirty="0">
                <a:solidFill>
                  <a:srgbClr val="00A3C4"/>
                </a:solidFill>
                <a:latin typeface="Anthropic Serif Web"/>
                <a:cs typeface="Anthropic Serif Web"/>
              </a:rPr>
              <a:t>one deadline.</a:t>
            </a:r>
            <a:endParaRPr lang="en-GB" sz="2600" dirty="0"/>
          </a:p>
        </p:txBody>
      </p:sp>
    </p:spTree>
    <p:extLst>
      <p:ext uri="{BB962C8B-B14F-4D97-AF65-F5344CB8AC3E}">
        <p14:creationId xmlns:p14="http://schemas.microsoft.com/office/powerpoint/2010/main" val="25647544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2FC09-D702-0CFE-06B7-AA2B218BA9BE}"/>
              </a:ext>
            </a:extLst>
          </p:cNvPr>
          <p:cNvSpPr>
            <a:spLocks noGrp="1"/>
          </p:cNvSpPr>
          <p:nvPr>
            <p:ph type="title"/>
          </p:nvPr>
        </p:nvSpPr>
        <p:spPr/>
        <p:txBody>
          <a:bodyPr>
            <a:normAutofit fontScale="90000"/>
          </a:bodyPr>
          <a:lstStyle/>
          <a:p>
            <a:r>
              <a:rPr lang="en-GB" dirty="0"/>
              <a:t>Each decision card shows the cause, the action and the proof</a:t>
            </a:r>
          </a:p>
        </p:txBody>
      </p:sp>
      <p:sp>
        <p:nvSpPr>
          <p:cNvPr id="100" name="Shape 100"/>
          <p:cNvSpPr/>
          <p:nvPr/>
        </p:nvSpPr>
        <p:spPr>
          <a:xfrm>
            <a:off x="1701800" y="1447800"/>
            <a:ext cx="5334000" cy="4876800"/>
          </a:xfrm>
          <a:prstGeom prst="rect">
            <a:avLst/>
          </a:prstGeom>
          <a:solidFill>
            <a:srgbClr val="E5E8EC"/>
          </a:solidFill>
          <a:ln>
            <a:noFill/>
          </a:ln>
        </p:spPr>
        <p:txBody>
          <a:bodyPr wrap="square" lIns="0" tIns="0" rIns="0" bIns="0" rtlCol="0" anchor="t">
            <a:noAutofit/>
          </a:bodyPr>
          <a:lstStyle/>
          <a:p>
            <a:endParaRPr lang="en-GB" dirty="0"/>
          </a:p>
        </p:txBody>
      </p:sp>
      <p:sp>
        <p:nvSpPr>
          <p:cNvPr id="101" name="Shape 101"/>
          <p:cNvSpPr/>
          <p:nvPr/>
        </p:nvSpPr>
        <p:spPr>
          <a:xfrm>
            <a:off x="1651000" y="1397000"/>
            <a:ext cx="5334000" cy="4876800"/>
          </a:xfrm>
          <a:prstGeom prst="rect">
            <a:avLst/>
          </a:prstGeom>
          <a:solidFill>
            <a:srgbClr val="FFFFFF"/>
          </a:solidFill>
          <a:ln w="12700">
            <a:solidFill>
              <a:srgbClr val="D5DAE0"/>
            </a:solidFill>
          </a:ln>
        </p:spPr>
        <p:txBody>
          <a:bodyPr wrap="square" lIns="0" tIns="0" rIns="0" bIns="0" rtlCol="0" anchor="t">
            <a:noAutofit/>
          </a:bodyPr>
          <a:lstStyle/>
          <a:p>
            <a:endParaRPr lang="en-GB" dirty="0"/>
          </a:p>
        </p:txBody>
      </p:sp>
      <p:sp>
        <p:nvSpPr>
          <p:cNvPr id="102" name="Shape 102"/>
          <p:cNvSpPr/>
          <p:nvPr/>
        </p:nvSpPr>
        <p:spPr>
          <a:xfrm>
            <a:off x="1651000" y="1397000"/>
            <a:ext cx="5334000" cy="508000"/>
          </a:xfrm>
          <a:prstGeom prst="rect">
            <a:avLst/>
          </a:prstGeom>
          <a:solidFill>
            <a:srgbClr val="0B1F3A"/>
          </a:solidFill>
          <a:ln>
            <a:noFill/>
          </a:ln>
        </p:spPr>
        <p:txBody>
          <a:bodyPr wrap="square" lIns="228600" tIns="0" rIns="152400" bIns="0" rtlCol="0" anchor="ctr">
            <a:noAutofit/>
          </a:bodyPr>
          <a:lstStyle/>
          <a:p>
            <a:pPr marL="0" indent="0" algn="l">
              <a:spcBef>
                <a:spcPts val="0"/>
              </a:spcBef>
              <a:spcAft>
                <a:spcPts val="0"/>
              </a:spcAft>
              <a:buNone/>
            </a:pPr>
            <a:r>
              <a:rPr lang="en-GB" sz="1300" b="1" dirty="0">
                <a:solidFill>
                  <a:srgbClr val="FFFFFF"/>
                </a:solidFill>
                <a:latin typeface="Anthropic Mono"/>
                <a:cs typeface="Anthropic Mono"/>
              </a:rPr>
              <a:t>Claim PRH-10877</a:t>
            </a:r>
            <a:r>
              <a:rPr lang="en-GB" sz="1300" b="0" dirty="0">
                <a:solidFill>
                  <a:srgbClr val="9FB3C8"/>
                </a:solidFill>
                <a:latin typeface="Anthropic Mono"/>
                <a:cs typeface="Anthropic Mono"/>
              </a:rPr>
              <a:t>  ·  CO-197  ·  </a:t>
            </a:r>
            <a:r>
              <a:rPr lang="en-GB" sz="1300" b="1" dirty="0">
                <a:solidFill>
                  <a:srgbClr val="FFFFFF"/>
                </a:solidFill>
                <a:latin typeface="Anthropic Mono"/>
                <a:cs typeface="Anthropic Mono"/>
              </a:rPr>
              <a:t>$2,840</a:t>
            </a:r>
            <a:endParaRPr lang="en-GB" sz="1300" dirty="0"/>
          </a:p>
        </p:txBody>
      </p:sp>
      <p:sp>
        <p:nvSpPr>
          <p:cNvPr id="103" name="Shape 103"/>
          <p:cNvSpPr txBox="1"/>
          <p:nvPr/>
        </p:nvSpPr>
        <p:spPr>
          <a:xfrm>
            <a:off x="1879600" y="2032000"/>
            <a:ext cx="2540000" cy="1524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900" b="1" spc="120" dirty="0">
                <a:solidFill>
                  <a:srgbClr val="52606D"/>
                </a:solidFill>
                <a:latin typeface="Anthropic Sans Text"/>
                <a:cs typeface="Anthropic Sans Text"/>
              </a:rPr>
              <a:t>ROOT CAUSE</a:t>
            </a:r>
            <a:endParaRPr lang="en-GB" sz="900" dirty="0"/>
          </a:p>
        </p:txBody>
      </p:sp>
      <p:sp>
        <p:nvSpPr>
          <p:cNvPr id="104" name="Shape 104"/>
          <p:cNvSpPr txBox="1"/>
          <p:nvPr/>
        </p:nvSpPr>
        <p:spPr>
          <a:xfrm>
            <a:off x="1879600" y="2197100"/>
            <a:ext cx="4876800" cy="2540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300" b="1" dirty="0">
                <a:solidFill>
                  <a:srgbClr val="1F2933"/>
                </a:solidFill>
                <a:latin typeface="Anthropic Sans Text"/>
                <a:cs typeface="Anthropic Sans Text"/>
              </a:rPr>
              <a:t>Authorisation on file, but not on the claim</a:t>
            </a:r>
            <a:endParaRPr lang="en-GB" sz="1300" dirty="0"/>
          </a:p>
        </p:txBody>
      </p:sp>
      <p:sp>
        <p:nvSpPr>
          <p:cNvPr id="105" name="Shape 105"/>
          <p:cNvSpPr/>
          <p:nvPr/>
        </p:nvSpPr>
        <p:spPr>
          <a:xfrm>
            <a:off x="1270000" y="2019300"/>
            <a:ext cx="254000" cy="254000"/>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GB" sz="1100" b="1" dirty="0">
                <a:solidFill>
                  <a:srgbClr val="FFFFFF"/>
                </a:solidFill>
                <a:latin typeface="Anthropic Sans Text"/>
                <a:cs typeface="Anthropic Sans Text"/>
              </a:rPr>
              <a:t>1</a:t>
            </a:r>
            <a:endParaRPr lang="en-GB" sz="1100" dirty="0"/>
          </a:p>
        </p:txBody>
      </p:sp>
      <p:sp>
        <p:nvSpPr>
          <p:cNvPr id="106" name="Shape 106"/>
          <p:cNvSpPr txBox="1"/>
          <p:nvPr/>
        </p:nvSpPr>
        <p:spPr>
          <a:xfrm>
            <a:off x="1879600" y="2590800"/>
            <a:ext cx="2540000" cy="1524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900" b="1" spc="120" dirty="0">
                <a:solidFill>
                  <a:srgbClr val="52606D"/>
                </a:solidFill>
                <a:latin typeface="Anthropic Sans Text"/>
                <a:cs typeface="Anthropic Sans Text"/>
              </a:rPr>
              <a:t>RECOMMENDED ACTION</a:t>
            </a:r>
            <a:endParaRPr lang="en-GB" sz="900" dirty="0"/>
          </a:p>
        </p:txBody>
      </p:sp>
      <p:sp>
        <p:nvSpPr>
          <p:cNvPr id="107" name="Shape 107"/>
          <p:cNvSpPr/>
          <p:nvPr/>
        </p:nvSpPr>
        <p:spPr>
          <a:xfrm>
            <a:off x="1270000" y="2578100"/>
            <a:ext cx="254000" cy="254000"/>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GB" sz="1100" b="1" dirty="0">
                <a:solidFill>
                  <a:srgbClr val="FFFFFF"/>
                </a:solidFill>
                <a:latin typeface="Anthropic Sans Text"/>
                <a:cs typeface="Anthropic Sans Text"/>
              </a:rPr>
              <a:t>2</a:t>
            </a:r>
            <a:endParaRPr lang="en-GB" sz="1100" dirty="0"/>
          </a:p>
        </p:txBody>
      </p:sp>
      <p:sp>
        <p:nvSpPr>
          <p:cNvPr id="108" name="Shape 108"/>
          <p:cNvSpPr/>
          <p:nvPr/>
        </p:nvSpPr>
        <p:spPr>
          <a:xfrm>
            <a:off x="1879600" y="2768600"/>
            <a:ext cx="1905000" cy="304800"/>
          </a:xfrm>
          <a:prstGeom prst="roundRect">
            <a:avLst>
              <a:gd name="adj" fmla="val 50000"/>
            </a:avLst>
          </a:prstGeom>
          <a:solidFill>
            <a:srgbClr val="2E9E6A"/>
          </a:solidFill>
          <a:ln>
            <a:noFill/>
          </a:ln>
        </p:spPr>
        <p:txBody>
          <a:bodyPr wrap="square" lIns="0" tIns="0" rIns="0" bIns="0" rtlCol="0" anchor="ctr">
            <a:noAutofit/>
          </a:bodyPr>
          <a:lstStyle/>
          <a:p>
            <a:pPr marL="0" indent="0" algn="ctr">
              <a:spcBef>
                <a:spcPts val="0"/>
              </a:spcBef>
              <a:spcAft>
                <a:spcPts val="0"/>
              </a:spcAft>
              <a:buNone/>
            </a:pPr>
            <a:r>
              <a:rPr lang="en-GB" sz="1200" b="1" dirty="0">
                <a:solidFill>
                  <a:srgbClr val="FFFFFF"/>
                </a:solidFill>
                <a:latin typeface="Anthropic Sans Text"/>
                <a:cs typeface="Anthropic Sans Text"/>
              </a:rPr>
              <a:t>Appeal with auth</a:t>
            </a:r>
            <a:endParaRPr lang="en-GB" sz="1200" dirty="0"/>
          </a:p>
        </p:txBody>
      </p:sp>
      <p:sp>
        <p:nvSpPr>
          <p:cNvPr id="109" name="Shape 109"/>
          <p:cNvSpPr/>
          <p:nvPr/>
        </p:nvSpPr>
        <p:spPr>
          <a:xfrm>
            <a:off x="5105400" y="2768600"/>
            <a:ext cx="1651000" cy="304800"/>
          </a:xfrm>
          <a:prstGeom prst="roundRect">
            <a:avLst>
              <a:gd name="adj" fmla="val 50000"/>
            </a:avLst>
          </a:prstGeom>
          <a:solidFill>
            <a:srgbClr val="FDF3E2"/>
          </a:solidFill>
          <a:ln w="12700">
            <a:solidFill>
              <a:srgbClr val="F2A541"/>
            </a:solidFill>
          </a:ln>
        </p:spPr>
        <p:txBody>
          <a:bodyPr wrap="square" lIns="0" tIns="0" rIns="0" bIns="0" rtlCol="0" anchor="ctr">
            <a:noAutofit/>
          </a:bodyPr>
          <a:lstStyle/>
          <a:p>
            <a:pPr marL="0" indent="0" algn="ctr">
              <a:spcBef>
                <a:spcPts val="0"/>
              </a:spcBef>
              <a:spcAft>
                <a:spcPts val="0"/>
              </a:spcAft>
              <a:buNone/>
            </a:pPr>
            <a:r>
              <a:rPr lang="en-GB" sz="1200" b="1" dirty="0">
                <a:solidFill>
                  <a:srgbClr val="B26A0E"/>
                </a:solidFill>
                <a:latin typeface="Anthropic Mono"/>
                <a:cs typeface="Anthropic Mono"/>
              </a:rPr>
              <a:t>12 days</a:t>
            </a:r>
            <a:r>
              <a:rPr lang="en-GB" sz="1200" b="0" dirty="0">
                <a:solidFill>
                  <a:srgbClr val="B26A0E"/>
                </a:solidFill>
                <a:latin typeface="Anthropic Sans Text"/>
                <a:cs typeface="Anthropic Sans Text"/>
              </a:rPr>
              <a:t> left</a:t>
            </a:r>
            <a:endParaRPr lang="en-GB" sz="1200" dirty="0"/>
          </a:p>
        </p:txBody>
      </p:sp>
      <p:sp>
        <p:nvSpPr>
          <p:cNvPr id="110" name="Shape 110"/>
          <p:cNvSpPr/>
          <p:nvPr/>
        </p:nvSpPr>
        <p:spPr>
          <a:xfrm>
            <a:off x="7086600" y="2806700"/>
            <a:ext cx="254000" cy="254000"/>
          </a:xfrm>
          <a:prstGeom prst="ellipse">
            <a:avLst/>
          </a:prstGeom>
          <a:solidFill>
            <a:srgbClr val="F2A541"/>
          </a:solidFill>
          <a:ln>
            <a:noFill/>
          </a:ln>
        </p:spPr>
        <p:txBody>
          <a:bodyPr wrap="square" lIns="0" tIns="0" rIns="0" bIns="0" rtlCol="0" anchor="ctr">
            <a:noAutofit/>
          </a:bodyPr>
          <a:lstStyle/>
          <a:p>
            <a:pPr marL="0" indent="0" algn="ctr">
              <a:spcBef>
                <a:spcPts val="0"/>
              </a:spcBef>
              <a:spcAft>
                <a:spcPts val="0"/>
              </a:spcAft>
              <a:buNone/>
            </a:pPr>
            <a:r>
              <a:rPr lang="en-GB" sz="1100" b="1" dirty="0">
                <a:solidFill>
                  <a:srgbClr val="FFFFFF"/>
                </a:solidFill>
                <a:latin typeface="Anthropic Sans Text"/>
                <a:cs typeface="Anthropic Sans Text"/>
              </a:rPr>
              <a:t>5</a:t>
            </a:r>
            <a:endParaRPr lang="en-GB" sz="1100" dirty="0"/>
          </a:p>
        </p:txBody>
      </p:sp>
      <p:sp>
        <p:nvSpPr>
          <p:cNvPr id="111" name="Shape 111"/>
          <p:cNvSpPr txBox="1"/>
          <p:nvPr/>
        </p:nvSpPr>
        <p:spPr>
          <a:xfrm>
            <a:off x="1879600" y="3225800"/>
            <a:ext cx="2540000" cy="1524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900" b="1" spc="120" dirty="0">
                <a:solidFill>
                  <a:srgbClr val="52606D"/>
                </a:solidFill>
                <a:latin typeface="Anthropic Sans Text"/>
                <a:cs typeface="Anthropic Sans Text"/>
              </a:rPr>
              <a:t>STEPS</a:t>
            </a:r>
            <a:endParaRPr lang="en-GB" sz="900" dirty="0"/>
          </a:p>
        </p:txBody>
      </p:sp>
      <p:sp>
        <p:nvSpPr>
          <p:cNvPr id="112" name="Shape 112"/>
          <p:cNvSpPr/>
          <p:nvPr/>
        </p:nvSpPr>
        <p:spPr>
          <a:xfrm>
            <a:off x="1270000" y="3213100"/>
            <a:ext cx="254000" cy="254000"/>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GB" sz="1100" b="1" dirty="0">
                <a:solidFill>
                  <a:srgbClr val="FFFFFF"/>
                </a:solidFill>
                <a:latin typeface="Anthropic Sans Text"/>
                <a:cs typeface="Anthropic Sans Text"/>
              </a:rPr>
              <a:t>3</a:t>
            </a:r>
            <a:endParaRPr lang="en-GB" sz="1100" dirty="0"/>
          </a:p>
        </p:txBody>
      </p:sp>
      <p:sp>
        <p:nvSpPr>
          <p:cNvPr id="113" name="Shape 113"/>
          <p:cNvSpPr txBox="1"/>
          <p:nvPr/>
        </p:nvSpPr>
        <p:spPr>
          <a:xfrm>
            <a:off x="1879600" y="3390900"/>
            <a:ext cx="4876800" cy="635000"/>
          </a:xfrm>
          <a:prstGeom prst="rect">
            <a:avLst/>
          </a:prstGeom>
          <a:noFill/>
          <a:ln>
            <a:noFill/>
          </a:ln>
        </p:spPr>
        <p:txBody>
          <a:bodyPr wrap="square" lIns="0" tIns="0" rIns="0" bIns="0" rtlCol="0" anchor="t">
            <a:noAutofit/>
          </a:bodyPr>
          <a:lstStyle/>
          <a:p>
            <a:pPr marL="0" indent="0" algn="l">
              <a:spcBef>
                <a:spcPts val="0"/>
              </a:spcBef>
              <a:spcAft>
                <a:spcPts val="100"/>
              </a:spcAft>
              <a:buNone/>
            </a:pPr>
            <a:r>
              <a:rPr lang="en-GB" sz="1200" b="0" dirty="0">
                <a:solidFill>
                  <a:srgbClr val="1F2933"/>
                </a:solidFill>
                <a:latin typeface="Anthropic Sans Text"/>
                <a:cs typeface="Anthropic Sans Text"/>
              </a:rPr>
              <a:t>1  Attach prior auth to claim</a:t>
            </a:r>
            <a:endParaRPr lang="en-GB" sz="1200" dirty="0"/>
          </a:p>
          <a:p>
            <a:pPr marL="0" indent="0" algn="l">
              <a:spcBef>
                <a:spcPts val="0"/>
              </a:spcBef>
              <a:spcAft>
                <a:spcPts val="100"/>
              </a:spcAft>
              <a:buNone/>
            </a:pPr>
            <a:r>
              <a:rPr lang="en-GB" sz="1200" b="0" dirty="0">
                <a:solidFill>
                  <a:srgbClr val="1F2933"/>
                </a:solidFill>
                <a:latin typeface="Anthropic Sans Text"/>
                <a:cs typeface="Anthropic Sans Text"/>
              </a:rPr>
              <a:t>2  Cite payer auth policy</a:t>
            </a:r>
            <a:endParaRPr lang="en-GB" sz="1200" dirty="0"/>
          </a:p>
          <a:p>
            <a:pPr marL="0" indent="0" algn="l">
              <a:spcBef>
                <a:spcPts val="0"/>
              </a:spcBef>
              <a:spcAft>
                <a:spcPts val="100"/>
              </a:spcAft>
              <a:buNone/>
            </a:pPr>
            <a:r>
              <a:rPr lang="en-GB" sz="1200" b="0" dirty="0">
                <a:solidFill>
                  <a:srgbClr val="1F2933"/>
                </a:solidFill>
                <a:latin typeface="Anthropic Sans Text"/>
                <a:cs typeface="Anthropic Sans Text"/>
              </a:rPr>
              <a:t>3  Submit appeal</a:t>
            </a:r>
            <a:endParaRPr lang="en-GB" sz="1200" dirty="0"/>
          </a:p>
        </p:txBody>
      </p:sp>
      <p:sp>
        <p:nvSpPr>
          <p:cNvPr id="114" name="Shape 114"/>
          <p:cNvSpPr txBox="1"/>
          <p:nvPr/>
        </p:nvSpPr>
        <p:spPr>
          <a:xfrm>
            <a:off x="1879600" y="4114800"/>
            <a:ext cx="2540000" cy="1524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900" b="1" spc="120" dirty="0">
                <a:solidFill>
                  <a:srgbClr val="52606D"/>
                </a:solidFill>
                <a:latin typeface="Anthropic Sans Text"/>
                <a:cs typeface="Anthropic Sans Text"/>
              </a:rPr>
              <a:t>DOCUMENTS NEEDED</a:t>
            </a:r>
            <a:endParaRPr lang="en-GB" sz="900" dirty="0"/>
          </a:p>
        </p:txBody>
      </p:sp>
      <p:sp>
        <p:nvSpPr>
          <p:cNvPr id="115" name="Shape 115"/>
          <p:cNvSpPr/>
          <p:nvPr/>
        </p:nvSpPr>
        <p:spPr>
          <a:xfrm>
            <a:off x="1270000" y="4102100"/>
            <a:ext cx="254000" cy="254000"/>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GB" sz="1100" b="1" dirty="0">
                <a:solidFill>
                  <a:srgbClr val="FFFFFF"/>
                </a:solidFill>
                <a:latin typeface="Anthropic Sans Text"/>
                <a:cs typeface="Anthropic Sans Text"/>
              </a:rPr>
              <a:t>4</a:t>
            </a:r>
            <a:endParaRPr lang="en-GB" sz="1100" dirty="0"/>
          </a:p>
        </p:txBody>
      </p:sp>
      <p:sp>
        <p:nvSpPr>
          <p:cNvPr id="116" name="Shape 116"/>
          <p:cNvSpPr/>
          <p:nvPr/>
        </p:nvSpPr>
        <p:spPr>
          <a:xfrm>
            <a:off x="1879600" y="4292600"/>
            <a:ext cx="1524000" cy="279400"/>
          </a:xfrm>
          <a:prstGeom prst="roundRect">
            <a:avLst>
              <a:gd name="adj" fmla="val 30000"/>
            </a:avLst>
          </a:prstGeom>
          <a:solidFill>
            <a:srgbClr val="F3F4F6"/>
          </a:solidFill>
          <a:ln w="12700">
            <a:solidFill>
              <a:srgbClr val="D5DAE0"/>
            </a:solidFill>
          </a:ln>
        </p:spPr>
        <p:txBody>
          <a:bodyPr wrap="square" lIns="0" tIns="0" rIns="0" bIns="0" rtlCol="0" anchor="ctr">
            <a:noAutofit/>
          </a:bodyPr>
          <a:lstStyle/>
          <a:p>
            <a:pPr marL="0" indent="0" algn="ctr">
              <a:spcBef>
                <a:spcPts val="0"/>
              </a:spcBef>
              <a:spcAft>
                <a:spcPts val="0"/>
              </a:spcAft>
              <a:buNone/>
            </a:pPr>
            <a:r>
              <a:rPr lang="en-GB" sz="1100" b="0" dirty="0">
                <a:solidFill>
                  <a:srgbClr val="1F2933"/>
                </a:solidFill>
                <a:latin typeface="Anthropic Sans Text"/>
                <a:cs typeface="Anthropic Sans Text"/>
              </a:rPr>
              <a:t>Prior auth letter</a:t>
            </a:r>
            <a:endParaRPr lang="en-GB" sz="1100" dirty="0"/>
          </a:p>
        </p:txBody>
      </p:sp>
      <p:sp>
        <p:nvSpPr>
          <p:cNvPr id="117" name="Shape 117"/>
          <p:cNvSpPr/>
          <p:nvPr/>
        </p:nvSpPr>
        <p:spPr>
          <a:xfrm>
            <a:off x="3505200" y="4292600"/>
            <a:ext cx="1524000" cy="279400"/>
          </a:xfrm>
          <a:prstGeom prst="roundRect">
            <a:avLst>
              <a:gd name="adj" fmla="val 30000"/>
            </a:avLst>
          </a:prstGeom>
          <a:solidFill>
            <a:srgbClr val="F3F4F6"/>
          </a:solidFill>
          <a:ln w="12700">
            <a:solidFill>
              <a:srgbClr val="D5DAE0"/>
            </a:solidFill>
          </a:ln>
        </p:spPr>
        <p:txBody>
          <a:bodyPr wrap="square" lIns="0" tIns="0" rIns="0" bIns="0" rtlCol="0" anchor="ctr">
            <a:noAutofit/>
          </a:bodyPr>
          <a:lstStyle/>
          <a:p>
            <a:pPr marL="0" indent="0" algn="ctr">
              <a:spcBef>
                <a:spcPts val="0"/>
              </a:spcBef>
              <a:spcAft>
                <a:spcPts val="0"/>
              </a:spcAft>
              <a:buNone/>
            </a:pPr>
            <a:r>
              <a:rPr lang="en-GB" sz="1100" b="0" dirty="0">
                <a:solidFill>
                  <a:srgbClr val="1F2933"/>
                </a:solidFill>
                <a:latin typeface="Anthropic Sans Text"/>
                <a:cs typeface="Anthropic Sans Text"/>
              </a:rPr>
              <a:t>Operative note</a:t>
            </a:r>
            <a:endParaRPr lang="en-GB" sz="1100" dirty="0"/>
          </a:p>
        </p:txBody>
      </p:sp>
      <p:sp>
        <p:nvSpPr>
          <p:cNvPr id="118" name="Shape 118"/>
          <p:cNvSpPr txBox="1"/>
          <p:nvPr/>
        </p:nvSpPr>
        <p:spPr>
          <a:xfrm>
            <a:off x="1879600" y="4699000"/>
            <a:ext cx="2540000" cy="1524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900" b="1" spc="120" dirty="0">
                <a:solidFill>
                  <a:srgbClr val="52606D"/>
                </a:solidFill>
                <a:latin typeface="Anthropic Sans Text"/>
                <a:cs typeface="Anthropic Sans Text"/>
              </a:rPr>
              <a:t>POLICY CITATIONS</a:t>
            </a:r>
            <a:endParaRPr lang="en-GB" sz="900" dirty="0"/>
          </a:p>
        </p:txBody>
      </p:sp>
      <p:sp>
        <p:nvSpPr>
          <p:cNvPr id="119" name="Shape 119"/>
          <p:cNvSpPr/>
          <p:nvPr/>
        </p:nvSpPr>
        <p:spPr>
          <a:xfrm>
            <a:off x="1270000" y="4686300"/>
            <a:ext cx="254000" cy="254000"/>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GB" sz="1100" b="1" dirty="0">
                <a:solidFill>
                  <a:srgbClr val="FFFFFF"/>
                </a:solidFill>
                <a:latin typeface="Anthropic Sans Text"/>
                <a:cs typeface="Anthropic Sans Text"/>
              </a:rPr>
              <a:t>6</a:t>
            </a:r>
            <a:endParaRPr lang="en-GB" sz="1100" dirty="0"/>
          </a:p>
        </p:txBody>
      </p:sp>
      <p:sp>
        <p:nvSpPr>
          <p:cNvPr id="120" name="Shape 120"/>
          <p:cNvSpPr txBox="1"/>
          <p:nvPr/>
        </p:nvSpPr>
        <p:spPr>
          <a:xfrm>
            <a:off x="1879600" y="4864100"/>
            <a:ext cx="4876800" cy="2032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100" b="0" dirty="0">
                <a:solidFill>
                  <a:srgbClr val="1F4E8C"/>
                </a:solidFill>
                <a:latin typeface="Anthropic Mono"/>
                <a:cs typeface="Anthropic Mono"/>
              </a:rPr>
              <a:t>Payer auth policy §4.2</a:t>
            </a:r>
            <a:endParaRPr lang="en-GB" sz="1100" dirty="0"/>
          </a:p>
        </p:txBody>
      </p:sp>
      <p:sp>
        <p:nvSpPr>
          <p:cNvPr id="121" name="Shape 121"/>
          <p:cNvSpPr txBox="1"/>
          <p:nvPr/>
        </p:nvSpPr>
        <p:spPr>
          <a:xfrm>
            <a:off x="1879600" y="5181600"/>
            <a:ext cx="2540000" cy="1524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900" b="1" spc="120" dirty="0">
                <a:solidFill>
                  <a:srgbClr val="52606D"/>
                </a:solidFill>
                <a:latin typeface="Anthropic Sans Text"/>
                <a:cs typeface="Anthropic Sans Text"/>
              </a:rPr>
              <a:t>CONFIDENCE</a:t>
            </a:r>
            <a:endParaRPr lang="en-GB" sz="900" dirty="0"/>
          </a:p>
        </p:txBody>
      </p:sp>
      <p:sp>
        <p:nvSpPr>
          <p:cNvPr id="122" name="Shape 122"/>
          <p:cNvSpPr/>
          <p:nvPr/>
        </p:nvSpPr>
        <p:spPr>
          <a:xfrm>
            <a:off x="1270000" y="5168900"/>
            <a:ext cx="254000" cy="254000"/>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GB" sz="1100" b="1" dirty="0">
                <a:solidFill>
                  <a:srgbClr val="FFFFFF"/>
                </a:solidFill>
                <a:latin typeface="Anthropic Sans Text"/>
                <a:cs typeface="Anthropic Sans Text"/>
              </a:rPr>
              <a:t>7</a:t>
            </a:r>
            <a:endParaRPr lang="en-GB" sz="1100" dirty="0"/>
          </a:p>
        </p:txBody>
      </p:sp>
      <p:sp>
        <p:nvSpPr>
          <p:cNvPr id="123" name="Shape 123"/>
          <p:cNvSpPr/>
          <p:nvPr/>
        </p:nvSpPr>
        <p:spPr>
          <a:xfrm>
            <a:off x="1879600" y="5384800"/>
            <a:ext cx="4241800" cy="101600"/>
          </a:xfrm>
          <a:prstGeom prst="roundRect">
            <a:avLst>
              <a:gd name="adj" fmla="val 50000"/>
            </a:avLst>
          </a:prstGeom>
          <a:solidFill>
            <a:srgbClr val="F3F4F6"/>
          </a:solidFill>
          <a:ln>
            <a:noFill/>
          </a:ln>
        </p:spPr>
        <p:txBody>
          <a:bodyPr wrap="square" lIns="0" tIns="0" rIns="0" bIns="0" rtlCol="0" anchor="t">
            <a:noAutofit/>
          </a:bodyPr>
          <a:lstStyle/>
          <a:p>
            <a:endParaRPr lang="en-GB" dirty="0"/>
          </a:p>
        </p:txBody>
      </p:sp>
      <p:sp>
        <p:nvSpPr>
          <p:cNvPr id="124" name="Shape 124"/>
          <p:cNvSpPr/>
          <p:nvPr/>
        </p:nvSpPr>
        <p:spPr>
          <a:xfrm>
            <a:off x="1879600" y="5384800"/>
            <a:ext cx="3902456" cy="101600"/>
          </a:xfrm>
          <a:prstGeom prst="roundRect">
            <a:avLst>
              <a:gd name="adj" fmla="val 50000"/>
            </a:avLst>
          </a:prstGeom>
          <a:solidFill>
            <a:srgbClr val="00A3C4"/>
          </a:solidFill>
          <a:ln>
            <a:noFill/>
          </a:ln>
        </p:spPr>
        <p:txBody>
          <a:bodyPr wrap="square" lIns="0" tIns="0" rIns="0" bIns="0" rtlCol="0" anchor="t">
            <a:noAutofit/>
          </a:bodyPr>
          <a:lstStyle/>
          <a:p>
            <a:endParaRPr lang="en-GB" dirty="0"/>
          </a:p>
        </p:txBody>
      </p:sp>
      <p:sp>
        <p:nvSpPr>
          <p:cNvPr id="125" name="Shape 125"/>
          <p:cNvSpPr txBox="1"/>
          <p:nvPr/>
        </p:nvSpPr>
        <p:spPr>
          <a:xfrm>
            <a:off x="6197600" y="5321300"/>
            <a:ext cx="558800" cy="228600"/>
          </a:xfrm>
          <a:prstGeom prst="rect">
            <a:avLst/>
          </a:prstGeom>
          <a:noFill/>
          <a:ln>
            <a:noFill/>
          </a:ln>
        </p:spPr>
        <p:txBody>
          <a:bodyPr wrap="square" lIns="0" tIns="0" rIns="0" bIns="0" rtlCol="0" anchor="t">
            <a:noAutofit/>
          </a:bodyPr>
          <a:lstStyle/>
          <a:p>
            <a:pPr marL="0" indent="0" algn="r">
              <a:spcBef>
                <a:spcPts val="0"/>
              </a:spcBef>
              <a:spcAft>
                <a:spcPts val="0"/>
              </a:spcAft>
              <a:buNone/>
            </a:pPr>
            <a:r>
              <a:rPr lang="en-GB" sz="1200" b="1" dirty="0">
                <a:solidFill>
                  <a:srgbClr val="0B1F3A"/>
                </a:solidFill>
                <a:latin typeface="Anthropic Mono"/>
                <a:cs typeface="Anthropic Mono"/>
              </a:rPr>
              <a:t>92%</a:t>
            </a:r>
            <a:endParaRPr lang="en-GB" sz="1200" dirty="0"/>
          </a:p>
        </p:txBody>
      </p:sp>
      <p:sp>
        <p:nvSpPr>
          <p:cNvPr id="126" name="Shape 126"/>
          <p:cNvSpPr/>
          <p:nvPr/>
        </p:nvSpPr>
        <p:spPr>
          <a:xfrm>
            <a:off x="1270000" y="5753100"/>
            <a:ext cx="254000" cy="254000"/>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GB" sz="1100" b="1" dirty="0">
                <a:solidFill>
                  <a:srgbClr val="FFFFFF"/>
                </a:solidFill>
                <a:latin typeface="Anthropic Sans Text"/>
                <a:cs typeface="Anthropic Sans Text"/>
              </a:rPr>
              <a:t>8</a:t>
            </a:r>
            <a:endParaRPr lang="en-GB" sz="1100" dirty="0"/>
          </a:p>
        </p:txBody>
      </p:sp>
      <p:sp>
        <p:nvSpPr>
          <p:cNvPr id="127" name="Shape 127"/>
          <p:cNvSpPr/>
          <p:nvPr/>
        </p:nvSpPr>
        <p:spPr>
          <a:xfrm>
            <a:off x="1879600" y="5715000"/>
            <a:ext cx="1524000" cy="381000"/>
          </a:xfrm>
          <a:prstGeom prst="roundRect">
            <a:avLst>
              <a:gd name="adj" fmla="val 20000"/>
            </a:avLst>
          </a:prstGeom>
          <a:solidFill>
            <a:srgbClr val="2E9E6A"/>
          </a:solidFill>
          <a:ln>
            <a:noFill/>
          </a:ln>
        </p:spPr>
        <p:txBody>
          <a:bodyPr wrap="square" lIns="0" tIns="0" rIns="0" bIns="0" rtlCol="0" anchor="ctr">
            <a:noAutofit/>
          </a:bodyPr>
          <a:lstStyle/>
          <a:p>
            <a:pPr marL="0" indent="0" algn="ctr">
              <a:spcBef>
                <a:spcPts val="0"/>
              </a:spcBef>
              <a:spcAft>
                <a:spcPts val="0"/>
              </a:spcAft>
              <a:buNone/>
            </a:pPr>
            <a:r>
              <a:rPr lang="en-GB" sz="1300" b="1" dirty="0">
                <a:solidFill>
                  <a:srgbClr val="FFFFFF"/>
                </a:solidFill>
                <a:latin typeface="Anthropic Sans Text"/>
                <a:cs typeface="Anthropic Sans Text"/>
              </a:rPr>
              <a:t>Approve</a:t>
            </a:r>
            <a:endParaRPr lang="en-GB" sz="1300" dirty="0"/>
          </a:p>
        </p:txBody>
      </p:sp>
      <p:sp>
        <p:nvSpPr>
          <p:cNvPr id="128" name="Shape 128"/>
          <p:cNvSpPr/>
          <p:nvPr/>
        </p:nvSpPr>
        <p:spPr>
          <a:xfrm>
            <a:off x="3530600" y="5715000"/>
            <a:ext cx="1524000" cy="381000"/>
          </a:xfrm>
          <a:prstGeom prst="roundRect">
            <a:avLst>
              <a:gd name="adj" fmla="val 20000"/>
            </a:avLst>
          </a:prstGeom>
          <a:noFill/>
          <a:ln w="12700">
            <a:solidFill>
              <a:srgbClr val="52606D"/>
            </a:solidFill>
          </a:ln>
        </p:spPr>
        <p:txBody>
          <a:bodyPr wrap="square" lIns="0" tIns="0" rIns="0" bIns="0" rtlCol="0" anchor="ctr">
            <a:noAutofit/>
          </a:bodyPr>
          <a:lstStyle/>
          <a:p>
            <a:pPr marL="0" indent="0" algn="ctr">
              <a:spcBef>
                <a:spcPts val="0"/>
              </a:spcBef>
              <a:spcAft>
                <a:spcPts val="0"/>
              </a:spcAft>
              <a:buNone/>
            </a:pPr>
            <a:r>
              <a:rPr lang="en-GB" sz="1300" b="1" dirty="0">
                <a:solidFill>
                  <a:srgbClr val="52606D"/>
                </a:solidFill>
                <a:latin typeface="Anthropic Sans Text"/>
                <a:cs typeface="Anthropic Sans Text"/>
              </a:rPr>
              <a:t>Override</a:t>
            </a:r>
            <a:endParaRPr lang="en-GB" sz="1300" dirty="0"/>
          </a:p>
        </p:txBody>
      </p:sp>
      <p:sp>
        <p:nvSpPr>
          <p:cNvPr id="129" name="Shape 129"/>
          <p:cNvSpPr/>
          <p:nvPr/>
        </p:nvSpPr>
        <p:spPr>
          <a:xfrm>
            <a:off x="7874000" y="1549400"/>
            <a:ext cx="355600" cy="355600"/>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GB" sz="1300" b="1" dirty="0">
                <a:solidFill>
                  <a:srgbClr val="FFFFFF"/>
                </a:solidFill>
                <a:latin typeface="Anthropic Sans Text"/>
                <a:cs typeface="Anthropic Sans Text"/>
              </a:rPr>
              <a:t>1</a:t>
            </a:r>
            <a:endParaRPr lang="en-GB" sz="1300" dirty="0"/>
          </a:p>
        </p:txBody>
      </p:sp>
      <p:sp>
        <p:nvSpPr>
          <p:cNvPr id="130" name="Shape 130"/>
          <p:cNvSpPr txBox="1"/>
          <p:nvPr/>
        </p:nvSpPr>
        <p:spPr>
          <a:xfrm>
            <a:off x="8407400" y="1498600"/>
            <a:ext cx="332740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800" b="1" dirty="0">
                <a:solidFill>
                  <a:srgbClr val="0B1F3A"/>
                </a:solidFill>
                <a:latin typeface="Anthropic Sans Text"/>
                <a:cs typeface="Anthropic Sans Text"/>
              </a:rPr>
              <a:t>Root cause</a:t>
            </a:r>
            <a:endParaRPr lang="en-GB" sz="1800" dirty="0"/>
          </a:p>
        </p:txBody>
      </p:sp>
      <p:sp>
        <p:nvSpPr>
          <p:cNvPr id="131" name="Shape 131"/>
          <p:cNvSpPr/>
          <p:nvPr/>
        </p:nvSpPr>
        <p:spPr>
          <a:xfrm>
            <a:off x="7874000" y="2133600"/>
            <a:ext cx="355600" cy="355600"/>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GB" sz="1300" b="1" dirty="0">
                <a:solidFill>
                  <a:srgbClr val="FFFFFF"/>
                </a:solidFill>
                <a:latin typeface="Anthropic Sans Text"/>
                <a:cs typeface="Anthropic Sans Text"/>
              </a:rPr>
              <a:t>2</a:t>
            </a:r>
            <a:endParaRPr lang="en-GB" sz="1300" dirty="0"/>
          </a:p>
        </p:txBody>
      </p:sp>
      <p:sp>
        <p:nvSpPr>
          <p:cNvPr id="132" name="Shape 132"/>
          <p:cNvSpPr txBox="1"/>
          <p:nvPr/>
        </p:nvSpPr>
        <p:spPr>
          <a:xfrm>
            <a:off x="8407400" y="2082800"/>
            <a:ext cx="332740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800" b="1" dirty="0">
                <a:solidFill>
                  <a:srgbClr val="0B1F3A"/>
                </a:solidFill>
                <a:latin typeface="Anthropic Sans Text"/>
                <a:cs typeface="Anthropic Sans Text"/>
              </a:rPr>
              <a:t>Recommended action</a:t>
            </a:r>
            <a:endParaRPr lang="en-GB" sz="1800" dirty="0"/>
          </a:p>
        </p:txBody>
      </p:sp>
      <p:sp>
        <p:nvSpPr>
          <p:cNvPr id="133" name="Shape 133"/>
          <p:cNvSpPr/>
          <p:nvPr/>
        </p:nvSpPr>
        <p:spPr>
          <a:xfrm>
            <a:off x="7874000" y="2717800"/>
            <a:ext cx="355600" cy="355600"/>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GB" sz="1300" b="1" dirty="0">
                <a:solidFill>
                  <a:srgbClr val="FFFFFF"/>
                </a:solidFill>
                <a:latin typeface="Anthropic Sans Text"/>
                <a:cs typeface="Anthropic Sans Text"/>
              </a:rPr>
              <a:t>3</a:t>
            </a:r>
            <a:endParaRPr lang="en-GB" sz="1300" dirty="0"/>
          </a:p>
        </p:txBody>
      </p:sp>
      <p:sp>
        <p:nvSpPr>
          <p:cNvPr id="134" name="Shape 134"/>
          <p:cNvSpPr txBox="1"/>
          <p:nvPr/>
        </p:nvSpPr>
        <p:spPr>
          <a:xfrm>
            <a:off x="8407400" y="2667000"/>
            <a:ext cx="332740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800" b="1" dirty="0">
                <a:solidFill>
                  <a:srgbClr val="0B1F3A"/>
                </a:solidFill>
                <a:latin typeface="Anthropic Sans Text"/>
                <a:cs typeface="Anthropic Sans Text"/>
              </a:rPr>
              <a:t>Steps</a:t>
            </a:r>
            <a:endParaRPr lang="en-GB" sz="1800" dirty="0"/>
          </a:p>
        </p:txBody>
      </p:sp>
      <p:sp>
        <p:nvSpPr>
          <p:cNvPr id="135" name="Shape 135"/>
          <p:cNvSpPr/>
          <p:nvPr/>
        </p:nvSpPr>
        <p:spPr>
          <a:xfrm>
            <a:off x="7874000" y="3302000"/>
            <a:ext cx="355600" cy="355600"/>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GB" sz="1300" b="1" dirty="0">
                <a:solidFill>
                  <a:srgbClr val="FFFFFF"/>
                </a:solidFill>
                <a:latin typeface="Anthropic Sans Text"/>
                <a:cs typeface="Anthropic Sans Text"/>
              </a:rPr>
              <a:t>4</a:t>
            </a:r>
            <a:endParaRPr lang="en-GB" sz="1300" dirty="0"/>
          </a:p>
        </p:txBody>
      </p:sp>
      <p:sp>
        <p:nvSpPr>
          <p:cNvPr id="136" name="Shape 136"/>
          <p:cNvSpPr txBox="1"/>
          <p:nvPr/>
        </p:nvSpPr>
        <p:spPr>
          <a:xfrm>
            <a:off x="8407400" y="3251200"/>
            <a:ext cx="332740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800" b="1" dirty="0">
                <a:solidFill>
                  <a:srgbClr val="0B1F3A"/>
                </a:solidFill>
                <a:latin typeface="Anthropic Sans Text"/>
                <a:cs typeface="Anthropic Sans Text"/>
              </a:rPr>
              <a:t>Documents needed</a:t>
            </a:r>
            <a:endParaRPr lang="en-GB" sz="1800" dirty="0"/>
          </a:p>
        </p:txBody>
      </p:sp>
      <p:sp>
        <p:nvSpPr>
          <p:cNvPr id="137" name="Shape 137"/>
          <p:cNvSpPr/>
          <p:nvPr/>
        </p:nvSpPr>
        <p:spPr>
          <a:xfrm>
            <a:off x="7874000" y="3886200"/>
            <a:ext cx="355600" cy="355600"/>
          </a:xfrm>
          <a:prstGeom prst="ellipse">
            <a:avLst/>
          </a:prstGeom>
          <a:solidFill>
            <a:srgbClr val="F2A541"/>
          </a:solidFill>
          <a:ln>
            <a:noFill/>
          </a:ln>
        </p:spPr>
        <p:txBody>
          <a:bodyPr wrap="square" lIns="0" tIns="0" rIns="0" bIns="0" rtlCol="0" anchor="ctr">
            <a:noAutofit/>
          </a:bodyPr>
          <a:lstStyle/>
          <a:p>
            <a:pPr marL="0" indent="0" algn="ctr">
              <a:spcBef>
                <a:spcPts val="0"/>
              </a:spcBef>
              <a:spcAft>
                <a:spcPts val="0"/>
              </a:spcAft>
              <a:buNone/>
            </a:pPr>
            <a:r>
              <a:rPr lang="en-GB" sz="1300" b="1" dirty="0">
                <a:solidFill>
                  <a:srgbClr val="FFFFFF"/>
                </a:solidFill>
                <a:latin typeface="Anthropic Sans Text"/>
                <a:cs typeface="Anthropic Sans Text"/>
              </a:rPr>
              <a:t>5</a:t>
            </a:r>
            <a:endParaRPr lang="en-GB" sz="1300" dirty="0"/>
          </a:p>
        </p:txBody>
      </p:sp>
      <p:sp>
        <p:nvSpPr>
          <p:cNvPr id="138" name="Shape 138"/>
          <p:cNvSpPr txBox="1"/>
          <p:nvPr/>
        </p:nvSpPr>
        <p:spPr>
          <a:xfrm>
            <a:off x="8407400" y="3835400"/>
            <a:ext cx="332740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800" b="1" dirty="0">
                <a:solidFill>
                  <a:srgbClr val="0B1F3A"/>
                </a:solidFill>
                <a:latin typeface="Anthropic Sans Text"/>
                <a:cs typeface="Anthropic Sans Text"/>
              </a:rPr>
              <a:t>Deadline countdown</a:t>
            </a:r>
            <a:endParaRPr lang="en-GB" sz="1800" dirty="0"/>
          </a:p>
        </p:txBody>
      </p:sp>
      <p:sp>
        <p:nvSpPr>
          <p:cNvPr id="139" name="Shape 139"/>
          <p:cNvSpPr/>
          <p:nvPr/>
        </p:nvSpPr>
        <p:spPr>
          <a:xfrm>
            <a:off x="7874000" y="4470400"/>
            <a:ext cx="355600" cy="355600"/>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GB" sz="1300" b="1" dirty="0">
                <a:solidFill>
                  <a:srgbClr val="FFFFFF"/>
                </a:solidFill>
                <a:latin typeface="Anthropic Sans Text"/>
                <a:cs typeface="Anthropic Sans Text"/>
              </a:rPr>
              <a:t>6</a:t>
            </a:r>
            <a:endParaRPr lang="en-GB" sz="1300" dirty="0"/>
          </a:p>
        </p:txBody>
      </p:sp>
      <p:sp>
        <p:nvSpPr>
          <p:cNvPr id="140" name="Shape 140"/>
          <p:cNvSpPr txBox="1"/>
          <p:nvPr/>
        </p:nvSpPr>
        <p:spPr>
          <a:xfrm>
            <a:off x="8407400" y="4419600"/>
            <a:ext cx="332740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800" b="1" dirty="0">
                <a:solidFill>
                  <a:srgbClr val="0B1F3A"/>
                </a:solidFill>
                <a:latin typeface="Anthropic Sans Text"/>
                <a:cs typeface="Anthropic Sans Text"/>
              </a:rPr>
              <a:t>Policy citations</a:t>
            </a:r>
            <a:endParaRPr lang="en-GB" sz="1800" dirty="0"/>
          </a:p>
        </p:txBody>
      </p:sp>
      <p:sp>
        <p:nvSpPr>
          <p:cNvPr id="141" name="Shape 141"/>
          <p:cNvSpPr/>
          <p:nvPr/>
        </p:nvSpPr>
        <p:spPr>
          <a:xfrm>
            <a:off x="7874000" y="5054600"/>
            <a:ext cx="355600" cy="355600"/>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GB" sz="1300" b="1" dirty="0">
                <a:solidFill>
                  <a:srgbClr val="FFFFFF"/>
                </a:solidFill>
                <a:latin typeface="Anthropic Sans Text"/>
                <a:cs typeface="Anthropic Sans Text"/>
              </a:rPr>
              <a:t>7</a:t>
            </a:r>
            <a:endParaRPr lang="en-GB" sz="1300" dirty="0"/>
          </a:p>
        </p:txBody>
      </p:sp>
      <p:sp>
        <p:nvSpPr>
          <p:cNvPr id="142" name="Shape 142"/>
          <p:cNvSpPr txBox="1"/>
          <p:nvPr/>
        </p:nvSpPr>
        <p:spPr>
          <a:xfrm>
            <a:off x="8407400" y="5003800"/>
            <a:ext cx="332740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800" b="1" dirty="0">
                <a:solidFill>
                  <a:srgbClr val="0B1F3A"/>
                </a:solidFill>
                <a:latin typeface="Anthropic Sans Text"/>
                <a:cs typeface="Anthropic Sans Text"/>
              </a:rPr>
              <a:t>Confidence</a:t>
            </a:r>
            <a:endParaRPr lang="en-GB" sz="1800" dirty="0"/>
          </a:p>
        </p:txBody>
      </p:sp>
      <p:sp>
        <p:nvSpPr>
          <p:cNvPr id="143" name="Shape 143"/>
          <p:cNvSpPr/>
          <p:nvPr/>
        </p:nvSpPr>
        <p:spPr>
          <a:xfrm>
            <a:off x="7874000" y="5638800"/>
            <a:ext cx="355600" cy="355600"/>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GB" sz="1300" b="1" dirty="0">
                <a:solidFill>
                  <a:srgbClr val="FFFFFF"/>
                </a:solidFill>
                <a:latin typeface="Anthropic Sans Text"/>
                <a:cs typeface="Anthropic Sans Text"/>
              </a:rPr>
              <a:t>8</a:t>
            </a:r>
            <a:endParaRPr lang="en-GB" sz="1300" dirty="0"/>
          </a:p>
        </p:txBody>
      </p:sp>
      <p:sp>
        <p:nvSpPr>
          <p:cNvPr id="144" name="Shape 144"/>
          <p:cNvSpPr txBox="1"/>
          <p:nvPr/>
        </p:nvSpPr>
        <p:spPr>
          <a:xfrm>
            <a:off x="8407400" y="5588000"/>
            <a:ext cx="3327400" cy="457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800" b="1" dirty="0">
                <a:solidFill>
                  <a:srgbClr val="0B1F3A"/>
                </a:solidFill>
                <a:latin typeface="Anthropic Sans Text"/>
                <a:cs typeface="Anthropic Sans Text"/>
              </a:rPr>
              <a:t>Approve / Override</a:t>
            </a:r>
            <a:endParaRPr lang="en-GB" sz="1800" dirty="0"/>
          </a:p>
        </p:txBody>
      </p:sp>
    </p:spTree>
    <p:extLst>
      <p:ext uri="{BB962C8B-B14F-4D97-AF65-F5344CB8AC3E}">
        <p14:creationId xmlns:p14="http://schemas.microsoft.com/office/powerpoint/2010/main" val="4105603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AB66D-B37F-EE36-9DC9-D5392EC56531}"/>
              </a:ext>
            </a:extLst>
          </p:cNvPr>
          <p:cNvSpPr>
            <a:spLocks noGrp="1"/>
          </p:cNvSpPr>
          <p:nvPr>
            <p:ph type="title"/>
          </p:nvPr>
        </p:nvSpPr>
        <p:spPr/>
        <p:txBody>
          <a:bodyPr/>
          <a:lstStyle/>
          <a:p>
            <a:r>
              <a:rPr lang="en-GB" dirty="0"/>
              <a:t>The worklist ranks claims by dollars and deadline</a:t>
            </a:r>
          </a:p>
        </p:txBody>
      </p:sp>
      <p:graphicFrame>
        <p:nvGraphicFramePr>
          <p:cNvPr id="90" name="Worklist scatter"/>
          <p:cNvGraphicFramePr/>
          <p:nvPr/>
        </p:nvGraphicFramePr>
        <p:xfrm>
          <a:off x="584200" y="1625600"/>
          <a:ext cx="7874000" cy="4597400"/>
        </p:xfrm>
        <a:graphic>
          <a:graphicData uri="http://schemas.openxmlformats.org/drawingml/2006/chart">
            <c:chart xmlns:c="http://schemas.openxmlformats.org/drawingml/2006/chart" xmlns:r="http://schemas.openxmlformats.org/officeDocument/2006/relationships" r:id="rId3"/>
          </a:graphicData>
        </a:graphic>
      </p:graphicFrame>
      <p:sp>
        <p:nvSpPr>
          <p:cNvPr id="100" name="Shape 100"/>
          <p:cNvSpPr txBox="1"/>
          <p:nvPr/>
        </p:nvSpPr>
        <p:spPr>
          <a:xfrm>
            <a:off x="685800" y="1320800"/>
            <a:ext cx="7620000" cy="2540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400" b="1" dirty="0">
                <a:solidFill>
                  <a:srgbClr val="52606D"/>
                </a:solidFill>
                <a:latin typeface="Anthropic Sans Text"/>
                <a:cs typeface="Anthropic Sans Text"/>
              </a:rPr>
              <a:t>Open denials, illustrative worklist</a:t>
            </a:r>
            <a:endParaRPr lang="en-GB" sz="1400" dirty="0"/>
          </a:p>
        </p:txBody>
      </p:sp>
      <p:sp>
        <p:nvSpPr>
          <p:cNvPr id="101" name="Shape 101"/>
          <p:cNvSpPr txBox="1"/>
          <p:nvPr/>
        </p:nvSpPr>
        <p:spPr>
          <a:xfrm>
            <a:off x="1905000" y="1727200"/>
            <a:ext cx="1524000" cy="2540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300" b="1" dirty="0">
                <a:solidFill>
                  <a:srgbClr val="E4572E"/>
                </a:solidFill>
                <a:latin typeface="Anthropic Sans Text"/>
                <a:cs typeface="Anthropic Sans Text"/>
              </a:rPr>
              <a:t>Work first</a:t>
            </a:r>
            <a:endParaRPr lang="en-GB" sz="1300" dirty="0"/>
          </a:p>
        </p:txBody>
      </p:sp>
      <p:sp>
        <p:nvSpPr>
          <p:cNvPr id="102" name="Shape 102"/>
          <p:cNvSpPr/>
          <p:nvPr/>
        </p:nvSpPr>
        <p:spPr>
          <a:xfrm>
            <a:off x="9017000" y="1854200"/>
            <a:ext cx="279400" cy="279400"/>
          </a:xfrm>
          <a:prstGeom prst="ellipse">
            <a:avLst/>
          </a:prstGeom>
          <a:solidFill>
            <a:srgbClr val="E4572E"/>
          </a:solidFill>
          <a:ln>
            <a:noFill/>
          </a:ln>
        </p:spPr>
        <p:txBody>
          <a:bodyPr wrap="square" lIns="0" tIns="0" rIns="0" bIns="0" rtlCol="0" anchor="ctr">
            <a:noAutofit/>
          </a:bodyPr>
          <a:lstStyle/>
          <a:p>
            <a:pPr marL="0" indent="0" algn="ctr">
              <a:spcBef>
                <a:spcPts val="0"/>
              </a:spcBef>
              <a:spcAft>
                <a:spcPts val="0"/>
              </a:spcAft>
              <a:buNone/>
            </a:pPr>
            <a:endParaRPr lang="en-GB" sz="1600" dirty="0"/>
          </a:p>
        </p:txBody>
      </p:sp>
      <p:sp>
        <p:nvSpPr>
          <p:cNvPr id="103" name="Shape 103"/>
          <p:cNvSpPr txBox="1"/>
          <p:nvPr/>
        </p:nvSpPr>
        <p:spPr>
          <a:xfrm>
            <a:off x="9448800" y="1778000"/>
            <a:ext cx="2286000" cy="2540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600" b="1" dirty="0">
                <a:solidFill>
                  <a:srgbClr val="0B1F3A"/>
                </a:solidFill>
                <a:latin typeface="Anthropic Sans Text"/>
                <a:cs typeface="Anthropic Sans Text"/>
              </a:rPr>
              <a:t>Urgent</a:t>
            </a:r>
            <a:endParaRPr lang="en-GB" sz="1600" dirty="0"/>
          </a:p>
        </p:txBody>
      </p:sp>
      <p:sp>
        <p:nvSpPr>
          <p:cNvPr id="104" name="Shape 104"/>
          <p:cNvSpPr txBox="1"/>
          <p:nvPr/>
        </p:nvSpPr>
        <p:spPr>
          <a:xfrm>
            <a:off x="9448800" y="2032000"/>
            <a:ext cx="2286000" cy="228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300" b="0" dirty="0">
                <a:solidFill>
                  <a:srgbClr val="52606D"/>
                </a:solidFill>
                <a:latin typeface="Anthropic Sans Text"/>
                <a:cs typeface="Anthropic Sans Text"/>
              </a:rPr>
              <a:t>≤ 15 days left</a:t>
            </a:r>
            <a:endParaRPr lang="en-GB" sz="1300" dirty="0"/>
          </a:p>
        </p:txBody>
      </p:sp>
      <p:sp>
        <p:nvSpPr>
          <p:cNvPr id="105" name="Shape 105"/>
          <p:cNvSpPr/>
          <p:nvPr/>
        </p:nvSpPr>
        <p:spPr>
          <a:xfrm>
            <a:off x="9017000" y="2489200"/>
            <a:ext cx="279400" cy="279400"/>
          </a:xfrm>
          <a:prstGeom prst="ellipse">
            <a:avLst/>
          </a:prstGeom>
          <a:solidFill>
            <a:srgbClr val="F2A541"/>
          </a:solidFill>
          <a:ln>
            <a:noFill/>
          </a:ln>
        </p:spPr>
        <p:txBody>
          <a:bodyPr wrap="square" lIns="0" tIns="0" rIns="0" bIns="0" rtlCol="0" anchor="ctr">
            <a:noAutofit/>
          </a:bodyPr>
          <a:lstStyle/>
          <a:p>
            <a:pPr marL="0" indent="0" algn="ctr">
              <a:spcBef>
                <a:spcPts val="0"/>
              </a:spcBef>
              <a:spcAft>
                <a:spcPts val="0"/>
              </a:spcAft>
              <a:buNone/>
            </a:pPr>
            <a:endParaRPr lang="en-GB" sz="1600" dirty="0"/>
          </a:p>
        </p:txBody>
      </p:sp>
      <p:sp>
        <p:nvSpPr>
          <p:cNvPr id="106" name="Shape 106"/>
          <p:cNvSpPr txBox="1"/>
          <p:nvPr/>
        </p:nvSpPr>
        <p:spPr>
          <a:xfrm>
            <a:off x="9448800" y="2413000"/>
            <a:ext cx="2286000" cy="2540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600" b="1" dirty="0">
                <a:solidFill>
                  <a:srgbClr val="0B1F3A"/>
                </a:solidFill>
                <a:latin typeface="Anthropic Sans Text"/>
                <a:cs typeface="Anthropic Sans Text"/>
              </a:rPr>
              <a:t>Soon</a:t>
            </a:r>
            <a:endParaRPr lang="en-GB" sz="1600" dirty="0"/>
          </a:p>
        </p:txBody>
      </p:sp>
      <p:sp>
        <p:nvSpPr>
          <p:cNvPr id="107" name="Shape 107"/>
          <p:cNvSpPr txBox="1"/>
          <p:nvPr/>
        </p:nvSpPr>
        <p:spPr>
          <a:xfrm>
            <a:off x="9448800" y="2667000"/>
            <a:ext cx="2286000" cy="228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300" b="0" dirty="0">
                <a:solidFill>
                  <a:srgbClr val="52606D"/>
                </a:solidFill>
                <a:latin typeface="Anthropic Sans Text"/>
                <a:cs typeface="Anthropic Sans Text"/>
              </a:rPr>
              <a:t>16–35 days left</a:t>
            </a:r>
            <a:endParaRPr lang="en-GB" sz="1300" dirty="0"/>
          </a:p>
        </p:txBody>
      </p:sp>
      <p:sp>
        <p:nvSpPr>
          <p:cNvPr id="108" name="Shape 108"/>
          <p:cNvSpPr/>
          <p:nvPr/>
        </p:nvSpPr>
        <p:spPr>
          <a:xfrm>
            <a:off x="9017000" y="3124200"/>
            <a:ext cx="279400" cy="279400"/>
          </a:xfrm>
          <a:prstGeom prst="ellipse">
            <a:avLst/>
          </a:prstGeom>
          <a:solidFill>
            <a:srgbClr val="2E9E6A"/>
          </a:solidFill>
          <a:ln>
            <a:noFill/>
          </a:ln>
        </p:spPr>
        <p:txBody>
          <a:bodyPr wrap="square" lIns="0" tIns="0" rIns="0" bIns="0" rtlCol="0" anchor="ctr">
            <a:noAutofit/>
          </a:bodyPr>
          <a:lstStyle/>
          <a:p>
            <a:pPr marL="0" indent="0" algn="ctr">
              <a:spcBef>
                <a:spcPts val="0"/>
              </a:spcBef>
              <a:spcAft>
                <a:spcPts val="0"/>
              </a:spcAft>
              <a:buNone/>
            </a:pPr>
            <a:endParaRPr lang="en-GB" sz="1600" dirty="0"/>
          </a:p>
        </p:txBody>
      </p:sp>
      <p:sp>
        <p:nvSpPr>
          <p:cNvPr id="109" name="Shape 109"/>
          <p:cNvSpPr txBox="1"/>
          <p:nvPr/>
        </p:nvSpPr>
        <p:spPr>
          <a:xfrm>
            <a:off x="9448800" y="3048000"/>
            <a:ext cx="2286000" cy="2540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600" b="1" dirty="0">
                <a:solidFill>
                  <a:srgbClr val="0B1F3A"/>
                </a:solidFill>
                <a:latin typeface="Anthropic Sans Text"/>
                <a:cs typeface="Anthropic Sans Text"/>
              </a:rPr>
              <a:t>Later</a:t>
            </a:r>
            <a:endParaRPr lang="en-GB" sz="1600" dirty="0"/>
          </a:p>
        </p:txBody>
      </p:sp>
      <p:sp>
        <p:nvSpPr>
          <p:cNvPr id="110" name="Shape 110"/>
          <p:cNvSpPr txBox="1"/>
          <p:nvPr/>
        </p:nvSpPr>
        <p:spPr>
          <a:xfrm>
            <a:off x="9448800" y="3302000"/>
            <a:ext cx="2286000" cy="228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300" b="0" dirty="0">
                <a:solidFill>
                  <a:srgbClr val="52606D"/>
                </a:solidFill>
                <a:latin typeface="Anthropic Sans Text"/>
                <a:cs typeface="Anthropic Sans Text"/>
              </a:rPr>
              <a:t>&gt; 35 days left</a:t>
            </a:r>
            <a:endParaRPr lang="en-GB" sz="1300" dirty="0"/>
          </a:p>
        </p:txBody>
      </p:sp>
      <p:sp>
        <p:nvSpPr>
          <p:cNvPr id="111" name="Shape 111"/>
          <p:cNvSpPr/>
          <p:nvPr/>
        </p:nvSpPr>
        <p:spPr>
          <a:xfrm>
            <a:off x="8940800" y="4089400"/>
            <a:ext cx="2794000" cy="1905000"/>
          </a:xfrm>
          <a:prstGeom prst="rect">
            <a:avLst/>
          </a:prstGeom>
          <a:solidFill>
            <a:srgbClr val="0B1F3A"/>
          </a:solidFill>
          <a:ln>
            <a:noFill/>
          </a:ln>
        </p:spPr>
        <p:txBody>
          <a:bodyPr wrap="square" lIns="228600" tIns="177800" rIns="203200" bIns="177800" rtlCol="0" anchor="ctr">
            <a:noAutofit/>
          </a:bodyPr>
          <a:lstStyle/>
          <a:p>
            <a:pPr marL="0" indent="0" algn="l">
              <a:lnSpc>
                <a:spcPct val="100000"/>
              </a:lnSpc>
              <a:spcBef>
                <a:spcPts val="0"/>
              </a:spcBef>
              <a:spcAft>
                <a:spcPts val="0"/>
              </a:spcAft>
              <a:buNone/>
            </a:pPr>
            <a:r>
              <a:rPr lang="en-GB" sz="2000" b="1" dirty="0">
                <a:solidFill>
                  <a:srgbClr val="FFFFFF"/>
                </a:solidFill>
                <a:latin typeface="Anthropic Serif Web"/>
                <a:cs typeface="Anthropic Serif Web"/>
              </a:rPr>
              <a:t>Work the right claim first, </a:t>
            </a:r>
            <a:r>
              <a:rPr lang="en-GB" sz="2000" b="1" dirty="0">
                <a:solidFill>
                  <a:srgbClr val="00A3C4"/>
                </a:solidFill>
                <a:latin typeface="Anthropic Serif Web"/>
                <a:cs typeface="Anthropic Serif Web"/>
              </a:rPr>
              <a:t>not the oldest.</a:t>
            </a:r>
            <a:endParaRPr lang="en-GB" sz="2000" dirty="0"/>
          </a:p>
        </p:txBody>
      </p:sp>
    </p:spTree>
    <p:extLst>
      <p:ext uri="{BB962C8B-B14F-4D97-AF65-F5344CB8AC3E}">
        <p14:creationId xmlns:p14="http://schemas.microsoft.com/office/powerpoint/2010/main" val="14539111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67103-4974-EEB2-F738-8945F8D90DA7}"/>
              </a:ext>
            </a:extLst>
          </p:cNvPr>
          <p:cNvSpPr>
            <a:spLocks noGrp="1"/>
          </p:cNvSpPr>
          <p:nvPr>
            <p:ph type="title"/>
          </p:nvPr>
        </p:nvSpPr>
        <p:spPr/>
        <p:txBody>
          <a:bodyPr/>
          <a:lstStyle/>
          <a:p>
            <a:r>
              <a:rPr lang="en-GB" dirty="0"/>
              <a:t>Denial Navigator works where your team already works</a:t>
            </a:r>
          </a:p>
        </p:txBody>
      </p:sp>
      <p:sp>
        <p:nvSpPr>
          <p:cNvPr id="100" name="Shape 100"/>
          <p:cNvSpPr txBox="1"/>
          <p:nvPr/>
        </p:nvSpPr>
        <p:spPr>
          <a:xfrm>
            <a:off x="685800" y="1397000"/>
            <a:ext cx="5334000" cy="2540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300" b="1" spc="150" dirty="0">
                <a:solidFill>
                  <a:srgbClr val="1F4E8C"/>
                </a:solidFill>
                <a:latin typeface="Anthropic Sans Text"/>
                <a:cs typeface="Anthropic Sans Text"/>
              </a:rPr>
              <a:t>WEB APP</a:t>
            </a:r>
            <a:r>
              <a:rPr lang="en-GB" sz="1300" b="0" dirty="0">
                <a:solidFill>
                  <a:srgbClr val="52606D"/>
                </a:solidFill>
                <a:latin typeface="Anthropic Sans Text"/>
                <a:cs typeface="Anthropic Sans Text"/>
              </a:rPr>
              <a:t>   For deep work</a:t>
            </a:r>
            <a:endParaRPr lang="en-GB" sz="1300" dirty="0"/>
          </a:p>
        </p:txBody>
      </p:sp>
      <p:sp>
        <p:nvSpPr>
          <p:cNvPr id="101" name="Shape 101"/>
          <p:cNvSpPr txBox="1"/>
          <p:nvPr/>
        </p:nvSpPr>
        <p:spPr>
          <a:xfrm>
            <a:off x="6400800" y="1397000"/>
            <a:ext cx="5334000" cy="2540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300" b="1" spc="150" dirty="0">
                <a:solidFill>
                  <a:srgbClr val="1F4E8C"/>
                </a:solidFill>
                <a:latin typeface="Anthropic Sans Text"/>
                <a:cs typeface="Anthropic Sans Text"/>
              </a:rPr>
              <a:t>MICROSOFT TEAMS</a:t>
            </a:r>
            <a:r>
              <a:rPr lang="en-GB" sz="1300" b="0" dirty="0">
                <a:solidFill>
                  <a:srgbClr val="52606D"/>
                </a:solidFill>
                <a:latin typeface="Anthropic Sans Text"/>
                <a:cs typeface="Anthropic Sans Text"/>
              </a:rPr>
              <a:t>   Where the team already talks</a:t>
            </a:r>
            <a:endParaRPr lang="en-GB" sz="1300" dirty="0"/>
          </a:p>
        </p:txBody>
      </p:sp>
      <p:sp>
        <p:nvSpPr>
          <p:cNvPr id="102" name="Shape 102"/>
          <p:cNvSpPr/>
          <p:nvPr/>
        </p:nvSpPr>
        <p:spPr>
          <a:xfrm>
            <a:off x="685800" y="1752600"/>
            <a:ext cx="5334000" cy="4394200"/>
          </a:xfrm>
          <a:prstGeom prst="rect">
            <a:avLst/>
          </a:prstGeom>
          <a:solidFill>
            <a:srgbClr val="F3F4F6"/>
          </a:solidFill>
          <a:ln w="12700">
            <a:solidFill>
              <a:srgbClr val="D5DAE0"/>
            </a:solidFill>
          </a:ln>
        </p:spPr>
        <p:txBody>
          <a:bodyPr wrap="square" lIns="0" tIns="0" rIns="0" bIns="0" rtlCol="0" anchor="t">
            <a:noAutofit/>
          </a:bodyPr>
          <a:lstStyle/>
          <a:p>
            <a:endParaRPr lang="en-GB" dirty="0"/>
          </a:p>
        </p:txBody>
      </p:sp>
      <p:sp>
        <p:nvSpPr>
          <p:cNvPr id="103" name="Shape 103"/>
          <p:cNvSpPr/>
          <p:nvPr/>
        </p:nvSpPr>
        <p:spPr>
          <a:xfrm>
            <a:off x="685800" y="1752600"/>
            <a:ext cx="5334000" cy="330200"/>
          </a:xfrm>
          <a:prstGeom prst="rect">
            <a:avLst/>
          </a:prstGeom>
          <a:solidFill>
            <a:srgbClr val="E5E8EC"/>
          </a:solidFill>
          <a:ln>
            <a:noFill/>
          </a:ln>
        </p:spPr>
        <p:txBody>
          <a:bodyPr wrap="square" lIns="0" tIns="0" rIns="0" bIns="0" rtlCol="0" anchor="t">
            <a:noAutofit/>
          </a:bodyPr>
          <a:lstStyle/>
          <a:p>
            <a:endParaRPr lang="en-GB" dirty="0"/>
          </a:p>
        </p:txBody>
      </p:sp>
      <p:sp>
        <p:nvSpPr>
          <p:cNvPr id="104" name="Shape 104"/>
          <p:cNvSpPr/>
          <p:nvPr/>
        </p:nvSpPr>
        <p:spPr>
          <a:xfrm>
            <a:off x="838200" y="1866900"/>
            <a:ext cx="101600" cy="101600"/>
          </a:xfrm>
          <a:prstGeom prst="ellipse">
            <a:avLst/>
          </a:prstGeom>
          <a:solidFill>
            <a:srgbClr val="E4572E"/>
          </a:solidFill>
          <a:ln>
            <a:noFill/>
          </a:ln>
        </p:spPr>
        <p:txBody>
          <a:bodyPr wrap="square" lIns="0" tIns="0" rIns="0" bIns="0" rtlCol="0" anchor="ctr">
            <a:noAutofit/>
          </a:bodyPr>
          <a:lstStyle/>
          <a:p>
            <a:pPr marL="0" indent="0" algn="ctr">
              <a:spcBef>
                <a:spcPts val="0"/>
              </a:spcBef>
              <a:spcAft>
                <a:spcPts val="0"/>
              </a:spcAft>
              <a:buNone/>
            </a:pPr>
            <a:endParaRPr lang="en-GB" sz="1600" dirty="0"/>
          </a:p>
        </p:txBody>
      </p:sp>
      <p:sp>
        <p:nvSpPr>
          <p:cNvPr id="105" name="Shape 105"/>
          <p:cNvSpPr/>
          <p:nvPr/>
        </p:nvSpPr>
        <p:spPr>
          <a:xfrm>
            <a:off x="1016000" y="1866900"/>
            <a:ext cx="101600" cy="101600"/>
          </a:xfrm>
          <a:prstGeom prst="ellipse">
            <a:avLst/>
          </a:prstGeom>
          <a:solidFill>
            <a:srgbClr val="F2A541"/>
          </a:solidFill>
          <a:ln>
            <a:noFill/>
          </a:ln>
        </p:spPr>
        <p:txBody>
          <a:bodyPr wrap="square" lIns="0" tIns="0" rIns="0" bIns="0" rtlCol="0" anchor="ctr">
            <a:noAutofit/>
          </a:bodyPr>
          <a:lstStyle/>
          <a:p>
            <a:pPr marL="0" indent="0" algn="ctr">
              <a:spcBef>
                <a:spcPts val="0"/>
              </a:spcBef>
              <a:spcAft>
                <a:spcPts val="0"/>
              </a:spcAft>
              <a:buNone/>
            </a:pPr>
            <a:endParaRPr lang="en-GB" sz="1600" dirty="0"/>
          </a:p>
        </p:txBody>
      </p:sp>
      <p:sp>
        <p:nvSpPr>
          <p:cNvPr id="106" name="Shape 106"/>
          <p:cNvSpPr/>
          <p:nvPr/>
        </p:nvSpPr>
        <p:spPr>
          <a:xfrm>
            <a:off x="1193800" y="1866900"/>
            <a:ext cx="101600" cy="101600"/>
          </a:xfrm>
          <a:prstGeom prst="ellipse">
            <a:avLst/>
          </a:prstGeom>
          <a:solidFill>
            <a:srgbClr val="2E9E6A"/>
          </a:solidFill>
          <a:ln>
            <a:noFill/>
          </a:ln>
        </p:spPr>
        <p:txBody>
          <a:bodyPr wrap="square" lIns="0" tIns="0" rIns="0" bIns="0" rtlCol="0" anchor="ctr">
            <a:noAutofit/>
          </a:bodyPr>
          <a:lstStyle/>
          <a:p>
            <a:pPr marL="0" indent="0" algn="ctr">
              <a:spcBef>
                <a:spcPts val="0"/>
              </a:spcBef>
              <a:spcAft>
                <a:spcPts val="0"/>
              </a:spcAft>
              <a:buNone/>
            </a:pPr>
            <a:endParaRPr lang="en-GB" sz="1600" dirty="0"/>
          </a:p>
        </p:txBody>
      </p:sp>
      <p:sp>
        <p:nvSpPr>
          <p:cNvPr id="107" name="Shape 107"/>
          <p:cNvSpPr/>
          <p:nvPr/>
        </p:nvSpPr>
        <p:spPr>
          <a:xfrm>
            <a:off x="1524000" y="1828800"/>
            <a:ext cx="3810000" cy="177800"/>
          </a:xfrm>
          <a:prstGeom prst="roundRect">
            <a:avLst>
              <a:gd name="adj" fmla="val 50000"/>
            </a:avLst>
          </a:prstGeom>
          <a:solidFill>
            <a:srgbClr val="FFFFFF"/>
          </a:solidFill>
          <a:ln>
            <a:noFill/>
          </a:ln>
        </p:spPr>
        <p:txBody>
          <a:bodyPr wrap="square" lIns="101600" tIns="0" rIns="0" bIns="0" rtlCol="0" anchor="ctr">
            <a:noAutofit/>
          </a:bodyPr>
          <a:lstStyle/>
          <a:p>
            <a:pPr marL="0" indent="0" algn="l">
              <a:spcBef>
                <a:spcPts val="0"/>
              </a:spcBef>
              <a:spcAft>
                <a:spcPts val="0"/>
              </a:spcAft>
              <a:buNone/>
            </a:pPr>
            <a:r>
              <a:rPr lang="en-GB" sz="800" b="0" dirty="0">
                <a:solidFill>
                  <a:srgbClr val="52606D"/>
                </a:solidFill>
                <a:latin typeface="Anthropic Mono"/>
                <a:cs typeface="Anthropic Mono"/>
              </a:rPr>
              <a:t>denialnavigator / worklist</a:t>
            </a:r>
            <a:endParaRPr lang="en-GB" sz="800" dirty="0"/>
          </a:p>
        </p:txBody>
      </p:sp>
      <p:sp>
        <p:nvSpPr>
          <p:cNvPr id="108" name="Shape 108"/>
          <p:cNvSpPr/>
          <p:nvPr/>
        </p:nvSpPr>
        <p:spPr>
          <a:xfrm>
            <a:off x="889000" y="2286000"/>
            <a:ext cx="2362200" cy="1727200"/>
          </a:xfrm>
          <a:prstGeom prst="rect">
            <a:avLst/>
          </a:prstGeom>
          <a:solidFill>
            <a:srgbClr val="FFFFFF"/>
          </a:solidFill>
          <a:ln w="12700">
            <a:solidFill>
              <a:srgbClr val="E0E3E7"/>
            </a:solidFill>
          </a:ln>
        </p:spPr>
        <p:txBody>
          <a:bodyPr wrap="square" lIns="0" tIns="0" rIns="0" bIns="0" rtlCol="0" anchor="t">
            <a:noAutofit/>
          </a:bodyPr>
          <a:lstStyle/>
          <a:p>
            <a:endParaRPr lang="en-GB" dirty="0"/>
          </a:p>
        </p:txBody>
      </p:sp>
      <p:sp>
        <p:nvSpPr>
          <p:cNvPr id="109" name="Shape 109"/>
          <p:cNvSpPr/>
          <p:nvPr/>
        </p:nvSpPr>
        <p:spPr>
          <a:xfrm>
            <a:off x="889000" y="2286000"/>
            <a:ext cx="2362200" cy="63500"/>
          </a:xfrm>
          <a:prstGeom prst="rect">
            <a:avLst/>
          </a:prstGeom>
          <a:solidFill>
            <a:srgbClr val="E4572E"/>
          </a:solidFill>
          <a:ln>
            <a:noFill/>
          </a:ln>
        </p:spPr>
        <p:txBody>
          <a:bodyPr wrap="square" lIns="0" tIns="0" rIns="0" bIns="0" rtlCol="0" anchor="t">
            <a:noAutofit/>
          </a:bodyPr>
          <a:lstStyle/>
          <a:p>
            <a:endParaRPr lang="en-GB" dirty="0"/>
          </a:p>
        </p:txBody>
      </p:sp>
      <p:sp>
        <p:nvSpPr>
          <p:cNvPr id="110" name="Shape 110"/>
          <p:cNvSpPr txBox="1"/>
          <p:nvPr/>
        </p:nvSpPr>
        <p:spPr>
          <a:xfrm>
            <a:off x="1066800" y="2565400"/>
            <a:ext cx="2032000" cy="3302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800" b="1" dirty="0">
                <a:solidFill>
                  <a:srgbClr val="0B1F3A"/>
                </a:solidFill>
                <a:latin typeface="Anthropic Sans Text"/>
                <a:cs typeface="Anthropic Sans Text"/>
              </a:rPr>
              <a:t>Worklist</a:t>
            </a:r>
            <a:endParaRPr lang="en-GB" sz="1800" dirty="0"/>
          </a:p>
        </p:txBody>
      </p:sp>
      <p:sp>
        <p:nvSpPr>
          <p:cNvPr id="111" name="Shape 111"/>
          <p:cNvSpPr txBox="1"/>
          <p:nvPr/>
        </p:nvSpPr>
        <p:spPr>
          <a:xfrm>
            <a:off x="1066800" y="2946400"/>
            <a:ext cx="2032000" cy="558800"/>
          </a:xfrm>
          <a:prstGeom prst="rect">
            <a:avLst/>
          </a:prstGeom>
          <a:noFill/>
          <a:ln>
            <a:noFill/>
          </a:ln>
        </p:spPr>
        <p:txBody>
          <a:bodyPr wrap="square" lIns="0" tIns="0" rIns="0" bIns="0" rtlCol="0" anchor="t">
            <a:noAutofit/>
          </a:bodyPr>
          <a:lstStyle/>
          <a:p>
            <a:pPr marL="0" indent="0" algn="l">
              <a:lnSpc>
                <a:spcPct val="105000"/>
              </a:lnSpc>
              <a:spcBef>
                <a:spcPts val="0"/>
              </a:spcBef>
              <a:spcAft>
                <a:spcPts val="0"/>
              </a:spcAft>
              <a:buNone/>
            </a:pPr>
            <a:r>
              <a:rPr lang="en-GB" sz="1300" b="0" dirty="0">
                <a:solidFill>
                  <a:srgbClr val="52606D"/>
                </a:solidFill>
                <a:latin typeface="Anthropic Sans Text"/>
                <a:cs typeface="Anthropic Sans Text"/>
              </a:rPr>
              <a:t>Ranked by $ × deadline</a:t>
            </a:r>
            <a:endParaRPr lang="en-GB" sz="1300" dirty="0"/>
          </a:p>
        </p:txBody>
      </p:sp>
      <p:sp>
        <p:nvSpPr>
          <p:cNvPr id="112" name="Shape 112"/>
          <p:cNvSpPr/>
          <p:nvPr/>
        </p:nvSpPr>
        <p:spPr>
          <a:xfrm>
            <a:off x="3403600" y="2286000"/>
            <a:ext cx="2362200" cy="1727200"/>
          </a:xfrm>
          <a:prstGeom prst="rect">
            <a:avLst/>
          </a:prstGeom>
          <a:solidFill>
            <a:srgbClr val="FFFFFF"/>
          </a:solidFill>
          <a:ln w="12700">
            <a:solidFill>
              <a:srgbClr val="E0E3E7"/>
            </a:solidFill>
          </a:ln>
        </p:spPr>
        <p:txBody>
          <a:bodyPr wrap="square" lIns="0" tIns="0" rIns="0" bIns="0" rtlCol="0" anchor="t">
            <a:noAutofit/>
          </a:bodyPr>
          <a:lstStyle/>
          <a:p>
            <a:endParaRPr lang="en-GB" dirty="0"/>
          </a:p>
        </p:txBody>
      </p:sp>
      <p:sp>
        <p:nvSpPr>
          <p:cNvPr id="113" name="Shape 113"/>
          <p:cNvSpPr/>
          <p:nvPr/>
        </p:nvSpPr>
        <p:spPr>
          <a:xfrm>
            <a:off x="3403600" y="2286000"/>
            <a:ext cx="2362200" cy="63500"/>
          </a:xfrm>
          <a:prstGeom prst="rect">
            <a:avLst/>
          </a:prstGeom>
          <a:solidFill>
            <a:srgbClr val="1F4E8C"/>
          </a:solidFill>
          <a:ln>
            <a:noFill/>
          </a:ln>
        </p:spPr>
        <p:txBody>
          <a:bodyPr wrap="square" lIns="0" tIns="0" rIns="0" bIns="0" rtlCol="0" anchor="t">
            <a:noAutofit/>
          </a:bodyPr>
          <a:lstStyle/>
          <a:p>
            <a:endParaRPr lang="en-GB" dirty="0"/>
          </a:p>
        </p:txBody>
      </p:sp>
      <p:sp>
        <p:nvSpPr>
          <p:cNvPr id="114" name="Shape 114"/>
          <p:cNvSpPr txBox="1"/>
          <p:nvPr/>
        </p:nvSpPr>
        <p:spPr>
          <a:xfrm>
            <a:off x="3581400" y="2565400"/>
            <a:ext cx="2032000" cy="3302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800" b="1" dirty="0">
                <a:solidFill>
                  <a:srgbClr val="0B1F3A"/>
                </a:solidFill>
                <a:latin typeface="Anthropic Sans Text"/>
                <a:cs typeface="Anthropic Sans Text"/>
              </a:rPr>
              <a:t>Claim view</a:t>
            </a:r>
            <a:endParaRPr lang="en-GB" sz="1800" dirty="0"/>
          </a:p>
        </p:txBody>
      </p:sp>
      <p:sp>
        <p:nvSpPr>
          <p:cNvPr id="115" name="Shape 115"/>
          <p:cNvSpPr txBox="1"/>
          <p:nvPr/>
        </p:nvSpPr>
        <p:spPr>
          <a:xfrm>
            <a:off x="3581400" y="2946400"/>
            <a:ext cx="2032000" cy="558800"/>
          </a:xfrm>
          <a:prstGeom prst="rect">
            <a:avLst/>
          </a:prstGeom>
          <a:noFill/>
          <a:ln>
            <a:noFill/>
          </a:ln>
        </p:spPr>
        <p:txBody>
          <a:bodyPr wrap="square" lIns="0" tIns="0" rIns="0" bIns="0" rtlCol="0" anchor="t">
            <a:noAutofit/>
          </a:bodyPr>
          <a:lstStyle/>
          <a:p>
            <a:pPr marL="0" indent="0" algn="l">
              <a:lnSpc>
                <a:spcPct val="105000"/>
              </a:lnSpc>
              <a:spcBef>
                <a:spcPts val="0"/>
              </a:spcBef>
              <a:spcAft>
                <a:spcPts val="0"/>
              </a:spcAft>
              <a:buNone/>
            </a:pPr>
            <a:r>
              <a:rPr lang="en-GB" sz="1300" b="0" dirty="0">
                <a:solidFill>
                  <a:srgbClr val="52606D"/>
                </a:solidFill>
                <a:latin typeface="Anthropic Sans Text"/>
                <a:cs typeface="Anthropic Sans Text"/>
              </a:rPr>
              <a:t>Cause, action, evidence</a:t>
            </a:r>
            <a:endParaRPr lang="en-GB" sz="1300" dirty="0"/>
          </a:p>
        </p:txBody>
      </p:sp>
      <p:sp>
        <p:nvSpPr>
          <p:cNvPr id="116" name="Shape 116"/>
          <p:cNvSpPr/>
          <p:nvPr/>
        </p:nvSpPr>
        <p:spPr>
          <a:xfrm>
            <a:off x="889000" y="4191000"/>
            <a:ext cx="2362200" cy="1727200"/>
          </a:xfrm>
          <a:prstGeom prst="rect">
            <a:avLst/>
          </a:prstGeom>
          <a:solidFill>
            <a:srgbClr val="FFFFFF"/>
          </a:solidFill>
          <a:ln w="12700">
            <a:solidFill>
              <a:srgbClr val="E0E3E7"/>
            </a:solidFill>
          </a:ln>
        </p:spPr>
        <p:txBody>
          <a:bodyPr wrap="square" lIns="0" tIns="0" rIns="0" bIns="0" rtlCol="0" anchor="t">
            <a:noAutofit/>
          </a:bodyPr>
          <a:lstStyle/>
          <a:p>
            <a:endParaRPr lang="en-GB" dirty="0"/>
          </a:p>
        </p:txBody>
      </p:sp>
      <p:sp>
        <p:nvSpPr>
          <p:cNvPr id="117" name="Shape 117"/>
          <p:cNvSpPr/>
          <p:nvPr/>
        </p:nvSpPr>
        <p:spPr>
          <a:xfrm>
            <a:off x="889000" y="4191000"/>
            <a:ext cx="2362200" cy="63500"/>
          </a:xfrm>
          <a:prstGeom prst="rect">
            <a:avLst/>
          </a:prstGeom>
          <a:solidFill>
            <a:srgbClr val="00A3C4"/>
          </a:solidFill>
          <a:ln>
            <a:noFill/>
          </a:ln>
        </p:spPr>
        <p:txBody>
          <a:bodyPr wrap="square" lIns="0" tIns="0" rIns="0" bIns="0" rtlCol="0" anchor="t">
            <a:noAutofit/>
          </a:bodyPr>
          <a:lstStyle/>
          <a:p>
            <a:endParaRPr lang="en-GB" dirty="0"/>
          </a:p>
        </p:txBody>
      </p:sp>
      <p:sp>
        <p:nvSpPr>
          <p:cNvPr id="118" name="Shape 118"/>
          <p:cNvSpPr txBox="1"/>
          <p:nvPr/>
        </p:nvSpPr>
        <p:spPr>
          <a:xfrm>
            <a:off x="1066800" y="4470400"/>
            <a:ext cx="2032000" cy="3302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800" b="1" dirty="0">
                <a:solidFill>
                  <a:srgbClr val="0B1F3A"/>
                </a:solidFill>
                <a:latin typeface="Anthropic Sans Text"/>
                <a:cs typeface="Anthropic Sans Text"/>
              </a:rPr>
              <a:t>Appeal studio</a:t>
            </a:r>
            <a:endParaRPr lang="en-GB" sz="1800" dirty="0"/>
          </a:p>
        </p:txBody>
      </p:sp>
      <p:sp>
        <p:nvSpPr>
          <p:cNvPr id="119" name="Shape 119"/>
          <p:cNvSpPr txBox="1"/>
          <p:nvPr/>
        </p:nvSpPr>
        <p:spPr>
          <a:xfrm>
            <a:off x="1066800" y="4851400"/>
            <a:ext cx="2032000" cy="558800"/>
          </a:xfrm>
          <a:prstGeom prst="rect">
            <a:avLst/>
          </a:prstGeom>
          <a:noFill/>
          <a:ln>
            <a:noFill/>
          </a:ln>
        </p:spPr>
        <p:txBody>
          <a:bodyPr wrap="square" lIns="0" tIns="0" rIns="0" bIns="0" rtlCol="0" anchor="t">
            <a:noAutofit/>
          </a:bodyPr>
          <a:lstStyle/>
          <a:p>
            <a:pPr marL="0" indent="0" algn="l">
              <a:lnSpc>
                <a:spcPct val="105000"/>
              </a:lnSpc>
              <a:spcBef>
                <a:spcPts val="0"/>
              </a:spcBef>
              <a:spcAft>
                <a:spcPts val="0"/>
              </a:spcAft>
              <a:buNone/>
            </a:pPr>
            <a:r>
              <a:rPr lang="en-GB" sz="1300" b="0" dirty="0">
                <a:solidFill>
                  <a:srgbClr val="52606D"/>
                </a:solidFill>
                <a:latin typeface="Anthropic Sans Text"/>
                <a:cs typeface="Anthropic Sans Text"/>
              </a:rPr>
              <a:t>Letters drafted with citations</a:t>
            </a:r>
            <a:endParaRPr lang="en-GB" sz="1300" dirty="0"/>
          </a:p>
        </p:txBody>
      </p:sp>
      <p:sp>
        <p:nvSpPr>
          <p:cNvPr id="120" name="Shape 120"/>
          <p:cNvSpPr/>
          <p:nvPr/>
        </p:nvSpPr>
        <p:spPr>
          <a:xfrm>
            <a:off x="3403600" y="4191000"/>
            <a:ext cx="2362200" cy="1727200"/>
          </a:xfrm>
          <a:prstGeom prst="rect">
            <a:avLst/>
          </a:prstGeom>
          <a:solidFill>
            <a:srgbClr val="FFFFFF"/>
          </a:solidFill>
          <a:ln w="12700">
            <a:solidFill>
              <a:srgbClr val="E0E3E7"/>
            </a:solidFill>
          </a:ln>
        </p:spPr>
        <p:txBody>
          <a:bodyPr wrap="square" lIns="0" tIns="0" rIns="0" bIns="0" rtlCol="0" anchor="t">
            <a:noAutofit/>
          </a:bodyPr>
          <a:lstStyle/>
          <a:p>
            <a:endParaRPr lang="en-GB" dirty="0"/>
          </a:p>
        </p:txBody>
      </p:sp>
      <p:sp>
        <p:nvSpPr>
          <p:cNvPr id="121" name="Shape 121"/>
          <p:cNvSpPr/>
          <p:nvPr/>
        </p:nvSpPr>
        <p:spPr>
          <a:xfrm>
            <a:off x="3403600" y="4191000"/>
            <a:ext cx="2362200" cy="63500"/>
          </a:xfrm>
          <a:prstGeom prst="rect">
            <a:avLst/>
          </a:prstGeom>
          <a:solidFill>
            <a:srgbClr val="2E9E6A"/>
          </a:solidFill>
          <a:ln>
            <a:noFill/>
          </a:ln>
        </p:spPr>
        <p:txBody>
          <a:bodyPr wrap="square" lIns="0" tIns="0" rIns="0" bIns="0" rtlCol="0" anchor="t">
            <a:noAutofit/>
          </a:bodyPr>
          <a:lstStyle/>
          <a:p>
            <a:endParaRPr lang="en-GB" dirty="0"/>
          </a:p>
        </p:txBody>
      </p:sp>
      <p:sp>
        <p:nvSpPr>
          <p:cNvPr id="122" name="Shape 122"/>
          <p:cNvSpPr txBox="1"/>
          <p:nvPr/>
        </p:nvSpPr>
        <p:spPr>
          <a:xfrm>
            <a:off x="3581400" y="4470400"/>
            <a:ext cx="2032000" cy="3302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800" b="1" dirty="0">
                <a:solidFill>
                  <a:srgbClr val="0B1F3A"/>
                </a:solidFill>
                <a:latin typeface="Anthropic Sans Text"/>
                <a:cs typeface="Anthropic Sans Text"/>
              </a:rPr>
              <a:t>Dashboard</a:t>
            </a:r>
            <a:endParaRPr lang="en-GB" sz="1800" dirty="0"/>
          </a:p>
        </p:txBody>
      </p:sp>
      <p:sp>
        <p:nvSpPr>
          <p:cNvPr id="123" name="Shape 123"/>
          <p:cNvSpPr txBox="1"/>
          <p:nvPr/>
        </p:nvSpPr>
        <p:spPr>
          <a:xfrm>
            <a:off x="3581400" y="4851400"/>
            <a:ext cx="2032000" cy="558800"/>
          </a:xfrm>
          <a:prstGeom prst="rect">
            <a:avLst/>
          </a:prstGeom>
          <a:noFill/>
          <a:ln>
            <a:noFill/>
          </a:ln>
        </p:spPr>
        <p:txBody>
          <a:bodyPr wrap="square" lIns="0" tIns="0" rIns="0" bIns="0" rtlCol="0" anchor="t">
            <a:noAutofit/>
          </a:bodyPr>
          <a:lstStyle/>
          <a:p>
            <a:pPr marL="0" indent="0" algn="l">
              <a:lnSpc>
                <a:spcPct val="105000"/>
              </a:lnSpc>
              <a:spcBef>
                <a:spcPts val="0"/>
              </a:spcBef>
              <a:spcAft>
                <a:spcPts val="0"/>
              </a:spcAft>
              <a:buNone/>
            </a:pPr>
            <a:r>
              <a:rPr lang="en-GB" sz="1300" b="0" dirty="0">
                <a:solidFill>
                  <a:srgbClr val="52606D"/>
                </a:solidFill>
                <a:latin typeface="Anthropic Sans Text"/>
                <a:cs typeface="Anthropic Sans Text"/>
              </a:rPr>
              <a:t>Recovery and accuracy</a:t>
            </a:r>
            <a:endParaRPr lang="en-GB" sz="1300" dirty="0"/>
          </a:p>
        </p:txBody>
      </p:sp>
      <p:sp>
        <p:nvSpPr>
          <p:cNvPr id="124" name="Shape 124"/>
          <p:cNvSpPr/>
          <p:nvPr/>
        </p:nvSpPr>
        <p:spPr>
          <a:xfrm>
            <a:off x="6400800" y="1752600"/>
            <a:ext cx="5334000" cy="4394200"/>
          </a:xfrm>
          <a:prstGeom prst="rect">
            <a:avLst/>
          </a:prstGeom>
          <a:solidFill>
            <a:srgbClr val="F3F4F6"/>
          </a:solidFill>
          <a:ln w="12700">
            <a:solidFill>
              <a:srgbClr val="D5DAE0"/>
            </a:solidFill>
          </a:ln>
        </p:spPr>
        <p:txBody>
          <a:bodyPr wrap="square" lIns="0" tIns="0" rIns="0" bIns="0" rtlCol="0" anchor="t">
            <a:noAutofit/>
          </a:bodyPr>
          <a:lstStyle/>
          <a:p>
            <a:endParaRPr lang="en-GB" dirty="0"/>
          </a:p>
        </p:txBody>
      </p:sp>
      <p:sp>
        <p:nvSpPr>
          <p:cNvPr id="125" name="Shape 125"/>
          <p:cNvSpPr/>
          <p:nvPr/>
        </p:nvSpPr>
        <p:spPr>
          <a:xfrm>
            <a:off x="6400800" y="1752600"/>
            <a:ext cx="5334000" cy="330200"/>
          </a:xfrm>
          <a:prstGeom prst="rect">
            <a:avLst/>
          </a:prstGeom>
          <a:solidFill>
            <a:srgbClr val="1F4E8C"/>
          </a:solidFill>
          <a:ln>
            <a:noFill/>
          </a:ln>
        </p:spPr>
        <p:txBody>
          <a:bodyPr wrap="square" lIns="152400" tIns="0" rIns="0" bIns="0" rtlCol="0" anchor="ctr">
            <a:noAutofit/>
          </a:bodyPr>
          <a:lstStyle/>
          <a:p>
            <a:pPr marL="0" indent="0" algn="l">
              <a:spcBef>
                <a:spcPts val="0"/>
              </a:spcBef>
              <a:spcAft>
                <a:spcPts val="0"/>
              </a:spcAft>
              <a:buNone/>
            </a:pPr>
            <a:r>
              <a:rPr lang="en-GB" sz="1000" b="1" dirty="0">
                <a:solidFill>
                  <a:srgbClr val="FFFFFF"/>
                </a:solidFill>
                <a:latin typeface="Anthropic Sans Text"/>
                <a:cs typeface="Anthropic Sans Text"/>
              </a:rPr>
              <a:t>Denial Navigator  ·  Revenue cycle team</a:t>
            </a:r>
            <a:endParaRPr lang="en-GB" sz="1000" dirty="0"/>
          </a:p>
        </p:txBody>
      </p:sp>
      <p:sp>
        <p:nvSpPr>
          <p:cNvPr id="126" name="Shape 126"/>
          <p:cNvSpPr/>
          <p:nvPr/>
        </p:nvSpPr>
        <p:spPr>
          <a:xfrm>
            <a:off x="6604000" y="2311400"/>
            <a:ext cx="330200" cy="330200"/>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GB" sz="900" b="1" dirty="0">
                <a:solidFill>
                  <a:srgbClr val="FFFFFF"/>
                </a:solidFill>
                <a:latin typeface="Anthropic Sans Text"/>
                <a:cs typeface="Anthropic Sans Text"/>
              </a:rPr>
              <a:t>DN</a:t>
            </a:r>
            <a:endParaRPr lang="en-GB" sz="900" dirty="0"/>
          </a:p>
        </p:txBody>
      </p:sp>
      <p:sp>
        <p:nvSpPr>
          <p:cNvPr id="127" name="Shape 127"/>
          <p:cNvSpPr/>
          <p:nvPr/>
        </p:nvSpPr>
        <p:spPr>
          <a:xfrm>
            <a:off x="7061200" y="2286000"/>
            <a:ext cx="4318000" cy="1066800"/>
          </a:xfrm>
          <a:prstGeom prst="roundRect">
            <a:avLst>
              <a:gd name="adj" fmla="val 8000"/>
            </a:avLst>
          </a:prstGeom>
          <a:solidFill>
            <a:srgbClr val="FFFFFF"/>
          </a:solidFill>
          <a:ln w="12700">
            <a:solidFill>
              <a:srgbClr val="E0E3E7"/>
            </a:solidFill>
          </a:ln>
        </p:spPr>
        <p:txBody>
          <a:bodyPr wrap="square" lIns="152400" tIns="101600" rIns="152400" bIns="101600" rtlCol="0" anchor="t">
            <a:noAutofit/>
          </a:bodyPr>
          <a:lstStyle/>
          <a:p>
            <a:pPr marL="0" indent="0" algn="l">
              <a:spcBef>
                <a:spcPts val="0"/>
              </a:spcBef>
              <a:spcAft>
                <a:spcPts val="300"/>
              </a:spcAft>
              <a:buNone/>
            </a:pPr>
            <a:r>
              <a:rPr lang="en-GB" sz="900" b="1" spc="120" dirty="0">
                <a:solidFill>
                  <a:srgbClr val="B26A0E"/>
                </a:solidFill>
                <a:latin typeface="Anthropic Sans Text"/>
                <a:cs typeface="Anthropic Sans Text"/>
              </a:rPr>
              <a:t>PROACTIVE ALERT</a:t>
            </a:r>
            <a:endParaRPr lang="en-GB" sz="900" dirty="0"/>
          </a:p>
          <a:p>
            <a:pPr marL="0" indent="0" algn="l">
              <a:spcBef>
                <a:spcPts val="0"/>
              </a:spcBef>
              <a:spcAft>
                <a:spcPts val="300"/>
              </a:spcAft>
              <a:buNone/>
            </a:pPr>
            <a:r>
              <a:rPr lang="en-GB" sz="1400" b="1" dirty="0">
                <a:solidFill>
                  <a:srgbClr val="0B1F3A"/>
                </a:solidFill>
                <a:latin typeface="Anthropic Mono"/>
                <a:cs typeface="Anthropic Mono"/>
              </a:rPr>
              <a:t>PRH-10877</a:t>
            </a:r>
            <a:r>
              <a:rPr lang="en-GB" sz="1400" b="0" dirty="0">
                <a:solidFill>
                  <a:srgbClr val="52606D"/>
                </a:solidFill>
                <a:latin typeface="Anthropic Sans Text"/>
                <a:cs typeface="Anthropic Sans Text"/>
              </a:rPr>
              <a:t>  ·  </a:t>
            </a:r>
            <a:r>
              <a:rPr lang="en-GB" sz="1400" b="1" dirty="0">
                <a:solidFill>
                  <a:srgbClr val="0B1F3A"/>
                </a:solidFill>
                <a:latin typeface="Anthropic Mono"/>
                <a:cs typeface="Anthropic Mono"/>
              </a:rPr>
              <a:t>$2,840</a:t>
            </a:r>
            <a:endParaRPr lang="en-GB" sz="1400" dirty="0"/>
          </a:p>
          <a:p>
            <a:pPr marL="0" indent="0" algn="l">
              <a:spcBef>
                <a:spcPts val="0"/>
              </a:spcBef>
              <a:spcAft>
                <a:spcPts val="0"/>
              </a:spcAft>
              <a:buNone/>
            </a:pPr>
            <a:r>
              <a:rPr lang="en-GB" sz="1300" b="0" dirty="0">
                <a:solidFill>
                  <a:srgbClr val="1F2933"/>
                </a:solidFill>
                <a:latin typeface="Anthropic Sans Text"/>
                <a:cs typeface="Anthropic Sans Text"/>
              </a:rPr>
              <a:t>Appeal deadline in </a:t>
            </a:r>
            <a:r>
              <a:rPr lang="en-GB" sz="1300" b="1" dirty="0">
                <a:solidFill>
                  <a:srgbClr val="B26A0E"/>
                </a:solidFill>
                <a:latin typeface="Anthropic Sans Text"/>
                <a:cs typeface="Anthropic Sans Text"/>
              </a:rPr>
              <a:t>12 days</a:t>
            </a:r>
            <a:endParaRPr lang="en-GB" sz="1300" dirty="0"/>
          </a:p>
        </p:txBody>
      </p:sp>
      <p:sp>
        <p:nvSpPr>
          <p:cNvPr id="128" name="Shape 128"/>
          <p:cNvSpPr/>
          <p:nvPr/>
        </p:nvSpPr>
        <p:spPr>
          <a:xfrm>
            <a:off x="8280400" y="3581400"/>
            <a:ext cx="3098800" cy="508000"/>
          </a:xfrm>
          <a:prstGeom prst="roundRect">
            <a:avLst>
              <a:gd name="adj" fmla="val 25000"/>
            </a:avLst>
          </a:prstGeom>
          <a:solidFill>
            <a:srgbClr val="0B1F3A"/>
          </a:solidFill>
          <a:ln>
            <a:noFill/>
          </a:ln>
        </p:spPr>
        <p:txBody>
          <a:bodyPr wrap="square" lIns="152400" tIns="0" rIns="152400" bIns="0" rtlCol="0" anchor="ctr">
            <a:noAutofit/>
          </a:bodyPr>
          <a:lstStyle/>
          <a:p>
            <a:pPr marL="0" indent="0" algn="l">
              <a:spcBef>
                <a:spcPts val="0"/>
              </a:spcBef>
              <a:spcAft>
                <a:spcPts val="0"/>
              </a:spcAft>
              <a:buNone/>
            </a:pPr>
            <a:r>
              <a:rPr lang="en-GB" sz="1300" b="1" dirty="0">
                <a:solidFill>
                  <a:srgbClr val="FFFFFF"/>
                </a:solidFill>
                <a:latin typeface="Anthropic Sans Text"/>
                <a:cs typeface="Anthropic Sans Text"/>
              </a:rPr>
              <a:t>What are my top 10 by dollars?</a:t>
            </a:r>
            <a:endParaRPr lang="en-GB" sz="1300" dirty="0"/>
          </a:p>
        </p:txBody>
      </p:sp>
      <p:sp>
        <p:nvSpPr>
          <p:cNvPr id="129" name="Shape 129"/>
          <p:cNvSpPr/>
          <p:nvPr/>
        </p:nvSpPr>
        <p:spPr>
          <a:xfrm>
            <a:off x="6604000" y="4343400"/>
            <a:ext cx="330200" cy="330200"/>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GB" sz="900" b="1" dirty="0">
                <a:solidFill>
                  <a:srgbClr val="FFFFFF"/>
                </a:solidFill>
                <a:latin typeface="Anthropic Sans Text"/>
                <a:cs typeface="Anthropic Sans Text"/>
              </a:rPr>
              <a:t>DN</a:t>
            </a:r>
            <a:endParaRPr lang="en-GB" sz="900" dirty="0"/>
          </a:p>
        </p:txBody>
      </p:sp>
      <p:sp>
        <p:nvSpPr>
          <p:cNvPr id="130" name="Shape 130"/>
          <p:cNvSpPr/>
          <p:nvPr/>
        </p:nvSpPr>
        <p:spPr>
          <a:xfrm>
            <a:off x="7061200" y="4318000"/>
            <a:ext cx="4318000" cy="1524000"/>
          </a:xfrm>
          <a:prstGeom prst="roundRect">
            <a:avLst>
              <a:gd name="adj" fmla="val 8000"/>
            </a:avLst>
          </a:prstGeom>
          <a:solidFill>
            <a:srgbClr val="FFFFFF"/>
          </a:solidFill>
          <a:ln w="12700">
            <a:solidFill>
              <a:srgbClr val="E0E3E7"/>
            </a:solidFill>
          </a:ln>
        </p:spPr>
        <p:txBody>
          <a:bodyPr wrap="square" lIns="152400" tIns="101600" rIns="152400" bIns="101600" rtlCol="0" anchor="t">
            <a:noAutofit/>
          </a:bodyPr>
          <a:lstStyle/>
          <a:p>
            <a:pPr marL="0" indent="0" algn="l">
              <a:spcBef>
                <a:spcPts val="0"/>
              </a:spcBef>
              <a:spcAft>
                <a:spcPts val="400"/>
              </a:spcAft>
              <a:buNone/>
            </a:pPr>
            <a:r>
              <a:rPr lang="en-GB" sz="1300" b="1" dirty="0">
                <a:solidFill>
                  <a:srgbClr val="0B1F3A"/>
                </a:solidFill>
                <a:latin typeface="Anthropic Sans Text"/>
                <a:cs typeface="Anthropic Sans Text"/>
              </a:rPr>
              <a:t>Your top 10, ranked by recovery:</a:t>
            </a:r>
            <a:endParaRPr lang="en-GB" sz="1300" dirty="0"/>
          </a:p>
          <a:p>
            <a:pPr marL="0" indent="0" algn="l">
              <a:spcBef>
                <a:spcPts val="0"/>
              </a:spcBef>
              <a:spcAft>
                <a:spcPts val="200"/>
              </a:spcAft>
              <a:buNone/>
            </a:pPr>
            <a:r>
              <a:rPr lang="en-GB" sz="1200" b="0" dirty="0">
                <a:solidFill>
                  <a:srgbClr val="1F2933"/>
                </a:solidFill>
                <a:latin typeface="Anthropic Mono"/>
                <a:cs typeface="Anthropic Mono"/>
              </a:rPr>
              <a:t>PRH-10877  </a:t>
            </a:r>
            <a:r>
              <a:rPr lang="en-GB" sz="1200" b="0" dirty="0">
                <a:solidFill>
                  <a:srgbClr val="52606D"/>
                </a:solidFill>
                <a:latin typeface="Anthropic Mono"/>
                <a:cs typeface="Anthropic Mono"/>
              </a:rPr>
              <a:t>CO-197  </a:t>
            </a:r>
            <a:r>
              <a:rPr lang="en-GB" sz="1200" b="1" dirty="0">
                <a:solidFill>
                  <a:srgbClr val="2E9E6A"/>
                </a:solidFill>
                <a:latin typeface="Anthropic Mono"/>
                <a:cs typeface="Anthropic Mono"/>
              </a:rPr>
              <a:t>$2,840</a:t>
            </a:r>
            <a:endParaRPr lang="en-GB" sz="1200" dirty="0"/>
          </a:p>
          <a:p>
            <a:pPr marL="0" indent="0" algn="l">
              <a:spcBef>
                <a:spcPts val="0"/>
              </a:spcBef>
              <a:spcAft>
                <a:spcPts val="200"/>
              </a:spcAft>
              <a:buNone/>
            </a:pPr>
            <a:r>
              <a:rPr lang="en-GB" sz="1200" b="0" dirty="0">
                <a:solidFill>
                  <a:srgbClr val="1F2933"/>
                </a:solidFill>
                <a:latin typeface="Anthropic Mono"/>
                <a:cs typeface="Anthropic Mono"/>
              </a:rPr>
              <a:t>PRH-10912  </a:t>
            </a:r>
            <a:r>
              <a:rPr lang="en-GB" sz="1200" b="0" dirty="0">
                <a:solidFill>
                  <a:srgbClr val="52606D"/>
                </a:solidFill>
                <a:latin typeface="Anthropic Mono"/>
                <a:cs typeface="Anthropic Mono"/>
              </a:rPr>
              <a:t>CO-50  </a:t>
            </a:r>
            <a:r>
              <a:rPr lang="en-GB" sz="1200" b="1" dirty="0">
                <a:solidFill>
                  <a:srgbClr val="2E9E6A"/>
                </a:solidFill>
                <a:latin typeface="Anthropic Mono"/>
                <a:cs typeface="Anthropic Mono"/>
              </a:rPr>
              <a:t>$2,310</a:t>
            </a:r>
            <a:endParaRPr lang="en-GB" sz="1200" dirty="0"/>
          </a:p>
          <a:p>
            <a:pPr marL="0" indent="0" algn="l">
              <a:spcBef>
                <a:spcPts val="0"/>
              </a:spcBef>
              <a:spcAft>
                <a:spcPts val="200"/>
              </a:spcAft>
              <a:buNone/>
            </a:pPr>
            <a:r>
              <a:rPr lang="en-GB" sz="1200" b="0" dirty="0">
                <a:solidFill>
                  <a:srgbClr val="1F2933"/>
                </a:solidFill>
                <a:latin typeface="Anthropic Mono"/>
                <a:cs typeface="Anthropic Mono"/>
              </a:rPr>
              <a:t>PRH-10655  </a:t>
            </a:r>
            <a:r>
              <a:rPr lang="en-GB" sz="1200" b="0" dirty="0">
                <a:solidFill>
                  <a:srgbClr val="52606D"/>
                </a:solidFill>
                <a:latin typeface="Anthropic Mono"/>
                <a:cs typeface="Anthropic Mono"/>
              </a:rPr>
              <a:t>CO-16  </a:t>
            </a:r>
            <a:r>
              <a:rPr lang="en-GB" sz="1200" b="1" dirty="0">
                <a:solidFill>
                  <a:srgbClr val="2E9E6A"/>
                </a:solidFill>
                <a:latin typeface="Anthropic Mono"/>
                <a:cs typeface="Anthropic Mono"/>
              </a:rPr>
              <a:t>$1,975</a:t>
            </a:r>
            <a:endParaRPr lang="en-GB" sz="1200" dirty="0"/>
          </a:p>
          <a:p>
            <a:pPr marL="0" indent="0" algn="l">
              <a:spcBef>
                <a:spcPts val="0"/>
              </a:spcBef>
              <a:spcAft>
                <a:spcPts val="0"/>
              </a:spcAft>
              <a:buNone/>
            </a:pPr>
            <a:r>
              <a:rPr lang="en-GB" sz="1200" b="0" dirty="0">
                <a:solidFill>
                  <a:srgbClr val="52606D"/>
                </a:solidFill>
                <a:latin typeface="Anthropic Sans Text"/>
                <a:cs typeface="Anthropic Sans Text"/>
              </a:rPr>
              <a:t>+ 7 more</a:t>
            </a:r>
            <a:endParaRPr lang="en-GB" sz="1200" dirty="0"/>
          </a:p>
        </p:txBody>
      </p:sp>
    </p:spTree>
    <p:extLst>
      <p:ext uri="{BB962C8B-B14F-4D97-AF65-F5344CB8AC3E}">
        <p14:creationId xmlns:p14="http://schemas.microsoft.com/office/powerpoint/2010/main" val="5345832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Hours of manual work become seconds of guided review</a:t>
            </a:r>
          </a:p>
        </p:txBody>
      </p:sp>
      <p:graphicFrame>
        <p:nvGraphicFramePr>
          <p:cNvPr id="100" name="Table 100"/>
          <p:cNvGraphicFramePr>
            <a:graphicFrameLocks noGrp="1"/>
          </p:cNvGraphicFramePr>
          <p:nvPr/>
        </p:nvGraphicFramePr>
        <p:xfrm>
          <a:off x="685800" y="1549400"/>
          <a:ext cx="11049000" cy="4521200"/>
        </p:xfrm>
        <a:graphic>
          <a:graphicData uri="http://schemas.openxmlformats.org/drawingml/2006/table">
            <a:tbl>
              <a:tblPr firstRow="1"/>
              <a:tblGrid>
                <a:gridCol w="3302000">
                  <a:extLst>
                    <a:ext uri="{9D8B030D-6E8A-4147-A177-3AD203B41FA5}">
                      <a16:colId xmlns:a16="http://schemas.microsoft.com/office/drawing/2014/main" val="20000"/>
                    </a:ext>
                  </a:extLst>
                </a:gridCol>
                <a:gridCol w="3683000">
                  <a:extLst>
                    <a:ext uri="{9D8B030D-6E8A-4147-A177-3AD203B41FA5}">
                      <a16:colId xmlns:a16="http://schemas.microsoft.com/office/drawing/2014/main" val="20001"/>
                    </a:ext>
                  </a:extLst>
                </a:gridCol>
                <a:gridCol w="4064000">
                  <a:extLst>
                    <a:ext uri="{9D8B030D-6E8A-4147-A177-3AD203B41FA5}">
                      <a16:colId xmlns:a16="http://schemas.microsoft.com/office/drawing/2014/main" val="20002"/>
                    </a:ext>
                  </a:extLst>
                </a:gridCol>
              </a:tblGrid>
              <a:tr h="457200">
                <a:tc>
                  <a:txBody>
                    <a:bodyPr/>
                    <a:lstStyle/>
                    <a:p>
                      <a:pPr marL="0" indent="0" algn="l">
                        <a:spcBef>
                          <a:spcPts val="0"/>
                        </a:spcBef>
                        <a:spcAft>
                          <a:spcPts val="0"/>
                        </a:spcAft>
                        <a:buNone/>
                      </a:pPr>
                      <a:endParaRPr lang="en-GB" sz="1800" dirty="0"/>
                    </a:p>
                  </a:txBody>
                  <a:tcPr marL="203200" marR="76200" marT="25400" marB="25400" anchor="ctr">
                    <a:lnL w="0">
                      <a:noFill/>
                    </a:lnL>
                    <a:lnR w="0">
                      <a:noFill/>
                    </a:lnR>
                    <a:lnT w="0">
                      <a:noFill/>
                    </a:lnT>
                    <a:lnB w="15875">
                      <a:solidFill>
                        <a:srgbClr val="E0E3E7"/>
                      </a:solidFill>
                    </a:lnB>
                    <a:noFill/>
                  </a:tcPr>
                </a:tc>
                <a:tc>
                  <a:txBody>
                    <a:bodyPr/>
                    <a:lstStyle/>
                    <a:p>
                      <a:pPr marL="0" indent="0" algn="l">
                        <a:spcBef>
                          <a:spcPts val="0"/>
                        </a:spcBef>
                        <a:spcAft>
                          <a:spcPts val="0"/>
                        </a:spcAft>
                        <a:buNone/>
                      </a:pPr>
                      <a:r>
                        <a:rPr lang="en-GB" sz="1300" b="1" spc="150" dirty="0">
                          <a:solidFill>
                            <a:srgbClr val="E4572E"/>
                          </a:solidFill>
                          <a:latin typeface="Anthropic Sans Text"/>
                          <a:cs typeface="Anthropic Sans Text"/>
                        </a:rPr>
                        <a:t>BEFORE</a:t>
                      </a:r>
                      <a:endParaRPr lang="en-GB" sz="1300" dirty="0"/>
                    </a:p>
                  </a:txBody>
                  <a:tcPr marL="203200" marR="76200" marT="25400" marB="25400" anchor="ctr">
                    <a:lnL w="0">
                      <a:noFill/>
                    </a:lnL>
                    <a:lnR w="0">
                      <a:noFill/>
                    </a:lnR>
                    <a:lnT w="0">
                      <a:noFill/>
                    </a:lnT>
                    <a:lnB w="15875">
                      <a:solidFill>
                        <a:srgbClr val="E0E3E7"/>
                      </a:solidFill>
                    </a:lnB>
                    <a:noFill/>
                  </a:tcPr>
                </a:tc>
                <a:tc>
                  <a:txBody>
                    <a:bodyPr/>
                    <a:lstStyle/>
                    <a:p>
                      <a:pPr marL="0" indent="0" algn="l">
                        <a:spcBef>
                          <a:spcPts val="0"/>
                        </a:spcBef>
                        <a:spcAft>
                          <a:spcPts val="0"/>
                        </a:spcAft>
                        <a:buNone/>
                      </a:pPr>
                      <a:r>
                        <a:rPr lang="en-GB" sz="1300" b="1" spc="150" dirty="0">
                          <a:solidFill>
                            <a:srgbClr val="2E9E6A"/>
                          </a:solidFill>
                          <a:latin typeface="Anthropic Sans Text"/>
                          <a:cs typeface="Anthropic Sans Text"/>
                        </a:rPr>
                        <a:t>WITH DENIAL NAVIGATOR</a:t>
                      </a:r>
                      <a:endParaRPr lang="en-GB" sz="1300" dirty="0"/>
                    </a:p>
                  </a:txBody>
                  <a:tcPr marL="431800" marR="76200" marT="25400" marB="25400" anchor="ctr">
                    <a:lnL w="0">
                      <a:noFill/>
                    </a:lnL>
                    <a:lnR w="0">
                      <a:noFill/>
                    </a:lnR>
                    <a:lnT w="0">
                      <a:noFill/>
                    </a:lnT>
                    <a:lnB w="15875">
                      <a:solidFill>
                        <a:srgbClr val="E0E3E7"/>
                      </a:solidFill>
                    </a:lnB>
                    <a:noFill/>
                  </a:tcPr>
                </a:tc>
                <a:extLst>
                  <a:ext uri="{0D108BD9-81ED-4DB2-BD59-A6C34878D82A}">
                    <a16:rowId xmlns:a16="http://schemas.microsoft.com/office/drawing/2014/main" val="10000"/>
                  </a:ext>
                </a:extLst>
              </a:tr>
              <a:tr h="812800">
                <a:tc>
                  <a:txBody>
                    <a:bodyPr/>
                    <a:lstStyle/>
                    <a:p>
                      <a:pPr marL="0" indent="0" algn="l">
                        <a:spcBef>
                          <a:spcPts val="0"/>
                        </a:spcBef>
                        <a:spcAft>
                          <a:spcPts val="0"/>
                        </a:spcAft>
                        <a:buNone/>
                      </a:pPr>
                      <a:r>
                        <a:rPr lang="en-GB" sz="1800" b="1" dirty="0">
                          <a:solidFill>
                            <a:srgbClr val="0B1F3A"/>
                          </a:solidFill>
                          <a:latin typeface="Anthropic Sans Text"/>
                          <a:cs typeface="Anthropic Sans Text"/>
                        </a:rPr>
                        <a:t>Research per denial</a:t>
                      </a:r>
                      <a:endParaRPr lang="en-GB" sz="1800" dirty="0"/>
                    </a:p>
                  </a:txBody>
                  <a:tcPr marL="76200" marR="76200" marT="25400" marB="25400" anchor="ctr">
                    <a:lnL w="0">
                      <a:noFill/>
                    </a:lnL>
                    <a:lnR w="0">
                      <a:noFill/>
                    </a:lnR>
                    <a:lnT w="15875" cap="flat" cmpd="sng" algn="ctr">
                      <a:solidFill>
                        <a:srgbClr val="E0E3E7"/>
                      </a:solidFill>
                      <a:prstDash val="solid"/>
                      <a:round/>
                      <a:headEnd type="none" w="med" len="med"/>
                      <a:tailEnd type="none" w="med" len="med"/>
                    </a:lnT>
                    <a:lnB w="9525">
                      <a:solidFill>
                        <a:srgbClr val="FFFFFF"/>
                      </a:solidFill>
                    </a:lnB>
                    <a:noFill/>
                  </a:tcPr>
                </a:tc>
                <a:tc>
                  <a:txBody>
                    <a:bodyPr/>
                    <a:lstStyle/>
                    <a:p>
                      <a:pPr marL="0" indent="0" algn="l">
                        <a:spcBef>
                          <a:spcPts val="0"/>
                        </a:spcBef>
                        <a:spcAft>
                          <a:spcPts val="0"/>
                        </a:spcAft>
                        <a:buNone/>
                      </a:pPr>
                      <a:r>
                        <a:rPr lang="en-GB" sz="1800" b="0" dirty="0">
                          <a:solidFill>
                            <a:srgbClr val="B23A17"/>
                          </a:solidFill>
                          <a:latin typeface="Anthropic Sans Text"/>
                          <a:cs typeface="Anthropic Sans Text"/>
                        </a:rPr>
                        <a:t>Manual</a:t>
                      </a:r>
                      <a:endParaRPr lang="en-GB" sz="1800" dirty="0"/>
                    </a:p>
                  </a:txBody>
                  <a:tcPr marL="203200" marR="76200" marT="25400" marB="25400" anchor="ctr">
                    <a:lnL w="0">
                      <a:noFill/>
                    </a:lnL>
                    <a:lnR w="0">
                      <a:noFill/>
                    </a:lnR>
                    <a:lnT w="15875" cap="flat" cmpd="sng" algn="ctr">
                      <a:solidFill>
                        <a:srgbClr val="E0E3E7"/>
                      </a:solidFill>
                      <a:prstDash val="solid"/>
                      <a:round/>
                      <a:headEnd type="none" w="med" len="med"/>
                      <a:tailEnd type="none" w="med" len="med"/>
                    </a:lnT>
                    <a:lnB w="9525">
                      <a:solidFill>
                        <a:srgbClr val="FFFFFF"/>
                      </a:solidFill>
                    </a:lnB>
                    <a:solidFill>
                      <a:srgbClr val="FCE9E3"/>
                    </a:solidFill>
                  </a:tcPr>
                </a:tc>
                <a:tc>
                  <a:txBody>
                    <a:bodyPr/>
                    <a:lstStyle/>
                    <a:p>
                      <a:pPr marL="0" indent="0" algn="l">
                        <a:spcBef>
                          <a:spcPts val="0"/>
                        </a:spcBef>
                        <a:spcAft>
                          <a:spcPts val="0"/>
                        </a:spcAft>
                        <a:buNone/>
                      </a:pPr>
                      <a:r>
                        <a:rPr lang="en-GB" sz="1800" b="1" dirty="0">
                          <a:solidFill>
                            <a:srgbClr val="1E7A50"/>
                          </a:solidFill>
                          <a:latin typeface="Anthropic Sans Text"/>
                          <a:cs typeface="Anthropic Sans Text"/>
                        </a:rPr>
                        <a:t>Seconds</a:t>
                      </a:r>
                      <a:endParaRPr lang="en-GB" sz="1800" dirty="0"/>
                    </a:p>
                  </a:txBody>
                  <a:tcPr marL="431800" marR="76200" marT="25400" marB="25400" anchor="ctr">
                    <a:lnL w="0">
                      <a:noFill/>
                    </a:lnL>
                    <a:lnR w="0">
                      <a:noFill/>
                    </a:lnR>
                    <a:lnT w="15875" cap="flat" cmpd="sng" algn="ctr">
                      <a:solidFill>
                        <a:srgbClr val="E0E3E7"/>
                      </a:solidFill>
                      <a:prstDash val="solid"/>
                      <a:round/>
                      <a:headEnd type="none" w="med" len="med"/>
                      <a:tailEnd type="none" w="med" len="med"/>
                    </a:lnT>
                    <a:lnB w="9525">
                      <a:solidFill>
                        <a:srgbClr val="FFFFFF"/>
                      </a:solidFill>
                    </a:lnB>
                    <a:solidFill>
                      <a:srgbClr val="E3F3EA"/>
                    </a:solidFill>
                  </a:tcPr>
                </a:tc>
                <a:extLst>
                  <a:ext uri="{0D108BD9-81ED-4DB2-BD59-A6C34878D82A}">
                    <a16:rowId xmlns:a16="http://schemas.microsoft.com/office/drawing/2014/main" val="10001"/>
                  </a:ext>
                </a:extLst>
              </a:tr>
              <a:tr h="812800">
                <a:tc>
                  <a:txBody>
                    <a:bodyPr/>
                    <a:lstStyle/>
                    <a:p>
                      <a:pPr marL="0" indent="0" algn="l">
                        <a:spcBef>
                          <a:spcPts val="0"/>
                        </a:spcBef>
                        <a:spcAft>
                          <a:spcPts val="0"/>
                        </a:spcAft>
                        <a:buNone/>
                      </a:pPr>
                      <a:r>
                        <a:rPr lang="en-GB" sz="1800" b="1" dirty="0">
                          <a:solidFill>
                            <a:srgbClr val="0B1F3A"/>
                          </a:solidFill>
                          <a:latin typeface="Anthropic Sans Text"/>
                          <a:cs typeface="Anthropic Sans Text"/>
                        </a:rPr>
                        <a:t>Deadline tracking</a:t>
                      </a:r>
                      <a:endParaRPr lang="en-GB" sz="1800" dirty="0"/>
                    </a:p>
                  </a:txBody>
                  <a:tcPr marL="76200" marR="76200" marT="25400" marB="25400" anchor="ctr">
                    <a:lnL w="0">
                      <a:noFill/>
                    </a:lnL>
                    <a:lnR w="0">
                      <a:noFill/>
                    </a:lnR>
                    <a:lnT w="9525" cap="flat" cmpd="sng" algn="ctr">
                      <a:solidFill>
                        <a:srgbClr val="FFFFFF"/>
                      </a:solidFill>
                      <a:prstDash val="solid"/>
                      <a:round/>
                      <a:headEnd type="none" w="med" len="med"/>
                      <a:tailEnd type="none" w="med" len="med"/>
                    </a:lnT>
                    <a:lnB w="9525">
                      <a:solidFill>
                        <a:srgbClr val="FFFFFF"/>
                      </a:solidFill>
                    </a:lnB>
                    <a:noFill/>
                  </a:tcPr>
                </a:tc>
                <a:tc>
                  <a:txBody>
                    <a:bodyPr/>
                    <a:lstStyle/>
                    <a:p>
                      <a:pPr marL="0" indent="0" algn="l">
                        <a:spcBef>
                          <a:spcPts val="0"/>
                        </a:spcBef>
                        <a:spcAft>
                          <a:spcPts val="0"/>
                        </a:spcAft>
                        <a:buNone/>
                      </a:pPr>
                      <a:r>
                        <a:rPr lang="en-GB" sz="1800" b="0" dirty="0">
                          <a:solidFill>
                            <a:srgbClr val="B23A17"/>
                          </a:solidFill>
                          <a:latin typeface="Anthropic Sans Text"/>
                          <a:cs typeface="Anthropic Sans Text"/>
                        </a:rPr>
                        <a:t>Spreadsheets</a:t>
                      </a:r>
                      <a:endParaRPr lang="en-GB" sz="1800" dirty="0"/>
                    </a:p>
                  </a:txBody>
                  <a:tcPr marL="203200" marR="76200" marT="25400" marB="25400" anchor="ctr">
                    <a:lnL w="0">
                      <a:noFill/>
                    </a:lnL>
                    <a:lnR w="0">
                      <a:noFill/>
                    </a:lnR>
                    <a:lnT w="9525" cap="flat" cmpd="sng" algn="ctr">
                      <a:solidFill>
                        <a:srgbClr val="FFFFFF"/>
                      </a:solidFill>
                      <a:prstDash val="solid"/>
                      <a:round/>
                      <a:headEnd type="none" w="med" len="med"/>
                      <a:tailEnd type="none" w="med" len="med"/>
                    </a:lnT>
                    <a:lnB w="9525">
                      <a:solidFill>
                        <a:srgbClr val="FFFFFF"/>
                      </a:solidFill>
                    </a:lnB>
                    <a:solidFill>
                      <a:srgbClr val="FCE9E3"/>
                    </a:solidFill>
                  </a:tcPr>
                </a:tc>
                <a:tc>
                  <a:txBody>
                    <a:bodyPr/>
                    <a:lstStyle/>
                    <a:p>
                      <a:pPr marL="0" indent="0" algn="l">
                        <a:spcBef>
                          <a:spcPts val="0"/>
                        </a:spcBef>
                        <a:spcAft>
                          <a:spcPts val="0"/>
                        </a:spcAft>
                        <a:buNone/>
                      </a:pPr>
                      <a:r>
                        <a:rPr lang="en-GB" sz="1800" b="1" dirty="0">
                          <a:solidFill>
                            <a:srgbClr val="1E7A50"/>
                          </a:solidFill>
                          <a:latin typeface="Anthropic Sans Text"/>
                          <a:cs typeface="Anthropic Sans Text"/>
                        </a:rPr>
                        <a:t>Automatic</a:t>
                      </a:r>
                      <a:endParaRPr lang="en-GB" sz="1800" dirty="0"/>
                    </a:p>
                  </a:txBody>
                  <a:tcPr marL="431800" marR="76200" marT="25400" marB="25400" anchor="ctr">
                    <a:lnL w="0">
                      <a:noFill/>
                    </a:lnL>
                    <a:lnR w="0">
                      <a:noFill/>
                    </a:lnR>
                    <a:lnT w="9525" cap="flat" cmpd="sng" algn="ctr">
                      <a:solidFill>
                        <a:srgbClr val="FFFFFF"/>
                      </a:solidFill>
                      <a:prstDash val="solid"/>
                      <a:round/>
                      <a:headEnd type="none" w="med" len="med"/>
                      <a:tailEnd type="none" w="med" len="med"/>
                    </a:lnT>
                    <a:lnB w="9525">
                      <a:solidFill>
                        <a:srgbClr val="FFFFFF"/>
                      </a:solidFill>
                    </a:lnB>
                    <a:solidFill>
                      <a:srgbClr val="E3F3EA"/>
                    </a:solidFill>
                  </a:tcPr>
                </a:tc>
                <a:extLst>
                  <a:ext uri="{0D108BD9-81ED-4DB2-BD59-A6C34878D82A}">
                    <a16:rowId xmlns:a16="http://schemas.microsoft.com/office/drawing/2014/main" val="10002"/>
                  </a:ext>
                </a:extLst>
              </a:tr>
              <a:tr h="812800">
                <a:tc>
                  <a:txBody>
                    <a:bodyPr/>
                    <a:lstStyle/>
                    <a:p>
                      <a:pPr marL="0" indent="0" algn="l">
                        <a:spcBef>
                          <a:spcPts val="0"/>
                        </a:spcBef>
                        <a:spcAft>
                          <a:spcPts val="0"/>
                        </a:spcAft>
                        <a:buNone/>
                      </a:pPr>
                      <a:r>
                        <a:rPr lang="en-GB" sz="1800" b="1" dirty="0">
                          <a:solidFill>
                            <a:srgbClr val="0B1F3A"/>
                          </a:solidFill>
                          <a:latin typeface="Anthropic Sans Text"/>
                          <a:cs typeface="Anthropic Sans Text"/>
                        </a:rPr>
                        <a:t>Appeal letter</a:t>
                      </a:r>
                      <a:endParaRPr lang="en-GB" sz="1800" dirty="0"/>
                    </a:p>
                  </a:txBody>
                  <a:tcPr marL="76200" marR="76200" marT="25400" marB="25400" anchor="ctr">
                    <a:lnL w="0">
                      <a:noFill/>
                    </a:lnL>
                    <a:lnR w="0">
                      <a:noFill/>
                    </a:lnR>
                    <a:lnT w="9525" cap="flat" cmpd="sng" algn="ctr">
                      <a:solidFill>
                        <a:srgbClr val="FFFFFF"/>
                      </a:solidFill>
                      <a:prstDash val="solid"/>
                      <a:round/>
                      <a:headEnd type="none" w="med" len="med"/>
                      <a:tailEnd type="none" w="med" len="med"/>
                    </a:lnT>
                    <a:lnB w="9525">
                      <a:solidFill>
                        <a:srgbClr val="FFFFFF"/>
                      </a:solidFill>
                    </a:lnB>
                    <a:noFill/>
                  </a:tcPr>
                </a:tc>
                <a:tc>
                  <a:txBody>
                    <a:bodyPr/>
                    <a:lstStyle/>
                    <a:p>
                      <a:pPr marL="0" indent="0" algn="l">
                        <a:spcBef>
                          <a:spcPts val="0"/>
                        </a:spcBef>
                        <a:spcAft>
                          <a:spcPts val="0"/>
                        </a:spcAft>
                        <a:buNone/>
                      </a:pPr>
                      <a:r>
                        <a:rPr lang="en-GB" sz="1800" b="0" dirty="0">
                          <a:solidFill>
                            <a:srgbClr val="B23A17"/>
                          </a:solidFill>
                          <a:latin typeface="Anthropic Sans Text"/>
                          <a:cs typeface="Anthropic Sans Text"/>
                        </a:rPr>
                        <a:t>From scratch</a:t>
                      </a:r>
                      <a:endParaRPr lang="en-GB" sz="1800" dirty="0"/>
                    </a:p>
                  </a:txBody>
                  <a:tcPr marL="203200" marR="76200" marT="25400" marB="25400" anchor="ctr">
                    <a:lnL w="0">
                      <a:noFill/>
                    </a:lnL>
                    <a:lnR w="0">
                      <a:noFill/>
                    </a:lnR>
                    <a:lnT w="9525" cap="flat" cmpd="sng" algn="ctr">
                      <a:solidFill>
                        <a:srgbClr val="FFFFFF"/>
                      </a:solidFill>
                      <a:prstDash val="solid"/>
                      <a:round/>
                      <a:headEnd type="none" w="med" len="med"/>
                      <a:tailEnd type="none" w="med" len="med"/>
                    </a:lnT>
                    <a:lnB w="9525">
                      <a:solidFill>
                        <a:srgbClr val="FFFFFF"/>
                      </a:solidFill>
                    </a:lnB>
                    <a:solidFill>
                      <a:srgbClr val="FCE9E3"/>
                    </a:solidFill>
                  </a:tcPr>
                </a:tc>
                <a:tc>
                  <a:txBody>
                    <a:bodyPr/>
                    <a:lstStyle/>
                    <a:p>
                      <a:pPr marL="0" indent="0" algn="l">
                        <a:spcBef>
                          <a:spcPts val="0"/>
                        </a:spcBef>
                        <a:spcAft>
                          <a:spcPts val="0"/>
                        </a:spcAft>
                        <a:buNone/>
                      </a:pPr>
                      <a:r>
                        <a:rPr lang="en-GB" sz="1800" b="1" dirty="0">
                          <a:solidFill>
                            <a:srgbClr val="1E7A50"/>
                          </a:solidFill>
                          <a:latin typeface="Anthropic Sans Text"/>
                          <a:cs typeface="Anthropic Sans Text"/>
                        </a:rPr>
                        <a:t>Drafted with citations</a:t>
                      </a:r>
                      <a:endParaRPr lang="en-GB" sz="1800" dirty="0"/>
                    </a:p>
                  </a:txBody>
                  <a:tcPr marL="431800" marR="76200" marT="25400" marB="25400" anchor="ctr">
                    <a:lnL w="0">
                      <a:noFill/>
                    </a:lnL>
                    <a:lnR w="0">
                      <a:noFill/>
                    </a:lnR>
                    <a:lnT w="9525" cap="flat" cmpd="sng" algn="ctr">
                      <a:solidFill>
                        <a:srgbClr val="FFFFFF"/>
                      </a:solidFill>
                      <a:prstDash val="solid"/>
                      <a:round/>
                      <a:headEnd type="none" w="med" len="med"/>
                      <a:tailEnd type="none" w="med" len="med"/>
                    </a:lnT>
                    <a:lnB w="9525">
                      <a:solidFill>
                        <a:srgbClr val="FFFFFF"/>
                      </a:solidFill>
                    </a:lnB>
                    <a:solidFill>
                      <a:srgbClr val="E3F3EA"/>
                    </a:solidFill>
                  </a:tcPr>
                </a:tc>
                <a:extLst>
                  <a:ext uri="{0D108BD9-81ED-4DB2-BD59-A6C34878D82A}">
                    <a16:rowId xmlns:a16="http://schemas.microsoft.com/office/drawing/2014/main" val="10003"/>
                  </a:ext>
                </a:extLst>
              </a:tr>
              <a:tr h="812800">
                <a:tc>
                  <a:txBody>
                    <a:bodyPr/>
                    <a:lstStyle/>
                    <a:p>
                      <a:pPr marL="0" indent="0" algn="l">
                        <a:spcBef>
                          <a:spcPts val="0"/>
                        </a:spcBef>
                        <a:spcAft>
                          <a:spcPts val="0"/>
                        </a:spcAft>
                        <a:buNone/>
                      </a:pPr>
                      <a:r>
                        <a:rPr lang="en-GB" sz="1800" b="1" dirty="0">
                          <a:solidFill>
                            <a:srgbClr val="0B1F3A"/>
                          </a:solidFill>
                          <a:latin typeface="Anthropic Sans Text"/>
                          <a:cs typeface="Anthropic Sans Text"/>
                        </a:rPr>
                        <a:t>Prioritisation</a:t>
                      </a:r>
                      <a:endParaRPr lang="en-GB" sz="1800" dirty="0"/>
                    </a:p>
                  </a:txBody>
                  <a:tcPr marL="76200" marR="76200" marT="25400" marB="25400" anchor="ctr">
                    <a:lnL w="0">
                      <a:noFill/>
                    </a:lnL>
                    <a:lnR w="0">
                      <a:noFill/>
                    </a:lnR>
                    <a:lnT w="9525" cap="flat" cmpd="sng" algn="ctr">
                      <a:solidFill>
                        <a:srgbClr val="FFFFFF"/>
                      </a:solidFill>
                      <a:prstDash val="solid"/>
                      <a:round/>
                      <a:headEnd type="none" w="med" len="med"/>
                      <a:tailEnd type="none" w="med" len="med"/>
                    </a:lnT>
                    <a:lnB w="9525">
                      <a:solidFill>
                        <a:srgbClr val="FFFFFF"/>
                      </a:solidFill>
                    </a:lnB>
                    <a:noFill/>
                  </a:tcPr>
                </a:tc>
                <a:tc>
                  <a:txBody>
                    <a:bodyPr/>
                    <a:lstStyle/>
                    <a:p>
                      <a:pPr marL="0" indent="0" algn="l">
                        <a:spcBef>
                          <a:spcPts val="0"/>
                        </a:spcBef>
                        <a:spcAft>
                          <a:spcPts val="0"/>
                        </a:spcAft>
                        <a:buNone/>
                      </a:pPr>
                      <a:r>
                        <a:rPr lang="en-GB" sz="1800" b="0" dirty="0">
                          <a:solidFill>
                            <a:srgbClr val="B23A17"/>
                          </a:solidFill>
                          <a:latin typeface="Anthropic Sans Text"/>
                          <a:cs typeface="Anthropic Sans Text"/>
                        </a:rPr>
                        <a:t>First in, first out</a:t>
                      </a:r>
                      <a:endParaRPr lang="en-GB" sz="1800" dirty="0"/>
                    </a:p>
                  </a:txBody>
                  <a:tcPr marL="203200" marR="76200" marT="25400" marB="25400" anchor="ctr">
                    <a:lnL w="0">
                      <a:noFill/>
                    </a:lnL>
                    <a:lnR w="0">
                      <a:noFill/>
                    </a:lnR>
                    <a:lnT w="9525" cap="flat" cmpd="sng" algn="ctr">
                      <a:solidFill>
                        <a:srgbClr val="FFFFFF"/>
                      </a:solidFill>
                      <a:prstDash val="solid"/>
                      <a:round/>
                      <a:headEnd type="none" w="med" len="med"/>
                      <a:tailEnd type="none" w="med" len="med"/>
                    </a:lnT>
                    <a:lnB w="9525">
                      <a:solidFill>
                        <a:srgbClr val="FFFFFF"/>
                      </a:solidFill>
                    </a:lnB>
                    <a:solidFill>
                      <a:srgbClr val="FCE9E3"/>
                    </a:solidFill>
                  </a:tcPr>
                </a:tc>
                <a:tc>
                  <a:txBody>
                    <a:bodyPr/>
                    <a:lstStyle/>
                    <a:p>
                      <a:pPr marL="0" indent="0" algn="l">
                        <a:spcBef>
                          <a:spcPts val="0"/>
                        </a:spcBef>
                        <a:spcAft>
                          <a:spcPts val="0"/>
                        </a:spcAft>
                        <a:buNone/>
                      </a:pPr>
                      <a:r>
                        <a:rPr lang="en-GB" sz="1800" b="1" dirty="0">
                          <a:solidFill>
                            <a:srgbClr val="1E7A50"/>
                          </a:solidFill>
                          <a:latin typeface="Anthropic Sans Text"/>
                          <a:cs typeface="Anthropic Sans Text"/>
                        </a:rPr>
                        <a:t>Dollars × urgency</a:t>
                      </a:r>
                      <a:endParaRPr lang="en-GB" sz="1800" dirty="0"/>
                    </a:p>
                  </a:txBody>
                  <a:tcPr marL="431800" marR="76200" marT="25400" marB="25400" anchor="ctr">
                    <a:lnL w="0">
                      <a:noFill/>
                    </a:lnL>
                    <a:lnR w="0">
                      <a:noFill/>
                    </a:lnR>
                    <a:lnT w="9525" cap="flat" cmpd="sng" algn="ctr">
                      <a:solidFill>
                        <a:srgbClr val="FFFFFF"/>
                      </a:solidFill>
                      <a:prstDash val="solid"/>
                      <a:round/>
                      <a:headEnd type="none" w="med" len="med"/>
                      <a:tailEnd type="none" w="med" len="med"/>
                    </a:lnT>
                    <a:lnB w="9525">
                      <a:solidFill>
                        <a:srgbClr val="FFFFFF"/>
                      </a:solidFill>
                    </a:lnB>
                    <a:solidFill>
                      <a:srgbClr val="E3F3EA"/>
                    </a:solidFill>
                  </a:tcPr>
                </a:tc>
                <a:extLst>
                  <a:ext uri="{0D108BD9-81ED-4DB2-BD59-A6C34878D82A}">
                    <a16:rowId xmlns:a16="http://schemas.microsoft.com/office/drawing/2014/main" val="10004"/>
                  </a:ext>
                </a:extLst>
              </a:tr>
              <a:tr h="812800">
                <a:tc>
                  <a:txBody>
                    <a:bodyPr/>
                    <a:lstStyle/>
                    <a:p>
                      <a:pPr marL="0" indent="0" algn="l">
                        <a:spcBef>
                          <a:spcPts val="0"/>
                        </a:spcBef>
                        <a:spcAft>
                          <a:spcPts val="0"/>
                        </a:spcAft>
                        <a:buNone/>
                      </a:pPr>
                      <a:r>
                        <a:rPr lang="en-GB" sz="1800" b="1" dirty="0">
                          <a:solidFill>
                            <a:srgbClr val="0B1F3A"/>
                          </a:solidFill>
                          <a:latin typeface="Anthropic Sans Text"/>
                          <a:cs typeface="Anthropic Sans Text"/>
                        </a:rPr>
                        <a:t>New-staff ramp-up</a:t>
                      </a:r>
                      <a:endParaRPr lang="en-GB" sz="1800" dirty="0"/>
                    </a:p>
                  </a:txBody>
                  <a:tcPr marL="76200" marR="76200" marT="25400" marB="25400" anchor="ctr">
                    <a:lnL w="0">
                      <a:noFill/>
                    </a:lnL>
                    <a:lnR w="0">
                      <a:noFill/>
                    </a:lnR>
                    <a:lnT w="9525" cap="flat" cmpd="sng" algn="ctr">
                      <a:solidFill>
                        <a:srgbClr val="FFFFFF"/>
                      </a:solidFill>
                      <a:prstDash val="solid"/>
                      <a:round/>
                      <a:headEnd type="none" w="med" len="med"/>
                      <a:tailEnd type="none" w="med" len="med"/>
                    </a:lnT>
                    <a:lnB w="9525">
                      <a:solidFill>
                        <a:srgbClr val="FFFFFF"/>
                      </a:solidFill>
                    </a:lnB>
                    <a:noFill/>
                  </a:tcPr>
                </a:tc>
                <a:tc>
                  <a:txBody>
                    <a:bodyPr/>
                    <a:lstStyle/>
                    <a:p>
                      <a:pPr marL="0" indent="0" algn="l">
                        <a:spcBef>
                          <a:spcPts val="0"/>
                        </a:spcBef>
                        <a:spcAft>
                          <a:spcPts val="0"/>
                        </a:spcAft>
                        <a:buNone/>
                      </a:pPr>
                      <a:r>
                        <a:rPr lang="en-GB" sz="1800" b="0" dirty="0">
                          <a:solidFill>
                            <a:srgbClr val="B23A17"/>
                          </a:solidFill>
                          <a:latin typeface="Anthropic Sans Text"/>
                          <a:cs typeface="Anthropic Sans Text"/>
                        </a:rPr>
                        <a:t>Months</a:t>
                      </a:r>
                      <a:endParaRPr lang="en-GB" sz="1800" dirty="0"/>
                    </a:p>
                  </a:txBody>
                  <a:tcPr marL="203200" marR="76200" marT="25400" marB="25400" anchor="ctr">
                    <a:lnL w="0">
                      <a:noFill/>
                    </a:lnL>
                    <a:lnR w="0">
                      <a:noFill/>
                    </a:lnR>
                    <a:lnT w="9525" cap="flat" cmpd="sng" algn="ctr">
                      <a:solidFill>
                        <a:srgbClr val="FFFFFF"/>
                      </a:solidFill>
                      <a:prstDash val="solid"/>
                      <a:round/>
                      <a:headEnd type="none" w="med" len="med"/>
                      <a:tailEnd type="none" w="med" len="med"/>
                    </a:lnT>
                    <a:lnB w="9525">
                      <a:solidFill>
                        <a:srgbClr val="FFFFFF"/>
                      </a:solidFill>
                    </a:lnB>
                    <a:solidFill>
                      <a:srgbClr val="FCE9E3"/>
                    </a:solidFill>
                  </a:tcPr>
                </a:tc>
                <a:tc>
                  <a:txBody>
                    <a:bodyPr/>
                    <a:lstStyle/>
                    <a:p>
                      <a:pPr marL="0" indent="0" algn="l">
                        <a:spcBef>
                          <a:spcPts val="0"/>
                        </a:spcBef>
                        <a:spcAft>
                          <a:spcPts val="0"/>
                        </a:spcAft>
                        <a:buNone/>
                      </a:pPr>
                      <a:r>
                        <a:rPr lang="en-GB" sz="1800" b="1" dirty="0">
                          <a:solidFill>
                            <a:srgbClr val="1E7A50"/>
                          </a:solidFill>
                          <a:latin typeface="Anthropic Sans Text"/>
                          <a:cs typeface="Anthropic Sans Text"/>
                        </a:rPr>
                        <a:t>Guided from day one</a:t>
                      </a:r>
                      <a:endParaRPr lang="en-GB" sz="1800" dirty="0"/>
                    </a:p>
                  </a:txBody>
                  <a:tcPr marL="431800" marR="76200" marT="25400" marB="25400" anchor="ctr">
                    <a:lnL w="0">
                      <a:noFill/>
                    </a:lnL>
                    <a:lnR w="0">
                      <a:noFill/>
                    </a:lnR>
                    <a:lnT w="9525" cap="flat" cmpd="sng" algn="ctr">
                      <a:solidFill>
                        <a:srgbClr val="FFFFFF"/>
                      </a:solidFill>
                      <a:prstDash val="solid"/>
                      <a:round/>
                      <a:headEnd type="none" w="med" len="med"/>
                      <a:tailEnd type="none" w="med" len="med"/>
                    </a:lnT>
                    <a:lnB w="9525">
                      <a:solidFill>
                        <a:srgbClr val="FFFFFF"/>
                      </a:solidFill>
                    </a:lnB>
                    <a:solidFill>
                      <a:srgbClr val="E3F3EA"/>
                    </a:solidFill>
                  </a:tcPr>
                </a:tc>
                <a:extLst>
                  <a:ext uri="{0D108BD9-81ED-4DB2-BD59-A6C34878D82A}">
                    <a16:rowId xmlns:a16="http://schemas.microsoft.com/office/drawing/2014/main" val="10005"/>
                  </a:ext>
                </a:extLst>
              </a:tr>
            </a:tbl>
          </a:graphicData>
        </a:graphic>
      </p:graphicFrame>
      <p:sp>
        <p:nvSpPr>
          <p:cNvPr id="101" name="Shape 101"/>
          <p:cNvSpPr/>
          <p:nvPr/>
        </p:nvSpPr>
        <p:spPr>
          <a:xfrm>
            <a:off x="7518400" y="2260600"/>
            <a:ext cx="304800" cy="304800"/>
          </a:xfrm>
          <a:prstGeom prst="ellipse">
            <a:avLst/>
          </a:prstGeom>
          <a:solidFill>
            <a:srgbClr val="2E9E6A"/>
          </a:solidFill>
          <a:ln>
            <a:noFill/>
          </a:ln>
        </p:spPr>
        <p:txBody>
          <a:bodyPr wrap="square" lIns="0" tIns="0" rIns="0" bIns="0" rtlCol="0" anchor="ctr">
            <a:noAutofit/>
          </a:bodyPr>
          <a:lstStyle/>
          <a:p>
            <a:pPr marL="0" indent="0" algn="ctr">
              <a:spcBef>
                <a:spcPts val="0"/>
              </a:spcBef>
              <a:spcAft>
                <a:spcPts val="0"/>
              </a:spcAft>
              <a:buNone/>
            </a:pPr>
            <a:r>
              <a:rPr lang="en-GB" sz="1200" b="1" dirty="0">
                <a:solidFill>
                  <a:srgbClr val="FFFFFF"/>
                </a:solidFill>
                <a:latin typeface="Anthropic Sans Text"/>
                <a:cs typeface="Anthropic Sans Text"/>
              </a:rPr>
              <a:t>→</a:t>
            </a:r>
            <a:endParaRPr lang="en-GB" sz="1200" dirty="0"/>
          </a:p>
        </p:txBody>
      </p:sp>
      <p:sp>
        <p:nvSpPr>
          <p:cNvPr id="102" name="Shape 102"/>
          <p:cNvSpPr/>
          <p:nvPr/>
        </p:nvSpPr>
        <p:spPr>
          <a:xfrm>
            <a:off x="7518400" y="3073400"/>
            <a:ext cx="304800" cy="304800"/>
          </a:xfrm>
          <a:prstGeom prst="ellipse">
            <a:avLst/>
          </a:prstGeom>
          <a:solidFill>
            <a:srgbClr val="2E9E6A"/>
          </a:solidFill>
          <a:ln>
            <a:noFill/>
          </a:ln>
        </p:spPr>
        <p:txBody>
          <a:bodyPr wrap="square" lIns="0" tIns="0" rIns="0" bIns="0" rtlCol="0" anchor="ctr">
            <a:noAutofit/>
          </a:bodyPr>
          <a:lstStyle/>
          <a:p>
            <a:pPr marL="0" indent="0" algn="ctr">
              <a:spcBef>
                <a:spcPts val="0"/>
              </a:spcBef>
              <a:spcAft>
                <a:spcPts val="0"/>
              </a:spcAft>
              <a:buNone/>
            </a:pPr>
            <a:r>
              <a:rPr lang="en-GB" sz="1200" b="1" dirty="0">
                <a:solidFill>
                  <a:srgbClr val="FFFFFF"/>
                </a:solidFill>
                <a:latin typeface="Anthropic Sans Text"/>
                <a:cs typeface="Anthropic Sans Text"/>
              </a:rPr>
              <a:t>→</a:t>
            </a:r>
            <a:endParaRPr lang="en-GB" sz="1200" dirty="0"/>
          </a:p>
        </p:txBody>
      </p:sp>
      <p:sp>
        <p:nvSpPr>
          <p:cNvPr id="103" name="Shape 103"/>
          <p:cNvSpPr/>
          <p:nvPr/>
        </p:nvSpPr>
        <p:spPr>
          <a:xfrm>
            <a:off x="7518400" y="3886200"/>
            <a:ext cx="304800" cy="304800"/>
          </a:xfrm>
          <a:prstGeom prst="ellipse">
            <a:avLst/>
          </a:prstGeom>
          <a:solidFill>
            <a:srgbClr val="2E9E6A"/>
          </a:solidFill>
          <a:ln>
            <a:noFill/>
          </a:ln>
        </p:spPr>
        <p:txBody>
          <a:bodyPr wrap="square" lIns="0" tIns="0" rIns="0" bIns="0" rtlCol="0" anchor="ctr">
            <a:noAutofit/>
          </a:bodyPr>
          <a:lstStyle/>
          <a:p>
            <a:pPr marL="0" indent="0" algn="ctr">
              <a:spcBef>
                <a:spcPts val="0"/>
              </a:spcBef>
              <a:spcAft>
                <a:spcPts val="0"/>
              </a:spcAft>
              <a:buNone/>
            </a:pPr>
            <a:r>
              <a:rPr lang="en-GB" sz="1200" b="1" dirty="0">
                <a:solidFill>
                  <a:srgbClr val="FFFFFF"/>
                </a:solidFill>
                <a:latin typeface="Anthropic Sans Text"/>
                <a:cs typeface="Anthropic Sans Text"/>
              </a:rPr>
              <a:t>→</a:t>
            </a:r>
            <a:endParaRPr lang="en-GB" sz="1200" dirty="0"/>
          </a:p>
        </p:txBody>
      </p:sp>
      <p:sp>
        <p:nvSpPr>
          <p:cNvPr id="104" name="Shape 104"/>
          <p:cNvSpPr/>
          <p:nvPr/>
        </p:nvSpPr>
        <p:spPr>
          <a:xfrm>
            <a:off x="7518400" y="4699000"/>
            <a:ext cx="304800" cy="304800"/>
          </a:xfrm>
          <a:prstGeom prst="ellipse">
            <a:avLst/>
          </a:prstGeom>
          <a:solidFill>
            <a:srgbClr val="2E9E6A"/>
          </a:solidFill>
          <a:ln>
            <a:noFill/>
          </a:ln>
        </p:spPr>
        <p:txBody>
          <a:bodyPr wrap="square" lIns="0" tIns="0" rIns="0" bIns="0" rtlCol="0" anchor="ctr">
            <a:noAutofit/>
          </a:bodyPr>
          <a:lstStyle/>
          <a:p>
            <a:pPr marL="0" indent="0" algn="ctr">
              <a:spcBef>
                <a:spcPts val="0"/>
              </a:spcBef>
              <a:spcAft>
                <a:spcPts val="0"/>
              </a:spcAft>
              <a:buNone/>
            </a:pPr>
            <a:r>
              <a:rPr lang="en-GB" sz="1200" b="1" dirty="0">
                <a:solidFill>
                  <a:srgbClr val="FFFFFF"/>
                </a:solidFill>
                <a:latin typeface="Anthropic Sans Text"/>
                <a:cs typeface="Anthropic Sans Text"/>
              </a:rPr>
              <a:t>→</a:t>
            </a:r>
            <a:endParaRPr lang="en-GB" sz="1200" dirty="0"/>
          </a:p>
        </p:txBody>
      </p:sp>
      <p:sp>
        <p:nvSpPr>
          <p:cNvPr id="105" name="Shape 105"/>
          <p:cNvSpPr/>
          <p:nvPr/>
        </p:nvSpPr>
        <p:spPr>
          <a:xfrm>
            <a:off x="7518400" y="5511800"/>
            <a:ext cx="304800" cy="304800"/>
          </a:xfrm>
          <a:prstGeom prst="ellipse">
            <a:avLst/>
          </a:prstGeom>
          <a:solidFill>
            <a:srgbClr val="2E9E6A"/>
          </a:solidFill>
          <a:ln>
            <a:noFill/>
          </a:ln>
        </p:spPr>
        <p:txBody>
          <a:bodyPr wrap="square" lIns="0" tIns="0" rIns="0" bIns="0" rtlCol="0" anchor="ctr">
            <a:noAutofit/>
          </a:bodyPr>
          <a:lstStyle/>
          <a:p>
            <a:pPr marL="0" indent="0" algn="ctr">
              <a:spcBef>
                <a:spcPts val="0"/>
              </a:spcBef>
              <a:spcAft>
                <a:spcPts val="0"/>
              </a:spcAft>
              <a:buNone/>
            </a:pPr>
            <a:r>
              <a:rPr lang="en-GB" sz="1200" b="1" dirty="0">
                <a:solidFill>
                  <a:srgbClr val="FFFFFF"/>
                </a:solidFill>
                <a:latin typeface="Anthropic Sans Text"/>
                <a:cs typeface="Anthropic Sans Text"/>
              </a:rPr>
              <a:t>→</a:t>
            </a:r>
            <a:endParaRPr lang="en-GB" sz="1200" dirty="0"/>
          </a:p>
        </p:txBody>
      </p:sp>
    </p:spTree>
    <p:extLst>
      <p:ext uri="{BB962C8B-B14F-4D97-AF65-F5344CB8AC3E}">
        <p14:creationId xmlns:p14="http://schemas.microsoft.com/office/powerpoint/2010/main" val="15521008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82413-4417-D06A-89A6-7140A10F53F6}"/>
              </a:ext>
            </a:extLst>
          </p:cNvPr>
          <p:cNvSpPr>
            <a:spLocks noGrp="1"/>
          </p:cNvSpPr>
          <p:nvPr>
            <p:ph type="title"/>
          </p:nvPr>
        </p:nvSpPr>
        <p:spPr/>
        <p:txBody>
          <a:bodyPr>
            <a:normAutofit fontScale="90000"/>
          </a:bodyPr>
          <a:lstStyle/>
          <a:p>
            <a:r>
              <a:rPr lang="en-GB" sz="2800" dirty="0"/>
              <a:t>Rules, prioritisation and grounded AI together beat any single approach</a:t>
            </a:r>
          </a:p>
        </p:txBody>
      </p:sp>
      <p:graphicFrame>
        <p:nvGraphicFramePr>
          <p:cNvPr id="100" name="Table 100"/>
          <p:cNvGraphicFramePr>
            <a:graphicFrameLocks noGrp="1"/>
          </p:cNvGraphicFramePr>
          <p:nvPr/>
        </p:nvGraphicFramePr>
        <p:xfrm>
          <a:off x="685800" y="1473200"/>
          <a:ext cx="11049000" cy="4546600"/>
        </p:xfrm>
        <a:graphic>
          <a:graphicData uri="http://schemas.openxmlformats.org/drawingml/2006/table">
            <a:tbl>
              <a:tblPr firstRow="1"/>
              <a:tblGrid>
                <a:gridCol w="3937000">
                  <a:extLst>
                    <a:ext uri="{9D8B030D-6E8A-4147-A177-3AD203B41FA5}">
                      <a16:colId xmlns:a16="http://schemas.microsoft.com/office/drawing/2014/main" val="20000"/>
                    </a:ext>
                  </a:extLst>
                </a:gridCol>
                <a:gridCol w="2159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667000">
                  <a:extLst>
                    <a:ext uri="{9D8B030D-6E8A-4147-A177-3AD203B41FA5}">
                      <a16:colId xmlns:a16="http://schemas.microsoft.com/office/drawing/2014/main" val="20003"/>
                    </a:ext>
                  </a:extLst>
                </a:gridCol>
              </a:tblGrid>
              <a:tr h="736600">
                <a:tc>
                  <a:txBody>
                    <a:bodyPr/>
                    <a:lstStyle/>
                    <a:p>
                      <a:pPr marL="0" indent="0" algn="l">
                        <a:spcBef>
                          <a:spcPts val="0"/>
                        </a:spcBef>
                        <a:spcAft>
                          <a:spcPts val="0"/>
                        </a:spcAft>
                        <a:buNone/>
                      </a:pPr>
                      <a:endParaRPr lang="en-GB" sz="1600" dirty="0"/>
                    </a:p>
                  </a:txBody>
                  <a:tcPr marL="76200" marR="76200" marT="25400" marB="25400" anchor="ctr">
                    <a:lnL w="0">
                      <a:noFill/>
                    </a:lnL>
                    <a:lnR w="0">
                      <a:noFill/>
                    </a:lnR>
                    <a:lnT w="0">
                      <a:noFill/>
                    </a:lnT>
                    <a:lnB w="15875">
                      <a:solidFill>
                        <a:srgbClr val="9AA5B1"/>
                      </a:solidFill>
                    </a:lnB>
                    <a:noFill/>
                  </a:tcPr>
                </a:tc>
                <a:tc>
                  <a:txBody>
                    <a:bodyPr/>
                    <a:lstStyle/>
                    <a:p>
                      <a:pPr marL="0" indent="0" algn="ctr">
                        <a:spcBef>
                          <a:spcPts val="0"/>
                        </a:spcBef>
                        <a:spcAft>
                          <a:spcPts val="0"/>
                        </a:spcAft>
                        <a:buNone/>
                      </a:pPr>
                      <a:r>
                        <a:rPr lang="en-GB" sz="1500" b="1" dirty="0">
                          <a:solidFill>
                            <a:srgbClr val="52606D"/>
                          </a:solidFill>
                          <a:latin typeface="Anthropic Sans Text"/>
                          <a:cs typeface="Anthropic Sans Text"/>
                        </a:rPr>
                        <a:t>Chatbot only</a:t>
                      </a:r>
                      <a:endParaRPr lang="en-GB" sz="1500" dirty="0"/>
                    </a:p>
                  </a:txBody>
                  <a:tcPr marL="76200" marR="76200" marT="25400" marB="25400" anchor="ctr">
                    <a:lnL w="0">
                      <a:noFill/>
                    </a:lnL>
                    <a:lnR w="0">
                      <a:noFill/>
                    </a:lnR>
                    <a:lnT w="0">
                      <a:noFill/>
                    </a:lnT>
                    <a:lnB w="15875">
                      <a:solidFill>
                        <a:srgbClr val="9AA5B1"/>
                      </a:solidFill>
                    </a:lnB>
                    <a:noFill/>
                  </a:tcPr>
                </a:tc>
                <a:tc>
                  <a:txBody>
                    <a:bodyPr/>
                    <a:lstStyle/>
                    <a:p>
                      <a:pPr marL="0" indent="0" algn="ctr">
                        <a:spcBef>
                          <a:spcPts val="0"/>
                        </a:spcBef>
                        <a:spcAft>
                          <a:spcPts val="0"/>
                        </a:spcAft>
                        <a:buNone/>
                      </a:pPr>
                      <a:r>
                        <a:rPr lang="en-GB" sz="1500" b="1" dirty="0">
                          <a:solidFill>
                            <a:srgbClr val="52606D"/>
                          </a:solidFill>
                          <a:latin typeface="Anthropic Sans Text"/>
                          <a:cs typeface="Anthropic Sans Text"/>
                        </a:rPr>
                        <a:t>Custom-built AI only</a:t>
                      </a:r>
                      <a:endParaRPr lang="en-GB" sz="1500" dirty="0"/>
                    </a:p>
                  </a:txBody>
                  <a:tcPr marL="76200" marR="76200" marT="25400" marB="25400" anchor="ctr">
                    <a:lnL w="0">
                      <a:noFill/>
                    </a:lnL>
                    <a:lnR w="0">
                      <a:noFill/>
                    </a:lnR>
                    <a:lnT w="0">
                      <a:noFill/>
                    </a:lnT>
                    <a:lnB w="15875">
                      <a:solidFill>
                        <a:srgbClr val="9AA5B1"/>
                      </a:solidFill>
                    </a:lnB>
                    <a:noFill/>
                  </a:tcPr>
                </a:tc>
                <a:tc>
                  <a:txBody>
                    <a:bodyPr/>
                    <a:lstStyle/>
                    <a:p>
                      <a:pPr marL="0" indent="0" algn="ctr">
                        <a:spcBef>
                          <a:spcPts val="0"/>
                        </a:spcBef>
                        <a:spcAft>
                          <a:spcPts val="0"/>
                        </a:spcAft>
                        <a:buNone/>
                      </a:pPr>
                      <a:r>
                        <a:rPr lang="en-GB" sz="1600" b="1" dirty="0">
                          <a:solidFill>
                            <a:srgbClr val="FFFFFF"/>
                          </a:solidFill>
                          <a:latin typeface="Anthropic Sans Text"/>
                          <a:cs typeface="Anthropic Sans Text"/>
                        </a:rPr>
                        <a:t>Denial Navigator</a:t>
                      </a:r>
                      <a:endParaRPr lang="en-GB" sz="1600" dirty="0"/>
                    </a:p>
                    <a:p>
                      <a:pPr marL="0" indent="0" algn="ctr">
                        <a:spcBef>
                          <a:spcPts val="0"/>
                        </a:spcBef>
                        <a:spcAft>
                          <a:spcPts val="0"/>
                        </a:spcAft>
                        <a:buNone/>
                      </a:pPr>
                      <a:r>
                        <a:rPr lang="en-GB" sz="1100" b="0" dirty="0">
                          <a:solidFill>
                            <a:srgbClr val="E0F5F9"/>
                          </a:solidFill>
                          <a:latin typeface="Anthropic Sans Text"/>
                          <a:cs typeface="Anthropic Sans Text"/>
                        </a:rPr>
                        <a:t>rules + prioritisation + grounded AI</a:t>
                      </a:r>
                      <a:endParaRPr lang="en-GB" sz="1100" dirty="0"/>
                    </a:p>
                  </a:txBody>
                  <a:tcPr marL="76200" marR="76200" marT="25400" marB="25400" anchor="ctr">
                    <a:lnL w="0">
                      <a:noFill/>
                    </a:lnL>
                    <a:lnR w="0">
                      <a:noFill/>
                    </a:lnR>
                    <a:lnT w="0">
                      <a:noFill/>
                    </a:lnT>
                    <a:lnB w="15875">
                      <a:solidFill>
                        <a:srgbClr val="9AA5B1"/>
                      </a:solidFill>
                    </a:lnB>
                    <a:solidFill>
                      <a:srgbClr val="00A3C4"/>
                    </a:solidFill>
                  </a:tcPr>
                </a:tc>
                <a:extLst>
                  <a:ext uri="{0D108BD9-81ED-4DB2-BD59-A6C34878D82A}">
                    <a16:rowId xmlns:a16="http://schemas.microsoft.com/office/drawing/2014/main" val="10000"/>
                  </a:ext>
                </a:extLst>
              </a:tr>
              <a:tr h="635000">
                <a:tc>
                  <a:txBody>
                    <a:bodyPr/>
                    <a:lstStyle/>
                    <a:p>
                      <a:pPr marL="0" indent="0" algn="l">
                        <a:spcBef>
                          <a:spcPts val="0"/>
                        </a:spcBef>
                        <a:spcAft>
                          <a:spcPts val="0"/>
                        </a:spcAft>
                        <a:buNone/>
                      </a:pPr>
                      <a:r>
                        <a:rPr lang="en-GB" sz="1600" b="1" dirty="0">
                          <a:solidFill>
                            <a:srgbClr val="0B1F3A"/>
                          </a:solidFill>
                          <a:latin typeface="Anthropic Sans Text"/>
                          <a:cs typeface="Anthropic Sans Text"/>
                        </a:rPr>
                        <a:t>Accurate on codes and deadlines</a:t>
                      </a:r>
                      <a:endParaRPr lang="en-GB" sz="1600" dirty="0"/>
                    </a:p>
                  </a:txBody>
                  <a:tcPr marL="76200" marR="76200" marT="25400" marB="25400" anchor="ctr">
                    <a:lnL w="0">
                      <a:noFill/>
                    </a:lnL>
                    <a:lnR w="0">
                      <a:noFill/>
                    </a:lnR>
                    <a:lnT w="15875" cap="flat" cmpd="sng" algn="ctr">
                      <a:solidFill>
                        <a:srgbClr val="9AA5B1"/>
                      </a:solidFill>
                      <a:prstDash val="solid"/>
                      <a:round/>
                      <a:headEnd type="none" w="med" len="med"/>
                      <a:tailEnd type="none" w="med" len="med"/>
                    </a:lnT>
                    <a:lnB w="9525">
                      <a:solidFill>
                        <a:srgbClr val="E0E3E7"/>
                      </a:solidFill>
                    </a:lnB>
                    <a:noFill/>
                  </a:tcPr>
                </a:tc>
                <a:tc>
                  <a:txBody>
                    <a:bodyPr/>
                    <a:lstStyle/>
                    <a:p>
                      <a:pPr marL="0" indent="0" algn="ctr">
                        <a:spcBef>
                          <a:spcPts val="0"/>
                        </a:spcBef>
                        <a:spcAft>
                          <a:spcPts val="0"/>
                        </a:spcAft>
                        <a:buNone/>
                      </a:pPr>
                      <a:r>
                        <a:rPr lang="en-GB" sz="2200" b="1" dirty="0">
                          <a:solidFill>
                            <a:srgbClr val="E4572E"/>
                          </a:solidFill>
                          <a:latin typeface="Segoe UI Symbol"/>
                          <a:cs typeface="Segoe UI Symbol"/>
                        </a:rPr>
                        <a:t>✗</a:t>
                      </a:r>
                      <a:endParaRPr lang="en-GB" sz="2200" dirty="0"/>
                    </a:p>
                  </a:txBody>
                  <a:tcPr marL="76200" marR="76200" marT="25400" marB="25400" anchor="ctr">
                    <a:lnL w="0">
                      <a:noFill/>
                    </a:lnL>
                    <a:lnR w="0">
                      <a:noFill/>
                    </a:lnR>
                    <a:lnT w="15875" cap="flat" cmpd="sng" algn="ctr">
                      <a:solidFill>
                        <a:srgbClr val="9AA5B1"/>
                      </a:solidFill>
                      <a:prstDash val="solid"/>
                      <a:round/>
                      <a:headEnd type="none" w="med" len="med"/>
                      <a:tailEnd type="none" w="med" len="med"/>
                    </a:lnT>
                    <a:lnB w="9525">
                      <a:solidFill>
                        <a:srgbClr val="E0E3E7"/>
                      </a:solidFill>
                    </a:lnB>
                    <a:noFill/>
                  </a:tcPr>
                </a:tc>
                <a:tc>
                  <a:txBody>
                    <a:bodyPr/>
                    <a:lstStyle/>
                    <a:p>
                      <a:pPr marL="0" indent="0" algn="ctr">
                        <a:spcBef>
                          <a:spcPts val="0"/>
                        </a:spcBef>
                        <a:spcAft>
                          <a:spcPts val="0"/>
                        </a:spcAft>
                        <a:buNone/>
                      </a:pPr>
                      <a:r>
                        <a:rPr lang="en-GB" sz="2200" b="1" dirty="0">
                          <a:solidFill>
                            <a:srgbClr val="F2A541"/>
                          </a:solidFill>
                          <a:latin typeface="Segoe UI Symbol"/>
                          <a:cs typeface="Segoe UI Symbol"/>
                        </a:rPr>
                        <a:t>◐</a:t>
                      </a:r>
                      <a:endParaRPr lang="en-GB" sz="2200" dirty="0"/>
                    </a:p>
                  </a:txBody>
                  <a:tcPr marL="76200" marR="76200" marT="25400" marB="25400" anchor="ctr">
                    <a:lnL w="0">
                      <a:noFill/>
                    </a:lnL>
                    <a:lnR w="0">
                      <a:noFill/>
                    </a:lnR>
                    <a:lnT w="15875" cap="flat" cmpd="sng" algn="ctr">
                      <a:solidFill>
                        <a:srgbClr val="9AA5B1"/>
                      </a:solidFill>
                      <a:prstDash val="solid"/>
                      <a:round/>
                      <a:headEnd type="none" w="med" len="med"/>
                      <a:tailEnd type="none" w="med" len="med"/>
                    </a:lnT>
                    <a:lnB w="9525">
                      <a:solidFill>
                        <a:srgbClr val="E0E3E7"/>
                      </a:solidFill>
                    </a:lnB>
                    <a:noFill/>
                  </a:tcPr>
                </a:tc>
                <a:tc>
                  <a:txBody>
                    <a:bodyPr/>
                    <a:lstStyle/>
                    <a:p>
                      <a:pPr marL="0" indent="0" algn="ctr">
                        <a:spcBef>
                          <a:spcPts val="0"/>
                        </a:spcBef>
                        <a:spcAft>
                          <a:spcPts val="0"/>
                        </a:spcAft>
                        <a:buNone/>
                      </a:pPr>
                      <a:r>
                        <a:rPr lang="en-GB" sz="2200" b="1" dirty="0">
                          <a:solidFill>
                            <a:srgbClr val="2E9E6A"/>
                          </a:solidFill>
                          <a:latin typeface="Segoe UI Symbol"/>
                          <a:cs typeface="Segoe UI Symbol"/>
                        </a:rPr>
                        <a:t>✓</a:t>
                      </a:r>
                      <a:endParaRPr lang="en-GB" sz="2200" dirty="0"/>
                    </a:p>
                  </a:txBody>
                  <a:tcPr marL="76200" marR="76200" marT="25400" marB="25400" anchor="ctr">
                    <a:lnL w="0">
                      <a:noFill/>
                    </a:lnL>
                    <a:lnR w="0">
                      <a:noFill/>
                    </a:lnR>
                    <a:lnT w="15875" cap="flat" cmpd="sng" algn="ctr">
                      <a:solidFill>
                        <a:srgbClr val="9AA5B1"/>
                      </a:solidFill>
                      <a:prstDash val="solid"/>
                      <a:round/>
                      <a:headEnd type="none" w="med" len="med"/>
                      <a:tailEnd type="none" w="med" len="med"/>
                    </a:lnT>
                    <a:lnB w="9525">
                      <a:solidFill>
                        <a:srgbClr val="E0E3E7"/>
                      </a:solidFill>
                    </a:lnB>
                    <a:solidFill>
                      <a:srgbClr val="E0F5F9"/>
                    </a:solidFill>
                  </a:tcPr>
                </a:tc>
                <a:extLst>
                  <a:ext uri="{0D108BD9-81ED-4DB2-BD59-A6C34878D82A}">
                    <a16:rowId xmlns:a16="http://schemas.microsoft.com/office/drawing/2014/main" val="10001"/>
                  </a:ext>
                </a:extLst>
              </a:tr>
              <a:tr h="635000">
                <a:tc>
                  <a:txBody>
                    <a:bodyPr/>
                    <a:lstStyle/>
                    <a:p>
                      <a:pPr marL="0" indent="0" algn="l">
                        <a:spcBef>
                          <a:spcPts val="0"/>
                        </a:spcBef>
                        <a:spcAft>
                          <a:spcPts val="0"/>
                        </a:spcAft>
                        <a:buNone/>
                      </a:pPr>
                      <a:r>
                        <a:rPr lang="en-GB" sz="1600" b="1" dirty="0">
                          <a:solidFill>
                            <a:srgbClr val="0B1F3A"/>
                          </a:solidFill>
                          <a:latin typeface="Anthropic Sans Text"/>
                          <a:cs typeface="Anthropic Sans Text"/>
                        </a:rPr>
                        <a:t>Explains with citations</a:t>
                      </a:r>
                      <a:endParaRPr lang="en-GB" sz="16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ctr">
                        <a:spcBef>
                          <a:spcPts val="0"/>
                        </a:spcBef>
                        <a:spcAft>
                          <a:spcPts val="0"/>
                        </a:spcAft>
                        <a:buNone/>
                      </a:pPr>
                      <a:r>
                        <a:rPr lang="en-GB" sz="2200" b="1" dirty="0">
                          <a:solidFill>
                            <a:srgbClr val="F2A541"/>
                          </a:solidFill>
                          <a:latin typeface="Segoe UI Symbol"/>
                          <a:cs typeface="Segoe UI Symbol"/>
                        </a:rPr>
                        <a:t>◐</a:t>
                      </a:r>
                      <a:endParaRPr lang="en-GB" sz="22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ctr">
                        <a:spcBef>
                          <a:spcPts val="0"/>
                        </a:spcBef>
                        <a:spcAft>
                          <a:spcPts val="0"/>
                        </a:spcAft>
                        <a:buNone/>
                      </a:pPr>
                      <a:r>
                        <a:rPr lang="en-GB" sz="2200" b="1" dirty="0">
                          <a:solidFill>
                            <a:srgbClr val="E4572E"/>
                          </a:solidFill>
                          <a:latin typeface="Segoe UI Symbol"/>
                          <a:cs typeface="Segoe UI Symbol"/>
                        </a:rPr>
                        <a:t>✗</a:t>
                      </a:r>
                      <a:endParaRPr lang="en-GB" sz="22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ctr">
                        <a:spcBef>
                          <a:spcPts val="0"/>
                        </a:spcBef>
                        <a:spcAft>
                          <a:spcPts val="0"/>
                        </a:spcAft>
                        <a:buNone/>
                      </a:pPr>
                      <a:r>
                        <a:rPr lang="en-GB" sz="2200" b="1" dirty="0">
                          <a:solidFill>
                            <a:srgbClr val="2E9E6A"/>
                          </a:solidFill>
                          <a:latin typeface="Segoe UI Symbol"/>
                          <a:cs typeface="Segoe UI Symbol"/>
                        </a:rPr>
                        <a:t>✓</a:t>
                      </a:r>
                      <a:endParaRPr lang="en-GB" sz="22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solidFill>
                      <a:srgbClr val="E0F5F9"/>
                    </a:solidFill>
                  </a:tcPr>
                </a:tc>
                <a:extLst>
                  <a:ext uri="{0D108BD9-81ED-4DB2-BD59-A6C34878D82A}">
                    <a16:rowId xmlns:a16="http://schemas.microsoft.com/office/drawing/2014/main" val="10002"/>
                  </a:ext>
                </a:extLst>
              </a:tr>
              <a:tr h="635000">
                <a:tc>
                  <a:txBody>
                    <a:bodyPr/>
                    <a:lstStyle/>
                    <a:p>
                      <a:pPr marL="0" indent="0" algn="l">
                        <a:spcBef>
                          <a:spcPts val="0"/>
                        </a:spcBef>
                        <a:spcAft>
                          <a:spcPts val="0"/>
                        </a:spcAft>
                        <a:buNone/>
                      </a:pPr>
                      <a:r>
                        <a:rPr lang="en-GB" sz="1600" b="1" dirty="0">
                          <a:solidFill>
                            <a:srgbClr val="0B1F3A"/>
                          </a:solidFill>
                          <a:latin typeface="Anthropic Sans Text"/>
                          <a:cs typeface="Anthropic Sans Text"/>
                        </a:rPr>
                        <a:t>Keeps up with rule changes</a:t>
                      </a:r>
                      <a:endParaRPr lang="en-GB" sz="16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ctr">
                        <a:spcBef>
                          <a:spcPts val="0"/>
                        </a:spcBef>
                        <a:spcAft>
                          <a:spcPts val="0"/>
                        </a:spcAft>
                        <a:buNone/>
                      </a:pPr>
                      <a:r>
                        <a:rPr lang="en-GB" sz="2200" b="1" dirty="0">
                          <a:solidFill>
                            <a:srgbClr val="E4572E"/>
                          </a:solidFill>
                          <a:latin typeface="Segoe UI Symbol"/>
                          <a:cs typeface="Segoe UI Symbol"/>
                        </a:rPr>
                        <a:t>✗</a:t>
                      </a:r>
                      <a:endParaRPr lang="en-GB" sz="22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ctr">
                        <a:spcBef>
                          <a:spcPts val="0"/>
                        </a:spcBef>
                        <a:spcAft>
                          <a:spcPts val="0"/>
                        </a:spcAft>
                        <a:buNone/>
                      </a:pPr>
                      <a:r>
                        <a:rPr lang="en-GB" sz="2200" b="1" dirty="0">
                          <a:solidFill>
                            <a:srgbClr val="E4572E"/>
                          </a:solidFill>
                          <a:latin typeface="Segoe UI Symbol"/>
                          <a:cs typeface="Segoe UI Symbol"/>
                        </a:rPr>
                        <a:t>✗</a:t>
                      </a:r>
                      <a:endParaRPr lang="en-GB" sz="22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ctr">
                        <a:spcBef>
                          <a:spcPts val="0"/>
                        </a:spcBef>
                        <a:spcAft>
                          <a:spcPts val="0"/>
                        </a:spcAft>
                        <a:buNone/>
                      </a:pPr>
                      <a:r>
                        <a:rPr lang="en-GB" sz="2200" b="1" dirty="0">
                          <a:solidFill>
                            <a:srgbClr val="2E9E6A"/>
                          </a:solidFill>
                          <a:latin typeface="Segoe UI Symbol"/>
                          <a:cs typeface="Segoe UI Symbol"/>
                        </a:rPr>
                        <a:t>✓</a:t>
                      </a:r>
                      <a:endParaRPr lang="en-GB" sz="22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solidFill>
                      <a:srgbClr val="E0F5F9"/>
                    </a:solidFill>
                  </a:tcPr>
                </a:tc>
                <a:extLst>
                  <a:ext uri="{0D108BD9-81ED-4DB2-BD59-A6C34878D82A}">
                    <a16:rowId xmlns:a16="http://schemas.microsoft.com/office/drawing/2014/main" val="10003"/>
                  </a:ext>
                </a:extLst>
              </a:tr>
              <a:tr h="635000">
                <a:tc>
                  <a:txBody>
                    <a:bodyPr/>
                    <a:lstStyle/>
                    <a:p>
                      <a:pPr marL="0" indent="0" algn="l">
                        <a:spcBef>
                          <a:spcPts val="0"/>
                        </a:spcBef>
                        <a:spcAft>
                          <a:spcPts val="0"/>
                        </a:spcAft>
                        <a:buNone/>
                      </a:pPr>
                      <a:r>
                        <a:rPr lang="en-GB" sz="1600" b="1" dirty="0">
                          <a:solidFill>
                            <a:srgbClr val="0B1F3A"/>
                          </a:solidFill>
                          <a:latin typeface="Anthropic Sans Text"/>
                          <a:cs typeface="Anthropic Sans Text"/>
                        </a:rPr>
                        <a:t>Measurable accuracy</a:t>
                      </a:r>
                      <a:endParaRPr lang="en-GB" sz="16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ctr">
                        <a:spcBef>
                          <a:spcPts val="0"/>
                        </a:spcBef>
                        <a:spcAft>
                          <a:spcPts val="0"/>
                        </a:spcAft>
                        <a:buNone/>
                      </a:pPr>
                      <a:r>
                        <a:rPr lang="en-GB" sz="2200" b="1" dirty="0">
                          <a:solidFill>
                            <a:srgbClr val="E4572E"/>
                          </a:solidFill>
                          <a:latin typeface="Segoe UI Symbol"/>
                          <a:cs typeface="Segoe UI Symbol"/>
                        </a:rPr>
                        <a:t>✗</a:t>
                      </a:r>
                      <a:endParaRPr lang="en-GB" sz="22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ctr">
                        <a:spcBef>
                          <a:spcPts val="0"/>
                        </a:spcBef>
                        <a:spcAft>
                          <a:spcPts val="0"/>
                        </a:spcAft>
                        <a:buNone/>
                      </a:pPr>
                      <a:r>
                        <a:rPr lang="en-GB" sz="2200" b="1" dirty="0">
                          <a:solidFill>
                            <a:srgbClr val="F2A541"/>
                          </a:solidFill>
                          <a:latin typeface="Segoe UI Symbol"/>
                          <a:cs typeface="Segoe UI Symbol"/>
                        </a:rPr>
                        <a:t>◐</a:t>
                      </a:r>
                      <a:endParaRPr lang="en-GB" sz="22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ctr">
                        <a:spcBef>
                          <a:spcPts val="0"/>
                        </a:spcBef>
                        <a:spcAft>
                          <a:spcPts val="0"/>
                        </a:spcAft>
                        <a:buNone/>
                      </a:pPr>
                      <a:r>
                        <a:rPr lang="en-GB" sz="2200" b="1" dirty="0">
                          <a:solidFill>
                            <a:srgbClr val="2E9E6A"/>
                          </a:solidFill>
                          <a:latin typeface="Segoe UI Symbol"/>
                          <a:cs typeface="Segoe UI Symbol"/>
                        </a:rPr>
                        <a:t>✓</a:t>
                      </a:r>
                      <a:endParaRPr lang="en-GB" sz="22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solidFill>
                      <a:srgbClr val="E0F5F9"/>
                    </a:solidFill>
                  </a:tcPr>
                </a:tc>
                <a:extLst>
                  <a:ext uri="{0D108BD9-81ED-4DB2-BD59-A6C34878D82A}">
                    <a16:rowId xmlns:a16="http://schemas.microsoft.com/office/drawing/2014/main" val="10004"/>
                  </a:ext>
                </a:extLst>
              </a:tr>
              <a:tr h="635000">
                <a:tc>
                  <a:txBody>
                    <a:bodyPr/>
                    <a:lstStyle/>
                    <a:p>
                      <a:pPr marL="0" indent="0" algn="l">
                        <a:spcBef>
                          <a:spcPts val="0"/>
                        </a:spcBef>
                        <a:spcAft>
                          <a:spcPts val="0"/>
                        </a:spcAft>
                        <a:buNone/>
                      </a:pPr>
                      <a:r>
                        <a:rPr lang="en-GB" sz="1600" b="1" dirty="0">
                          <a:solidFill>
                            <a:srgbClr val="0B1F3A"/>
                          </a:solidFill>
                          <a:latin typeface="Anthropic Sans Text"/>
                          <a:cs typeface="Anthropic Sans Text"/>
                        </a:rPr>
                        <a:t>Low running cost</a:t>
                      </a:r>
                      <a:endParaRPr lang="en-GB" sz="16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ctr">
                        <a:spcBef>
                          <a:spcPts val="0"/>
                        </a:spcBef>
                        <a:spcAft>
                          <a:spcPts val="0"/>
                        </a:spcAft>
                        <a:buNone/>
                      </a:pPr>
                      <a:r>
                        <a:rPr lang="en-GB" sz="2200" b="1" dirty="0">
                          <a:solidFill>
                            <a:srgbClr val="2E9E6A"/>
                          </a:solidFill>
                          <a:latin typeface="Segoe UI Symbol"/>
                          <a:cs typeface="Segoe UI Symbol"/>
                        </a:rPr>
                        <a:t>✓</a:t>
                      </a:r>
                      <a:endParaRPr lang="en-GB" sz="22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ctr">
                        <a:spcBef>
                          <a:spcPts val="0"/>
                        </a:spcBef>
                        <a:spcAft>
                          <a:spcPts val="0"/>
                        </a:spcAft>
                        <a:buNone/>
                      </a:pPr>
                      <a:r>
                        <a:rPr lang="en-GB" sz="2200" b="1" dirty="0">
                          <a:solidFill>
                            <a:srgbClr val="E4572E"/>
                          </a:solidFill>
                          <a:latin typeface="Segoe UI Symbol"/>
                          <a:cs typeface="Segoe UI Symbol"/>
                        </a:rPr>
                        <a:t>✗</a:t>
                      </a:r>
                      <a:endParaRPr lang="en-GB" sz="22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ctr">
                        <a:spcBef>
                          <a:spcPts val="0"/>
                        </a:spcBef>
                        <a:spcAft>
                          <a:spcPts val="0"/>
                        </a:spcAft>
                        <a:buNone/>
                      </a:pPr>
                      <a:r>
                        <a:rPr lang="en-GB" sz="2200" b="1" dirty="0">
                          <a:solidFill>
                            <a:srgbClr val="2E9E6A"/>
                          </a:solidFill>
                          <a:latin typeface="Segoe UI Symbol"/>
                          <a:cs typeface="Segoe UI Symbol"/>
                        </a:rPr>
                        <a:t>✓</a:t>
                      </a:r>
                      <a:endParaRPr lang="en-GB" sz="22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solidFill>
                      <a:srgbClr val="E0F5F9"/>
                    </a:solidFill>
                  </a:tcPr>
                </a:tc>
                <a:extLst>
                  <a:ext uri="{0D108BD9-81ED-4DB2-BD59-A6C34878D82A}">
                    <a16:rowId xmlns:a16="http://schemas.microsoft.com/office/drawing/2014/main" val="10005"/>
                  </a:ext>
                </a:extLst>
              </a:tr>
              <a:tr h="635000">
                <a:tc>
                  <a:txBody>
                    <a:bodyPr/>
                    <a:lstStyle/>
                    <a:p>
                      <a:pPr marL="0" indent="0" algn="l">
                        <a:spcBef>
                          <a:spcPts val="0"/>
                        </a:spcBef>
                        <a:spcAft>
                          <a:spcPts val="0"/>
                        </a:spcAft>
                        <a:buNone/>
                      </a:pPr>
                      <a:r>
                        <a:rPr lang="en-GB" sz="1600" b="1" dirty="0">
                          <a:solidFill>
                            <a:srgbClr val="0B1F3A"/>
                          </a:solidFill>
                          <a:latin typeface="Anthropic Sans Text"/>
                          <a:cs typeface="Anthropic Sans Text"/>
                        </a:rPr>
                        <a:t>Human approval built in</a:t>
                      </a:r>
                      <a:endParaRPr lang="en-GB" sz="16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ctr">
                        <a:spcBef>
                          <a:spcPts val="0"/>
                        </a:spcBef>
                        <a:spcAft>
                          <a:spcPts val="0"/>
                        </a:spcAft>
                        <a:buNone/>
                      </a:pPr>
                      <a:r>
                        <a:rPr lang="en-GB" sz="2200" b="1" dirty="0">
                          <a:solidFill>
                            <a:srgbClr val="E4572E"/>
                          </a:solidFill>
                          <a:latin typeface="Segoe UI Symbol"/>
                          <a:cs typeface="Segoe UI Symbol"/>
                        </a:rPr>
                        <a:t>✗</a:t>
                      </a:r>
                      <a:endParaRPr lang="en-GB" sz="22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ctr">
                        <a:spcBef>
                          <a:spcPts val="0"/>
                        </a:spcBef>
                        <a:spcAft>
                          <a:spcPts val="0"/>
                        </a:spcAft>
                        <a:buNone/>
                      </a:pPr>
                      <a:r>
                        <a:rPr lang="en-GB" sz="2200" b="1" dirty="0">
                          <a:solidFill>
                            <a:srgbClr val="E4572E"/>
                          </a:solidFill>
                          <a:latin typeface="Segoe UI Symbol"/>
                          <a:cs typeface="Segoe UI Symbol"/>
                        </a:rPr>
                        <a:t>✗</a:t>
                      </a:r>
                      <a:endParaRPr lang="en-GB" sz="22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ctr">
                        <a:spcBef>
                          <a:spcPts val="0"/>
                        </a:spcBef>
                        <a:spcAft>
                          <a:spcPts val="0"/>
                        </a:spcAft>
                        <a:buNone/>
                      </a:pPr>
                      <a:r>
                        <a:rPr lang="en-GB" sz="2200" b="1" dirty="0">
                          <a:solidFill>
                            <a:srgbClr val="2E9E6A"/>
                          </a:solidFill>
                          <a:latin typeface="Segoe UI Symbol"/>
                          <a:cs typeface="Segoe UI Symbol"/>
                        </a:rPr>
                        <a:t>✓</a:t>
                      </a:r>
                      <a:endParaRPr lang="en-GB" sz="22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solidFill>
                      <a:srgbClr val="E0F5F9"/>
                    </a:solidFill>
                  </a:tcPr>
                </a:tc>
                <a:extLst>
                  <a:ext uri="{0D108BD9-81ED-4DB2-BD59-A6C34878D82A}">
                    <a16:rowId xmlns:a16="http://schemas.microsoft.com/office/drawing/2014/main" val="10006"/>
                  </a:ext>
                </a:extLst>
              </a:tr>
            </a:tbl>
          </a:graphicData>
        </a:graphic>
      </p:graphicFrame>
      <p:sp>
        <p:nvSpPr>
          <p:cNvPr id="101" name="Shape 101"/>
          <p:cNvSpPr txBox="1"/>
          <p:nvPr/>
        </p:nvSpPr>
        <p:spPr>
          <a:xfrm>
            <a:off x="685800" y="6070600"/>
            <a:ext cx="6350000" cy="228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200" b="1" dirty="0">
                <a:solidFill>
                  <a:srgbClr val="2E9E6A"/>
                </a:solidFill>
                <a:latin typeface="Segoe UI Symbol"/>
                <a:cs typeface="Segoe UI Symbol"/>
              </a:rPr>
              <a:t>✓</a:t>
            </a:r>
            <a:r>
              <a:rPr lang="en-GB" sz="1100" b="0" dirty="0">
                <a:solidFill>
                  <a:srgbClr val="52606D"/>
                </a:solidFill>
                <a:latin typeface="Anthropic Sans Text"/>
                <a:cs typeface="Anthropic Sans Text"/>
              </a:rPr>
              <a:t> Strong    </a:t>
            </a:r>
            <a:r>
              <a:rPr lang="en-GB" sz="1200" b="1" dirty="0">
                <a:solidFill>
                  <a:srgbClr val="F2A541"/>
                </a:solidFill>
                <a:latin typeface="Segoe UI Symbol"/>
                <a:cs typeface="Segoe UI Symbol"/>
              </a:rPr>
              <a:t>◐</a:t>
            </a:r>
            <a:r>
              <a:rPr lang="en-GB" sz="1100" b="0" dirty="0">
                <a:solidFill>
                  <a:srgbClr val="52606D"/>
                </a:solidFill>
                <a:latin typeface="Anthropic Sans Text"/>
                <a:cs typeface="Anthropic Sans Text"/>
              </a:rPr>
              <a:t> Partial    </a:t>
            </a:r>
            <a:r>
              <a:rPr lang="en-GB" sz="1200" b="1" dirty="0">
                <a:solidFill>
                  <a:srgbClr val="E4572E"/>
                </a:solidFill>
                <a:latin typeface="Segoe UI Symbol"/>
                <a:cs typeface="Segoe UI Symbol"/>
              </a:rPr>
              <a:t>✗</a:t>
            </a:r>
            <a:r>
              <a:rPr lang="en-GB" sz="1100" b="0" dirty="0">
                <a:solidFill>
                  <a:srgbClr val="52606D"/>
                </a:solidFill>
                <a:latin typeface="Anthropic Sans Text"/>
                <a:cs typeface="Anthropic Sans Text"/>
              </a:rPr>
              <a:t> Weak</a:t>
            </a:r>
            <a:endParaRPr lang="en-GB" sz="1100" dirty="0"/>
          </a:p>
        </p:txBody>
      </p:sp>
    </p:spTree>
    <p:extLst>
      <p:ext uri="{BB962C8B-B14F-4D97-AF65-F5344CB8AC3E}">
        <p14:creationId xmlns:p14="http://schemas.microsoft.com/office/powerpoint/2010/main" val="15112972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303D0-FD11-8498-0715-5E38C6771E1A}"/>
              </a:ext>
            </a:extLst>
          </p:cNvPr>
          <p:cNvSpPr>
            <a:spLocks noGrp="1"/>
          </p:cNvSpPr>
          <p:nvPr>
            <p:ph type="title"/>
          </p:nvPr>
        </p:nvSpPr>
        <p:spPr/>
        <p:txBody>
          <a:bodyPr>
            <a:normAutofit/>
          </a:bodyPr>
          <a:lstStyle/>
          <a:p>
            <a:r>
              <a:rPr lang="en-GB" dirty="0"/>
              <a:t>Governed by design, inside your own Azure tenant</a:t>
            </a:r>
          </a:p>
        </p:txBody>
      </p:sp>
      <p:sp>
        <p:nvSpPr>
          <p:cNvPr id="100" name="Shape 100"/>
          <p:cNvSpPr/>
          <p:nvPr/>
        </p:nvSpPr>
        <p:spPr>
          <a:xfrm>
            <a:off x="685800" y="1295400"/>
            <a:ext cx="11049000" cy="1854200"/>
          </a:xfrm>
          <a:prstGeom prst="rect">
            <a:avLst/>
          </a:prstGeom>
          <a:noFill/>
          <a:ln w="15875">
            <a:solidFill>
              <a:srgbClr val="1F4E8C"/>
            </a:solidFill>
            <a:prstDash val="dash"/>
          </a:ln>
        </p:spPr>
        <p:txBody>
          <a:bodyPr wrap="square" lIns="0" tIns="0" rIns="0" bIns="0" rtlCol="0" anchor="t">
            <a:noAutofit/>
          </a:bodyPr>
          <a:lstStyle/>
          <a:p>
            <a:endParaRPr lang="en-GB" dirty="0"/>
          </a:p>
        </p:txBody>
      </p:sp>
      <p:sp>
        <p:nvSpPr>
          <p:cNvPr id="101" name="Shape 101"/>
          <p:cNvSpPr/>
          <p:nvPr/>
        </p:nvSpPr>
        <p:spPr>
          <a:xfrm>
            <a:off x="889000" y="1193800"/>
            <a:ext cx="2159000" cy="228600"/>
          </a:xfrm>
          <a:prstGeom prst="rect">
            <a:avLst/>
          </a:prstGeom>
          <a:solidFill>
            <a:srgbClr val="FFFFFF"/>
          </a:solidFill>
          <a:ln>
            <a:noFill/>
          </a:ln>
        </p:spPr>
        <p:txBody>
          <a:bodyPr wrap="square" lIns="76200" tIns="0" rIns="76200" bIns="0" rtlCol="0" anchor="ctr">
            <a:noAutofit/>
          </a:bodyPr>
          <a:lstStyle/>
          <a:p>
            <a:pPr marL="0" indent="0" algn="l">
              <a:spcBef>
                <a:spcPts val="0"/>
              </a:spcBef>
              <a:spcAft>
                <a:spcPts val="0"/>
              </a:spcAft>
              <a:buNone/>
            </a:pPr>
            <a:r>
              <a:rPr lang="en-GB" sz="1100" b="1" spc="150" dirty="0">
                <a:solidFill>
                  <a:srgbClr val="1F4E8C"/>
                </a:solidFill>
                <a:latin typeface="Anthropic Sans Text"/>
                <a:cs typeface="Anthropic Sans Text"/>
              </a:rPr>
              <a:t>YOUR AZURE TENANT</a:t>
            </a:r>
            <a:endParaRPr lang="en-GB" sz="1100" dirty="0"/>
          </a:p>
        </p:txBody>
      </p:sp>
      <p:sp>
        <p:nvSpPr>
          <p:cNvPr id="102" name="Shape 102"/>
          <p:cNvSpPr/>
          <p:nvPr/>
        </p:nvSpPr>
        <p:spPr>
          <a:xfrm>
            <a:off x="939800" y="1473200"/>
            <a:ext cx="1930400" cy="1498600"/>
          </a:xfrm>
          <a:prstGeom prst="rect">
            <a:avLst/>
          </a:prstGeom>
          <a:solidFill>
            <a:srgbClr val="52606D"/>
          </a:solidFill>
          <a:ln>
            <a:noFill/>
          </a:ln>
        </p:spPr>
        <p:txBody>
          <a:bodyPr wrap="square" lIns="177800" tIns="177800" rIns="152400" bIns="152400" rtlCol="0" anchor="t">
            <a:noAutofit/>
          </a:bodyPr>
          <a:lstStyle/>
          <a:p>
            <a:pPr marL="0" indent="0" algn="l">
              <a:spcBef>
                <a:spcPts val="0"/>
              </a:spcBef>
              <a:spcAft>
                <a:spcPts val="1200"/>
              </a:spcAft>
              <a:buNone/>
            </a:pPr>
            <a:r>
              <a:rPr lang="en-GB" sz="1100" b="1" dirty="0">
                <a:solidFill>
                  <a:srgbClr val="FFFFFF"/>
                </a:solidFill>
                <a:latin typeface="Anthropic Mono"/>
                <a:cs typeface="Anthropic Mono"/>
              </a:rPr>
              <a:t>01</a:t>
            </a:r>
            <a:endParaRPr lang="en-GB" sz="1100" dirty="0"/>
          </a:p>
          <a:p>
            <a:pPr marL="0" indent="0" algn="l">
              <a:lnSpc>
                <a:spcPct val="100000"/>
              </a:lnSpc>
              <a:spcBef>
                <a:spcPts val="0"/>
              </a:spcBef>
              <a:spcAft>
                <a:spcPts val="600"/>
              </a:spcAft>
              <a:buNone/>
            </a:pPr>
            <a:r>
              <a:rPr lang="en-GB" sz="1700" b="1" dirty="0">
                <a:solidFill>
                  <a:srgbClr val="FFFFFF"/>
                </a:solidFill>
                <a:latin typeface="Anthropic Sans Text"/>
                <a:cs typeface="Anthropic Sans Text"/>
              </a:rPr>
              <a:t>Ingest</a:t>
            </a:r>
            <a:endParaRPr lang="en-GB" sz="1700" dirty="0"/>
          </a:p>
          <a:p>
            <a:pPr marL="0" indent="0" algn="l">
              <a:lnSpc>
                <a:spcPct val="105000"/>
              </a:lnSpc>
              <a:spcBef>
                <a:spcPts val="0"/>
              </a:spcBef>
              <a:spcAft>
                <a:spcPts val="0"/>
              </a:spcAft>
              <a:buNone/>
            </a:pPr>
            <a:r>
              <a:rPr lang="en-GB" sz="1200" b="0" dirty="0">
                <a:solidFill>
                  <a:srgbClr val="FFFFFF"/>
                </a:solidFill>
                <a:latin typeface="Anthropic Mono"/>
                <a:cs typeface="Anthropic Mono"/>
              </a:rPr>
              <a:t>835 / 837</a:t>
            </a:r>
            <a:endParaRPr lang="en-GB" sz="1200" dirty="0"/>
          </a:p>
        </p:txBody>
      </p:sp>
      <p:cxnSp>
        <p:nvCxnSpPr>
          <p:cNvPr id="103" name="Line 103"/>
          <p:cNvCxnSpPr/>
          <p:nvPr/>
        </p:nvCxnSpPr>
        <p:spPr>
          <a:xfrm>
            <a:off x="2895600" y="2222500"/>
            <a:ext cx="171450" cy="0"/>
          </a:xfrm>
          <a:prstGeom prst="line">
            <a:avLst/>
          </a:prstGeom>
          <a:ln w="22225">
            <a:solidFill>
              <a:srgbClr val="52606D"/>
            </a:solidFill>
            <a:tailEnd type="triangle" w="med" len="med"/>
          </a:ln>
        </p:spPr>
      </p:cxnSp>
      <p:sp>
        <p:nvSpPr>
          <p:cNvPr id="104" name="Shape 104"/>
          <p:cNvSpPr/>
          <p:nvPr/>
        </p:nvSpPr>
        <p:spPr>
          <a:xfrm>
            <a:off x="3092450" y="1473200"/>
            <a:ext cx="1930400" cy="1498600"/>
          </a:xfrm>
          <a:prstGeom prst="rect">
            <a:avLst/>
          </a:prstGeom>
          <a:solidFill>
            <a:srgbClr val="1F4E8C"/>
          </a:solidFill>
          <a:ln>
            <a:noFill/>
          </a:ln>
        </p:spPr>
        <p:txBody>
          <a:bodyPr wrap="square" lIns="177800" tIns="177800" rIns="152400" bIns="152400" rtlCol="0" anchor="t">
            <a:noAutofit/>
          </a:bodyPr>
          <a:lstStyle/>
          <a:p>
            <a:pPr marL="0" indent="0" algn="l">
              <a:spcBef>
                <a:spcPts val="0"/>
              </a:spcBef>
              <a:spcAft>
                <a:spcPts val="1200"/>
              </a:spcAft>
              <a:buNone/>
            </a:pPr>
            <a:r>
              <a:rPr lang="en-GB" sz="1100" b="1" dirty="0">
                <a:solidFill>
                  <a:srgbClr val="FFFFFF"/>
                </a:solidFill>
                <a:latin typeface="Anthropic Mono"/>
                <a:cs typeface="Anthropic Mono"/>
              </a:rPr>
              <a:t>02</a:t>
            </a:r>
            <a:endParaRPr lang="en-GB" sz="1100" dirty="0"/>
          </a:p>
          <a:p>
            <a:pPr marL="0" indent="0" algn="l">
              <a:lnSpc>
                <a:spcPct val="100000"/>
              </a:lnSpc>
              <a:spcBef>
                <a:spcPts val="0"/>
              </a:spcBef>
              <a:spcAft>
                <a:spcPts val="600"/>
              </a:spcAft>
              <a:buNone/>
            </a:pPr>
            <a:r>
              <a:rPr lang="en-GB" sz="1700" b="1" dirty="0">
                <a:solidFill>
                  <a:srgbClr val="FFFFFF"/>
                </a:solidFill>
                <a:latin typeface="Anthropic Sans Text"/>
                <a:cs typeface="Anthropic Sans Text"/>
              </a:rPr>
              <a:t>Decision engine</a:t>
            </a:r>
            <a:endParaRPr lang="en-GB" sz="1700" dirty="0"/>
          </a:p>
          <a:p>
            <a:pPr marL="0" indent="0" algn="l">
              <a:lnSpc>
                <a:spcPct val="105000"/>
              </a:lnSpc>
              <a:spcBef>
                <a:spcPts val="0"/>
              </a:spcBef>
              <a:spcAft>
                <a:spcPts val="0"/>
              </a:spcAft>
              <a:buNone/>
            </a:pPr>
            <a:r>
              <a:rPr lang="en-GB" sz="1200" b="0" dirty="0">
                <a:solidFill>
                  <a:srgbClr val="FFFFFF"/>
                </a:solidFill>
                <a:latin typeface="Anthropic Sans Text"/>
                <a:cs typeface="Anthropic Sans Text"/>
              </a:rPr>
              <a:t>Rules + prioritisation</a:t>
            </a:r>
            <a:endParaRPr lang="en-GB" sz="1200" dirty="0"/>
          </a:p>
        </p:txBody>
      </p:sp>
      <p:cxnSp>
        <p:nvCxnSpPr>
          <p:cNvPr id="105" name="Line 105"/>
          <p:cNvCxnSpPr/>
          <p:nvPr/>
        </p:nvCxnSpPr>
        <p:spPr>
          <a:xfrm>
            <a:off x="5048250" y="2222500"/>
            <a:ext cx="171450" cy="0"/>
          </a:xfrm>
          <a:prstGeom prst="line">
            <a:avLst/>
          </a:prstGeom>
          <a:ln w="22225">
            <a:solidFill>
              <a:srgbClr val="52606D"/>
            </a:solidFill>
            <a:tailEnd type="triangle" w="med" len="med"/>
          </a:ln>
        </p:spPr>
      </p:cxnSp>
      <p:sp>
        <p:nvSpPr>
          <p:cNvPr id="106" name="Shape 106"/>
          <p:cNvSpPr/>
          <p:nvPr/>
        </p:nvSpPr>
        <p:spPr>
          <a:xfrm>
            <a:off x="5245100" y="1473200"/>
            <a:ext cx="1930400" cy="1498600"/>
          </a:xfrm>
          <a:prstGeom prst="rect">
            <a:avLst/>
          </a:prstGeom>
          <a:solidFill>
            <a:srgbClr val="00A3C4"/>
          </a:solidFill>
          <a:ln>
            <a:noFill/>
          </a:ln>
        </p:spPr>
        <p:txBody>
          <a:bodyPr wrap="square" lIns="177800" tIns="177800" rIns="152400" bIns="152400" rtlCol="0" anchor="t">
            <a:noAutofit/>
          </a:bodyPr>
          <a:lstStyle/>
          <a:p>
            <a:pPr marL="0" indent="0" algn="l">
              <a:spcBef>
                <a:spcPts val="0"/>
              </a:spcBef>
              <a:spcAft>
                <a:spcPts val="1200"/>
              </a:spcAft>
              <a:buNone/>
            </a:pPr>
            <a:r>
              <a:rPr lang="en-GB" sz="1100" b="1" dirty="0">
                <a:solidFill>
                  <a:srgbClr val="FFFFFF"/>
                </a:solidFill>
                <a:latin typeface="Anthropic Mono"/>
                <a:cs typeface="Anthropic Mono"/>
              </a:rPr>
              <a:t>03</a:t>
            </a:r>
            <a:endParaRPr lang="en-GB" sz="1100" dirty="0"/>
          </a:p>
          <a:p>
            <a:pPr marL="0" indent="0" algn="l">
              <a:lnSpc>
                <a:spcPct val="100000"/>
              </a:lnSpc>
              <a:spcBef>
                <a:spcPts val="0"/>
              </a:spcBef>
              <a:spcAft>
                <a:spcPts val="600"/>
              </a:spcAft>
              <a:buNone/>
            </a:pPr>
            <a:r>
              <a:rPr lang="en-GB" sz="1700" b="1" dirty="0">
                <a:solidFill>
                  <a:srgbClr val="FFFFFF"/>
                </a:solidFill>
                <a:latin typeface="Anthropic Sans Text"/>
                <a:cs typeface="Anthropic Sans Text"/>
              </a:rPr>
              <a:t>AI agent</a:t>
            </a:r>
            <a:endParaRPr lang="en-GB" sz="1700" dirty="0"/>
          </a:p>
          <a:p>
            <a:pPr marL="0" indent="0" algn="l">
              <a:lnSpc>
                <a:spcPct val="105000"/>
              </a:lnSpc>
              <a:spcBef>
                <a:spcPts val="0"/>
              </a:spcBef>
              <a:spcAft>
                <a:spcPts val="0"/>
              </a:spcAft>
              <a:buNone/>
            </a:pPr>
            <a:r>
              <a:rPr lang="en-GB" sz="1200" b="0" dirty="0">
                <a:solidFill>
                  <a:srgbClr val="FFFFFF"/>
                </a:solidFill>
                <a:latin typeface="Anthropic Sans Text"/>
                <a:cs typeface="Anthropic Sans Text"/>
              </a:rPr>
              <a:t>Azure AI Foundry + Azure AI Search</a:t>
            </a:r>
            <a:endParaRPr lang="en-GB" sz="1200" dirty="0"/>
          </a:p>
        </p:txBody>
      </p:sp>
      <p:cxnSp>
        <p:nvCxnSpPr>
          <p:cNvPr id="107" name="Line 107"/>
          <p:cNvCxnSpPr/>
          <p:nvPr/>
        </p:nvCxnSpPr>
        <p:spPr>
          <a:xfrm>
            <a:off x="7200900" y="2222500"/>
            <a:ext cx="171450" cy="0"/>
          </a:xfrm>
          <a:prstGeom prst="line">
            <a:avLst/>
          </a:prstGeom>
          <a:ln w="22225">
            <a:solidFill>
              <a:srgbClr val="52606D"/>
            </a:solidFill>
            <a:tailEnd type="triangle" w="med" len="med"/>
          </a:ln>
        </p:spPr>
      </p:cxnSp>
      <p:sp>
        <p:nvSpPr>
          <p:cNvPr id="108" name="Shape 108"/>
          <p:cNvSpPr/>
          <p:nvPr/>
        </p:nvSpPr>
        <p:spPr>
          <a:xfrm>
            <a:off x="7397750" y="1473200"/>
            <a:ext cx="1930400" cy="1498600"/>
          </a:xfrm>
          <a:prstGeom prst="rect">
            <a:avLst/>
          </a:prstGeom>
          <a:solidFill>
            <a:srgbClr val="0B1F3A"/>
          </a:solidFill>
          <a:ln>
            <a:noFill/>
          </a:ln>
        </p:spPr>
        <p:txBody>
          <a:bodyPr wrap="square" lIns="177800" tIns="177800" rIns="152400" bIns="152400" rtlCol="0" anchor="t">
            <a:noAutofit/>
          </a:bodyPr>
          <a:lstStyle/>
          <a:p>
            <a:pPr marL="0" indent="0" algn="l">
              <a:spcBef>
                <a:spcPts val="0"/>
              </a:spcBef>
              <a:spcAft>
                <a:spcPts val="1200"/>
              </a:spcAft>
              <a:buNone/>
            </a:pPr>
            <a:r>
              <a:rPr lang="en-GB" sz="1100" b="1" dirty="0">
                <a:solidFill>
                  <a:srgbClr val="FFFFFF"/>
                </a:solidFill>
                <a:latin typeface="Anthropic Mono"/>
                <a:cs typeface="Anthropic Mono"/>
              </a:rPr>
              <a:t>04</a:t>
            </a:r>
            <a:endParaRPr lang="en-GB" sz="1100" dirty="0"/>
          </a:p>
          <a:p>
            <a:pPr marL="0" indent="0" algn="l">
              <a:lnSpc>
                <a:spcPct val="100000"/>
              </a:lnSpc>
              <a:spcBef>
                <a:spcPts val="0"/>
              </a:spcBef>
              <a:spcAft>
                <a:spcPts val="600"/>
              </a:spcAft>
              <a:buNone/>
            </a:pPr>
            <a:r>
              <a:rPr lang="en-GB" sz="1700" b="1" dirty="0">
                <a:solidFill>
                  <a:srgbClr val="FFFFFF"/>
                </a:solidFill>
                <a:latin typeface="Anthropic Sans Text"/>
                <a:cs typeface="Anthropic Sans Text"/>
              </a:rPr>
              <a:t>Secure data store</a:t>
            </a:r>
            <a:endParaRPr lang="en-GB" sz="1700" dirty="0"/>
          </a:p>
          <a:p>
            <a:pPr marL="0" indent="0" algn="l">
              <a:lnSpc>
                <a:spcPct val="105000"/>
              </a:lnSpc>
              <a:spcBef>
                <a:spcPts val="0"/>
              </a:spcBef>
              <a:spcAft>
                <a:spcPts val="0"/>
              </a:spcAft>
              <a:buNone/>
            </a:pPr>
            <a:r>
              <a:rPr lang="en-GB" sz="1200" b="0" dirty="0">
                <a:solidFill>
                  <a:srgbClr val="FFFFFF"/>
                </a:solidFill>
                <a:latin typeface="Anthropic Sans Text"/>
                <a:cs typeface="Anthropic Sans Text"/>
              </a:rPr>
              <a:t>Encrypted, audited</a:t>
            </a:r>
            <a:endParaRPr lang="en-GB" sz="1200" dirty="0"/>
          </a:p>
        </p:txBody>
      </p:sp>
      <p:cxnSp>
        <p:nvCxnSpPr>
          <p:cNvPr id="109" name="Line 109"/>
          <p:cNvCxnSpPr/>
          <p:nvPr/>
        </p:nvCxnSpPr>
        <p:spPr>
          <a:xfrm>
            <a:off x="9353550" y="2222500"/>
            <a:ext cx="171450" cy="0"/>
          </a:xfrm>
          <a:prstGeom prst="line">
            <a:avLst/>
          </a:prstGeom>
          <a:ln w="22225">
            <a:solidFill>
              <a:srgbClr val="52606D"/>
            </a:solidFill>
            <a:tailEnd type="triangle" w="med" len="med"/>
          </a:ln>
        </p:spPr>
      </p:cxnSp>
      <p:sp>
        <p:nvSpPr>
          <p:cNvPr id="110" name="Shape 110"/>
          <p:cNvSpPr/>
          <p:nvPr/>
        </p:nvSpPr>
        <p:spPr>
          <a:xfrm>
            <a:off x="9550400" y="1473200"/>
            <a:ext cx="1930400" cy="1498600"/>
          </a:xfrm>
          <a:prstGeom prst="rect">
            <a:avLst/>
          </a:prstGeom>
          <a:solidFill>
            <a:srgbClr val="5B8DEF"/>
          </a:solidFill>
          <a:ln>
            <a:noFill/>
          </a:ln>
        </p:spPr>
        <p:txBody>
          <a:bodyPr wrap="square" lIns="177800" tIns="177800" rIns="152400" bIns="152400" rtlCol="0" anchor="t">
            <a:noAutofit/>
          </a:bodyPr>
          <a:lstStyle/>
          <a:p>
            <a:pPr marL="0" indent="0" algn="l">
              <a:spcBef>
                <a:spcPts val="0"/>
              </a:spcBef>
              <a:spcAft>
                <a:spcPts val="1200"/>
              </a:spcAft>
              <a:buNone/>
            </a:pPr>
            <a:r>
              <a:rPr lang="en-GB" sz="1100" b="1" dirty="0">
                <a:solidFill>
                  <a:srgbClr val="FFFFFF"/>
                </a:solidFill>
                <a:latin typeface="Anthropic Mono"/>
                <a:cs typeface="Anthropic Mono"/>
              </a:rPr>
              <a:t>05</a:t>
            </a:r>
            <a:endParaRPr lang="en-GB" sz="1100" dirty="0"/>
          </a:p>
          <a:p>
            <a:pPr marL="0" indent="0" algn="l">
              <a:lnSpc>
                <a:spcPct val="100000"/>
              </a:lnSpc>
              <a:spcBef>
                <a:spcPts val="0"/>
              </a:spcBef>
              <a:spcAft>
                <a:spcPts val="600"/>
              </a:spcAft>
              <a:buNone/>
            </a:pPr>
            <a:r>
              <a:rPr lang="en-GB" sz="1700" b="1" dirty="0">
                <a:solidFill>
                  <a:srgbClr val="FFFFFF"/>
                </a:solidFill>
                <a:latin typeface="Anthropic Sans Text"/>
                <a:cs typeface="Anthropic Sans Text"/>
              </a:rPr>
              <a:t>Web app and Teams</a:t>
            </a:r>
            <a:endParaRPr lang="en-GB" sz="1700" dirty="0"/>
          </a:p>
          <a:p>
            <a:pPr marL="0" indent="0" algn="l">
              <a:lnSpc>
                <a:spcPct val="105000"/>
              </a:lnSpc>
              <a:spcBef>
                <a:spcPts val="0"/>
              </a:spcBef>
              <a:spcAft>
                <a:spcPts val="0"/>
              </a:spcAft>
              <a:buNone/>
            </a:pPr>
            <a:r>
              <a:rPr lang="en-GB" sz="1200" b="0" dirty="0">
                <a:solidFill>
                  <a:srgbClr val="FFFFFF"/>
                </a:solidFill>
                <a:latin typeface="Anthropic Sans Text"/>
                <a:cs typeface="Anthropic Sans Text"/>
              </a:rPr>
              <a:t>Where users work</a:t>
            </a:r>
            <a:endParaRPr lang="en-GB" sz="1200" dirty="0"/>
          </a:p>
        </p:txBody>
      </p:sp>
      <p:sp>
        <p:nvSpPr>
          <p:cNvPr id="200" name="Control tile 1"/>
          <p:cNvSpPr/>
          <p:nvPr/>
        </p:nvSpPr>
        <p:spPr>
          <a:xfrm>
            <a:off x="685800" y="3378200"/>
            <a:ext cx="2641600" cy="1320800"/>
          </a:xfrm>
          <a:prstGeom prst="rect">
            <a:avLst/>
          </a:prstGeom>
          <a:solidFill>
            <a:srgbClr val="F3F4F6"/>
          </a:solidFill>
          <a:ln>
            <a:noFill/>
          </a:ln>
        </p:spPr>
        <p:txBody>
          <a:bodyPr wrap="square" lIns="0" tIns="0" rIns="0" bIns="0" rtlCol="0" anchor="t">
            <a:noAutofit/>
          </a:bodyPr>
          <a:lstStyle/>
          <a:p>
            <a:endParaRPr lang="en-GB" dirty="0"/>
          </a:p>
        </p:txBody>
      </p:sp>
      <p:sp>
        <p:nvSpPr>
          <p:cNvPr id="201" name="Control chip 1"/>
          <p:cNvSpPr/>
          <p:nvPr/>
        </p:nvSpPr>
        <p:spPr>
          <a:xfrm>
            <a:off x="838200" y="3530600"/>
            <a:ext cx="381000" cy="381000"/>
          </a:xfrm>
          <a:prstGeom prst="ellipse">
            <a:avLst/>
          </a:prstGeom>
          <a:solidFill>
            <a:srgbClr val="1F4E8C"/>
          </a:solidFill>
          <a:ln>
            <a:noFill/>
          </a:ln>
        </p:spPr>
        <p:txBody>
          <a:bodyPr wrap="square" lIns="0" tIns="0" rIns="0" bIns="0" rtlCol="0" anchor="ctr">
            <a:noAutofit/>
          </a:bodyPr>
          <a:lstStyle/>
          <a:p>
            <a:endParaRPr lang="en-GB" dirty="0"/>
          </a:p>
        </p:txBody>
      </p:sp>
      <p:sp>
        <p:nvSpPr>
          <p:cNvPr id="202" name="Control label 1"/>
          <p:cNvSpPr txBox="1"/>
          <p:nvPr/>
        </p:nvSpPr>
        <p:spPr>
          <a:xfrm>
            <a:off x="1320800" y="3505200"/>
            <a:ext cx="1905000" cy="43180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GB" sz="1300" b="1" dirty="0">
                <a:solidFill>
                  <a:srgbClr val="0B1F3A"/>
                </a:solidFill>
                <a:latin typeface="Anthropic Sans Text"/>
                <a:cs typeface="Anthropic Sans Text"/>
              </a:rPr>
              <a:t>Identity</a:t>
            </a:r>
          </a:p>
        </p:txBody>
      </p:sp>
      <p:sp>
        <p:nvSpPr>
          <p:cNvPr id="203" name="Control detail 1"/>
          <p:cNvSpPr txBox="1"/>
          <p:nvPr/>
        </p:nvSpPr>
        <p:spPr>
          <a:xfrm>
            <a:off x="838200" y="4013200"/>
            <a:ext cx="2362200" cy="6096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GB" sz="1100" b="0" dirty="0">
                <a:solidFill>
                  <a:srgbClr val="52606D"/>
                </a:solidFill>
                <a:latin typeface="Anthropic Sans Text"/>
                <a:cs typeface="Anthropic Sans Text"/>
              </a:rPr>
              <a:t>Entra ID single sign-on with MFA and Conditional Access</a:t>
            </a:r>
          </a:p>
        </p:txBody>
      </p:sp>
      <p:sp>
        <p:nvSpPr>
          <p:cNvPr id="204" name="Control tile 2"/>
          <p:cNvSpPr/>
          <p:nvPr/>
        </p:nvSpPr>
        <p:spPr>
          <a:xfrm>
            <a:off x="3488309" y="3378200"/>
            <a:ext cx="2641600" cy="1320800"/>
          </a:xfrm>
          <a:prstGeom prst="rect">
            <a:avLst/>
          </a:prstGeom>
          <a:solidFill>
            <a:srgbClr val="F3F4F6"/>
          </a:solidFill>
          <a:ln>
            <a:noFill/>
          </a:ln>
        </p:spPr>
        <p:txBody>
          <a:bodyPr wrap="square" lIns="0" tIns="0" rIns="0" bIns="0" rtlCol="0" anchor="t">
            <a:noAutofit/>
          </a:bodyPr>
          <a:lstStyle/>
          <a:p>
            <a:endParaRPr lang="en-GB" dirty="0"/>
          </a:p>
        </p:txBody>
      </p:sp>
      <p:sp>
        <p:nvSpPr>
          <p:cNvPr id="205" name="Control chip 2"/>
          <p:cNvSpPr/>
          <p:nvPr/>
        </p:nvSpPr>
        <p:spPr>
          <a:xfrm>
            <a:off x="3640709" y="3530600"/>
            <a:ext cx="381000" cy="381000"/>
          </a:xfrm>
          <a:prstGeom prst="ellipse">
            <a:avLst/>
          </a:prstGeom>
          <a:solidFill>
            <a:srgbClr val="1F4E8C"/>
          </a:solidFill>
          <a:ln>
            <a:noFill/>
          </a:ln>
        </p:spPr>
        <p:txBody>
          <a:bodyPr wrap="square" lIns="0" tIns="0" rIns="0" bIns="0" rtlCol="0" anchor="ctr">
            <a:noAutofit/>
          </a:bodyPr>
          <a:lstStyle/>
          <a:p>
            <a:endParaRPr lang="en-GB" dirty="0"/>
          </a:p>
        </p:txBody>
      </p:sp>
      <p:sp>
        <p:nvSpPr>
          <p:cNvPr id="206" name="Control label 2"/>
          <p:cNvSpPr txBox="1"/>
          <p:nvPr/>
        </p:nvSpPr>
        <p:spPr>
          <a:xfrm>
            <a:off x="4123309" y="3505200"/>
            <a:ext cx="1905000" cy="43180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GB" sz="1300" b="1" dirty="0">
                <a:solidFill>
                  <a:srgbClr val="0B1F3A"/>
                </a:solidFill>
                <a:latin typeface="Anthropic Sans Text"/>
                <a:cs typeface="Anthropic Sans Text"/>
              </a:rPr>
              <a:t>Zero standing privilege</a:t>
            </a:r>
          </a:p>
        </p:txBody>
      </p:sp>
      <p:sp>
        <p:nvSpPr>
          <p:cNvPr id="207" name="Control detail 2"/>
          <p:cNvSpPr txBox="1"/>
          <p:nvPr/>
        </p:nvSpPr>
        <p:spPr>
          <a:xfrm>
            <a:off x="3640709" y="4013200"/>
            <a:ext cx="2362200" cy="6096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GB" sz="1100" b="0" dirty="0">
                <a:solidFill>
                  <a:srgbClr val="52606D"/>
                </a:solidFill>
                <a:latin typeface="Anthropic Sans Text"/>
                <a:cs typeface="Anthropic Sans Text"/>
              </a:rPr>
              <a:t>Users see only their team’s queue. Admin rights just-in-time (Privileged Identity Management)</a:t>
            </a:r>
          </a:p>
        </p:txBody>
      </p:sp>
      <p:sp>
        <p:nvSpPr>
          <p:cNvPr id="208" name="Control tile 3"/>
          <p:cNvSpPr/>
          <p:nvPr/>
        </p:nvSpPr>
        <p:spPr>
          <a:xfrm>
            <a:off x="6290818" y="3378200"/>
            <a:ext cx="2641600" cy="1320800"/>
          </a:xfrm>
          <a:prstGeom prst="rect">
            <a:avLst/>
          </a:prstGeom>
          <a:solidFill>
            <a:srgbClr val="F3F4F6"/>
          </a:solidFill>
          <a:ln>
            <a:noFill/>
          </a:ln>
        </p:spPr>
        <p:txBody>
          <a:bodyPr wrap="square" lIns="0" tIns="0" rIns="0" bIns="0" rtlCol="0" anchor="t">
            <a:noAutofit/>
          </a:bodyPr>
          <a:lstStyle/>
          <a:p>
            <a:endParaRPr lang="en-GB" dirty="0"/>
          </a:p>
        </p:txBody>
      </p:sp>
      <p:sp>
        <p:nvSpPr>
          <p:cNvPr id="209" name="Control chip 3"/>
          <p:cNvSpPr/>
          <p:nvPr/>
        </p:nvSpPr>
        <p:spPr>
          <a:xfrm>
            <a:off x="6443218" y="3530600"/>
            <a:ext cx="381000" cy="381000"/>
          </a:xfrm>
          <a:prstGeom prst="ellipse">
            <a:avLst/>
          </a:prstGeom>
          <a:solidFill>
            <a:srgbClr val="1F4E8C"/>
          </a:solidFill>
          <a:ln>
            <a:noFill/>
          </a:ln>
        </p:spPr>
        <p:txBody>
          <a:bodyPr wrap="square" lIns="0" tIns="0" rIns="0" bIns="0" rtlCol="0" anchor="ctr">
            <a:noAutofit/>
          </a:bodyPr>
          <a:lstStyle/>
          <a:p>
            <a:endParaRPr lang="en-GB" dirty="0"/>
          </a:p>
        </p:txBody>
      </p:sp>
      <p:sp>
        <p:nvSpPr>
          <p:cNvPr id="210" name="Control label 3"/>
          <p:cNvSpPr txBox="1"/>
          <p:nvPr/>
        </p:nvSpPr>
        <p:spPr>
          <a:xfrm>
            <a:off x="6925818" y="3505200"/>
            <a:ext cx="1905000" cy="43180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GB" sz="1300" b="1" dirty="0">
                <a:solidFill>
                  <a:srgbClr val="0B1F3A"/>
                </a:solidFill>
                <a:latin typeface="Anthropic Sans Text"/>
                <a:cs typeface="Anthropic Sans Text"/>
              </a:rPr>
              <a:t>No shared secrets</a:t>
            </a:r>
          </a:p>
        </p:txBody>
      </p:sp>
      <p:sp>
        <p:nvSpPr>
          <p:cNvPr id="211" name="Control detail 3"/>
          <p:cNvSpPr txBox="1"/>
          <p:nvPr/>
        </p:nvSpPr>
        <p:spPr>
          <a:xfrm>
            <a:off x="6443218" y="4013200"/>
            <a:ext cx="2362200" cy="6096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GB" sz="1100" b="0" dirty="0">
                <a:solidFill>
                  <a:srgbClr val="52606D"/>
                </a:solidFill>
                <a:latin typeface="Anthropic Sans Text"/>
                <a:cs typeface="Anthropic Sans Text"/>
              </a:rPr>
              <a:t>Managed identities, no API keys. Key Vault for anything else</a:t>
            </a:r>
          </a:p>
        </p:txBody>
      </p:sp>
      <p:sp>
        <p:nvSpPr>
          <p:cNvPr id="212" name="Control tile 4"/>
          <p:cNvSpPr/>
          <p:nvPr/>
        </p:nvSpPr>
        <p:spPr>
          <a:xfrm>
            <a:off x="9093327" y="3378200"/>
            <a:ext cx="2641600" cy="1320800"/>
          </a:xfrm>
          <a:prstGeom prst="rect">
            <a:avLst/>
          </a:prstGeom>
          <a:solidFill>
            <a:srgbClr val="F3F4F6"/>
          </a:solidFill>
          <a:ln>
            <a:noFill/>
          </a:ln>
        </p:spPr>
        <p:txBody>
          <a:bodyPr wrap="square" lIns="0" tIns="0" rIns="0" bIns="0" rtlCol="0" anchor="t">
            <a:noAutofit/>
          </a:bodyPr>
          <a:lstStyle/>
          <a:p>
            <a:endParaRPr lang="en-GB" dirty="0"/>
          </a:p>
        </p:txBody>
      </p:sp>
      <p:sp>
        <p:nvSpPr>
          <p:cNvPr id="213" name="Control chip 4"/>
          <p:cNvSpPr/>
          <p:nvPr/>
        </p:nvSpPr>
        <p:spPr>
          <a:xfrm>
            <a:off x="9245727" y="3530600"/>
            <a:ext cx="381000" cy="381000"/>
          </a:xfrm>
          <a:prstGeom prst="ellipse">
            <a:avLst/>
          </a:prstGeom>
          <a:solidFill>
            <a:srgbClr val="1F4E8C"/>
          </a:solidFill>
          <a:ln>
            <a:noFill/>
          </a:ln>
        </p:spPr>
        <p:txBody>
          <a:bodyPr wrap="square" lIns="0" tIns="0" rIns="0" bIns="0" rtlCol="0" anchor="ctr">
            <a:noAutofit/>
          </a:bodyPr>
          <a:lstStyle/>
          <a:p>
            <a:endParaRPr lang="en-GB" dirty="0"/>
          </a:p>
        </p:txBody>
      </p:sp>
      <p:sp>
        <p:nvSpPr>
          <p:cNvPr id="214" name="Control label 4"/>
          <p:cNvSpPr txBox="1"/>
          <p:nvPr/>
        </p:nvSpPr>
        <p:spPr>
          <a:xfrm>
            <a:off x="9728327" y="3505200"/>
            <a:ext cx="1905000" cy="43180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GB" sz="1300" b="1" dirty="0">
                <a:solidFill>
                  <a:srgbClr val="0B1F3A"/>
                </a:solidFill>
                <a:latin typeface="Anthropic Sans Text"/>
                <a:cs typeface="Anthropic Sans Text"/>
              </a:rPr>
              <a:t>Private by default</a:t>
            </a:r>
          </a:p>
        </p:txBody>
      </p:sp>
      <p:sp>
        <p:nvSpPr>
          <p:cNvPr id="215" name="Control detail 4"/>
          <p:cNvSpPr txBox="1"/>
          <p:nvPr/>
        </p:nvSpPr>
        <p:spPr>
          <a:xfrm>
            <a:off x="9245727" y="4013200"/>
            <a:ext cx="2362200" cy="6096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GB" sz="1100" b="0" dirty="0">
                <a:solidFill>
                  <a:srgbClr val="52606D"/>
                </a:solidFill>
                <a:latin typeface="Anthropic Sans Text"/>
                <a:cs typeface="Anthropic Sans Text"/>
              </a:rPr>
              <a:t>Private endpoints: no public exposure of data or AI services</a:t>
            </a:r>
          </a:p>
        </p:txBody>
      </p:sp>
      <p:sp>
        <p:nvSpPr>
          <p:cNvPr id="216" name="Control tile 5"/>
          <p:cNvSpPr/>
          <p:nvPr/>
        </p:nvSpPr>
        <p:spPr>
          <a:xfrm>
            <a:off x="685800" y="4876800"/>
            <a:ext cx="2641600" cy="1320800"/>
          </a:xfrm>
          <a:prstGeom prst="rect">
            <a:avLst/>
          </a:prstGeom>
          <a:solidFill>
            <a:srgbClr val="F3F4F6"/>
          </a:solidFill>
          <a:ln>
            <a:noFill/>
          </a:ln>
        </p:spPr>
        <p:txBody>
          <a:bodyPr wrap="square" lIns="0" tIns="0" rIns="0" bIns="0" rtlCol="0" anchor="t">
            <a:noAutofit/>
          </a:bodyPr>
          <a:lstStyle/>
          <a:p>
            <a:endParaRPr lang="en-GB" dirty="0"/>
          </a:p>
        </p:txBody>
      </p:sp>
      <p:sp>
        <p:nvSpPr>
          <p:cNvPr id="217" name="Control chip 5"/>
          <p:cNvSpPr/>
          <p:nvPr/>
        </p:nvSpPr>
        <p:spPr>
          <a:xfrm>
            <a:off x="838200" y="5029200"/>
            <a:ext cx="381000" cy="381000"/>
          </a:xfrm>
          <a:prstGeom prst="ellipse">
            <a:avLst/>
          </a:prstGeom>
          <a:solidFill>
            <a:srgbClr val="1F4E8C"/>
          </a:solidFill>
          <a:ln>
            <a:noFill/>
          </a:ln>
        </p:spPr>
        <p:txBody>
          <a:bodyPr wrap="square" lIns="0" tIns="0" rIns="0" bIns="0" rtlCol="0" anchor="ctr">
            <a:noAutofit/>
          </a:bodyPr>
          <a:lstStyle/>
          <a:p>
            <a:endParaRPr lang="en-GB" dirty="0"/>
          </a:p>
        </p:txBody>
      </p:sp>
      <p:sp>
        <p:nvSpPr>
          <p:cNvPr id="218" name="Control label 5"/>
          <p:cNvSpPr txBox="1"/>
          <p:nvPr/>
        </p:nvSpPr>
        <p:spPr>
          <a:xfrm>
            <a:off x="1320800" y="5003800"/>
            <a:ext cx="1905000" cy="43180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GB" sz="1300" b="1" dirty="0">
                <a:solidFill>
                  <a:srgbClr val="0B1F3A"/>
                </a:solidFill>
                <a:latin typeface="Anthropic Sans Text"/>
                <a:cs typeface="Anthropic Sans Text"/>
              </a:rPr>
              <a:t>Encrypted</a:t>
            </a:r>
          </a:p>
        </p:txBody>
      </p:sp>
      <p:sp>
        <p:nvSpPr>
          <p:cNvPr id="219" name="Control detail 5"/>
          <p:cNvSpPr txBox="1"/>
          <p:nvPr/>
        </p:nvSpPr>
        <p:spPr>
          <a:xfrm>
            <a:off x="838200" y="5511800"/>
            <a:ext cx="2362200" cy="6096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GB" sz="1100" b="0" dirty="0">
                <a:solidFill>
                  <a:srgbClr val="52606D"/>
                </a:solidFill>
                <a:latin typeface="Anthropic Sans Text"/>
                <a:cs typeface="Anthropic Sans Text"/>
              </a:rPr>
              <a:t>In transit and at rest. Customer-managed keys optional</a:t>
            </a:r>
          </a:p>
        </p:txBody>
      </p:sp>
      <p:sp>
        <p:nvSpPr>
          <p:cNvPr id="220" name="Control tile 6"/>
          <p:cNvSpPr/>
          <p:nvPr/>
        </p:nvSpPr>
        <p:spPr>
          <a:xfrm>
            <a:off x="3488309" y="4876800"/>
            <a:ext cx="2641600" cy="1320800"/>
          </a:xfrm>
          <a:prstGeom prst="rect">
            <a:avLst/>
          </a:prstGeom>
          <a:solidFill>
            <a:srgbClr val="F3F4F6"/>
          </a:solidFill>
          <a:ln>
            <a:noFill/>
          </a:ln>
        </p:spPr>
        <p:txBody>
          <a:bodyPr wrap="square" lIns="0" tIns="0" rIns="0" bIns="0" rtlCol="0" anchor="t">
            <a:noAutofit/>
          </a:bodyPr>
          <a:lstStyle/>
          <a:p>
            <a:endParaRPr lang="en-GB" dirty="0"/>
          </a:p>
        </p:txBody>
      </p:sp>
      <p:sp>
        <p:nvSpPr>
          <p:cNvPr id="221" name="Control chip 6"/>
          <p:cNvSpPr/>
          <p:nvPr/>
        </p:nvSpPr>
        <p:spPr>
          <a:xfrm>
            <a:off x="3640709" y="5029200"/>
            <a:ext cx="381000" cy="381000"/>
          </a:xfrm>
          <a:prstGeom prst="ellipse">
            <a:avLst/>
          </a:prstGeom>
          <a:solidFill>
            <a:srgbClr val="1F4E8C"/>
          </a:solidFill>
          <a:ln>
            <a:noFill/>
          </a:ln>
        </p:spPr>
        <p:txBody>
          <a:bodyPr wrap="square" lIns="0" tIns="0" rIns="0" bIns="0" rtlCol="0" anchor="ctr">
            <a:noAutofit/>
          </a:bodyPr>
          <a:lstStyle/>
          <a:p>
            <a:endParaRPr lang="en-GB" dirty="0"/>
          </a:p>
        </p:txBody>
      </p:sp>
      <p:sp>
        <p:nvSpPr>
          <p:cNvPr id="222" name="Control label 6"/>
          <p:cNvSpPr txBox="1"/>
          <p:nvPr/>
        </p:nvSpPr>
        <p:spPr>
          <a:xfrm>
            <a:off x="4123309" y="5003800"/>
            <a:ext cx="1905000" cy="43180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GB" sz="1300" b="1" dirty="0">
                <a:solidFill>
                  <a:srgbClr val="0B1F3A"/>
                </a:solidFill>
                <a:latin typeface="Anthropic Sans Text"/>
                <a:cs typeface="Anthropic Sans Text"/>
              </a:rPr>
              <a:t>Audited</a:t>
            </a:r>
          </a:p>
        </p:txBody>
      </p:sp>
      <p:sp>
        <p:nvSpPr>
          <p:cNvPr id="223" name="Control detail 6"/>
          <p:cNvSpPr txBox="1"/>
          <p:nvPr/>
        </p:nvSpPr>
        <p:spPr>
          <a:xfrm>
            <a:off x="3640709" y="5511800"/>
            <a:ext cx="2362200" cy="6096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GB" sz="1100" b="0" dirty="0">
                <a:solidFill>
                  <a:srgbClr val="52606D"/>
                </a:solidFill>
                <a:latin typeface="Anthropic Sans Text"/>
                <a:cs typeface="Anthropic Sans Text"/>
              </a:rPr>
              <a:t>Every decision logged: who approved what, when. Azure Monitor and Microsoft Purview</a:t>
            </a:r>
          </a:p>
        </p:txBody>
      </p:sp>
      <p:sp>
        <p:nvSpPr>
          <p:cNvPr id="224" name="Control tile 7"/>
          <p:cNvSpPr/>
          <p:nvPr/>
        </p:nvSpPr>
        <p:spPr>
          <a:xfrm>
            <a:off x="6290818" y="4876800"/>
            <a:ext cx="2641600" cy="1320800"/>
          </a:xfrm>
          <a:prstGeom prst="rect">
            <a:avLst/>
          </a:prstGeom>
          <a:solidFill>
            <a:srgbClr val="F3F4F6"/>
          </a:solidFill>
          <a:ln>
            <a:noFill/>
          </a:ln>
        </p:spPr>
        <p:txBody>
          <a:bodyPr wrap="square" lIns="0" tIns="0" rIns="0" bIns="0" rtlCol="0" anchor="t">
            <a:noAutofit/>
          </a:bodyPr>
          <a:lstStyle/>
          <a:p>
            <a:endParaRPr lang="en-GB" dirty="0"/>
          </a:p>
        </p:txBody>
      </p:sp>
      <p:sp>
        <p:nvSpPr>
          <p:cNvPr id="225" name="Control chip 7"/>
          <p:cNvSpPr/>
          <p:nvPr/>
        </p:nvSpPr>
        <p:spPr>
          <a:xfrm>
            <a:off x="6443218" y="5029200"/>
            <a:ext cx="381000" cy="381000"/>
          </a:xfrm>
          <a:prstGeom prst="ellipse">
            <a:avLst/>
          </a:prstGeom>
          <a:solidFill>
            <a:srgbClr val="1F4E8C"/>
          </a:solidFill>
          <a:ln>
            <a:noFill/>
          </a:ln>
        </p:spPr>
        <p:txBody>
          <a:bodyPr wrap="square" lIns="0" tIns="0" rIns="0" bIns="0" rtlCol="0" anchor="ctr">
            <a:noAutofit/>
          </a:bodyPr>
          <a:lstStyle/>
          <a:p>
            <a:endParaRPr lang="en-GB" dirty="0"/>
          </a:p>
        </p:txBody>
      </p:sp>
      <p:sp>
        <p:nvSpPr>
          <p:cNvPr id="226" name="Control label 7"/>
          <p:cNvSpPr txBox="1"/>
          <p:nvPr/>
        </p:nvSpPr>
        <p:spPr>
          <a:xfrm>
            <a:off x="6925818" y="5003800"/>
            <a:ext cx="1905000" cy="43180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GB" sz="1300" b="1" dirty="0">
                <a:solidFill>
                  <a:srgbClr val="0B1F3A"/>
                </a:solidFill>
                <a:latin typeface="Anthropic Sans Text"/>
                <a:cs typeface="Anthropic Sans Text"/>
              </a:rPr>
              <a:t>Policy-enforced</a:t>
            </a:r>
          </a:p>
        </p:txBody>
      </p:sp>
      <p:sp>
        <p:nvSpPr>
          <p:cNvPr id="227" name="Control detail 7"/>
          <p:cNvSpPr txBox="1"/>
          <p:nvPr/>
        </p:nvSpPr>
        <p:spPr>
          <a:xfrm>
            <a:off x="6443218" y="5511800"/>
            <a:ext cx="2362200" cy="6096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GB" sz="1100" b="0" dirty="0">
                <a:solidFill>
                  <a:srgbClr val="52606D"/>
                </a:solidFill>
                <a:latin typeface="Anthropic Sans Text"/>
                <a:cs typeface="Anthropic Sans Text"/>
              </a:rPr>
              <a:t>Azure Policy and Defender for Cloud: guardrails on every resource</a:t>
            </a:r>
          </a:p>
        </p:txBody>
      </p:sp>
      <p:sp>
        <p:nvSpPr>
          <p:cNvPr id="228" name="Control tile 8"/>
          <p:cNvSpPr/>
          <p:nvPr/>
        </p:nvSpPr>
        <p:spPr>
          <a:xfrm>
            <a:off x="9093327" y="4876800"/>
            <a:ext cx="2641600" cy="1320800"/>
          </a:xfrm>
          <a:prstGeom prst="rect">
            <a:avLst/>
          </a:prstGeom>
          <a:solidFill>
            <a:srgbClr val="F3F4F6"/>
          </a:solidFill>
          <a:ln>
            <a:noFill/>
          </a:ln>
        </p:spPr>
        <p:txBody>
          <a:bodyPr wrap="square" lIns="0" tIns="0" rIns="0" bIns="0" rtlCol="0" anchor="t">
            <a:noAutofit/>
          </a:bodyPr>
          <a:lstStyle/>
          <a:p>
            <a:endParaRPr lang="en-GB" dirty="0"/>
          </a:p>
        </p:txBody>
      </p:sp>
      <p:sp>
        <p:nvSpPr>
          <p:cNvPr id="229" name="Control chip 8"/>
          <p:cNvSpPr/>
          <p:nvPr/>
        </p:nvSpPr>
        <p:spPr>
          <a:xfrm>
            <a:off x="9245727" y="5029200"/>
            <a:ext cx="381000" cy="381000"/>
          </a:xfrm>
          <a:prstGeom prst="ellipse">
            <a:avLst/>
          </a:prstGeom>
          <a:solidFill>
            <a:srgbClr val="1F4E8C"/>
          </a:solidFill>
          <a:ln>
            <a:noFill/>
          </a:ln>
        </p:spPr>
        <p:txBody>
          <a:bodyPr wrap="square" lIns="0" tIns="0" rIns="0" bIns="0" rtlCol="0" anchor="ctr">
            <a:noAutofit/>
          </a:bodyPr>
          <a:lstStyle/>
          <a:p>
            <a:endParaRPr lang="en-GB" dirty="0"/>
          </a:p>
        </p:txBody>
      </p:sp>
      <p:sp>
        <p:nvSpPr>
          <p:cNvPr id="230" name="Control label 8"/>
          <p:cNvSpPr txBox="1"/>
          <p:nvPr/>
        </p:nvSpPr>
        <p:spPr>
          <a:xfrm>
            <a:off x="9728327" y="5003800"/>
            <a:ext cx="1905000" cy="43180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GB" sz="1300" b="1" dirty="0">
                <a:solidFill>
                  <a:srgbClr val="0B1F3A"/>
                </a:solidFill>
                <a:latin typeface="Anthropic Sans Text"/>
                <a:cs typeface="Anthropic Sans Text"/>
              </a:rPr>
              <a:t>People decide</a:t>
            </a:r>
          </a:p>
        </p:txBody>
      </p:sp>
      <p:sp>
        <p:nvSpPr>
          <p:cNvPr id="231" name="Control detail 8"/>
          <p:cNvSpPr txBox="1"/>
          <p:nvPr/>
        </p:nvSpPr>
        <p:spPr>
          <a:xfrm>
            <a:off x="9245727" y="5511800"/>
            <a:ext cx="2362200" cy="6096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GB" sz="1100" b="0" dirty="0">
                <a:solidFill>
                  <a:srgbClr val="52606D"/>
                </a:solidFill>
                <a:latin typeface="Anthropic Sans Text"/>
                <a:cs typeface="Anthropic Sans Text"/>
              </a:rPr>
              <a:t>No appeal, write-off or resubmission without sign-off</a:t>
            </a:r>
          </a:p>
        </p:txBody>
      </p:sp>
      <p:pic>
        <p:nvPicPr>
          <p:cNvPr id="232" name="Graphic 232" descr="Identity"/>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4400" y="3606800"/>
            <a:ext cx="228600" cy="228600"/>
          </a:xfrm>
          <a:prstGeom prst="rect">
            <a:avLst/>
          </a:prstGeom>
        </p:spPr>
      </p:pic>
      <p:pic>
        <p:nvPicPr>
          <p:cNvPr id="233" name="Graphic 233" descr="Zero standing privilege"/>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16909" y="3606800"/>
            <a:ext cx="228600" cy="228600"/>
          </a:xfrm>
          <a:prstGeom prst="rect">
            <a:avLst/>
          </a:prstGeom>
        </p:spPr>
      </p:pic>
      <p:pic>
        <p:nvPicPr>
          <p:cNvPr id="234" name="Graphic 234" descr="No shared secrets"/>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19418" y="3606800"/>
            <a:ext cx="228600" cy="228600"/>
          </a:xfrm>
          <a:prstGeom prst="rect">
            <a:avLst/>
          </a:prstGeom>
        </p:spPr>
      </p:pic>
      <p:pic>
        <p:nvPicPr>
          <p:cNvPr id="235" name="Graphic 235" descr="Encrypted"/>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14400" y="5105400"/>
            <a:ext cx="228600" cy="228600"/>
          </a:xfrm>
          <a:prstGeom prst="rect">
            <a:avLst/>
          </a:prstGeom>
        </p:spPr>
      </p:pic>
      <p:pic>
        <p:nvPicPr>
          <p:cNvPr id="236" name="Graphic 236" descr="Policy-enforced"/>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519418" y="5105400"/>
            <a:ext cx="228600" cy="228600"/>
          </a:xfrm>
          <a:prstGeom prst="rect">
            <a:avLst/>
          </a:prstGeom>
        </p:spPr>
      </p:pic>
      <p:pic>
        <p:nvPicPr>
          <p:cNvPr id="237" name="Graphic 237" descr="People decide"/>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321927" y="5105400"/>
            <a:ext cx="228600" cy="228600"/>
          </a:xfrm>
          <a:prstGeom prst="rect">
            <a:avLst/>
          </a:prstGeom>
        </p:spPr>
      </p:pic>
      <p:pic>
        <p:nvPicPr>
          <p:cNvPr id="238" name="Graphic 238" descr="Private by default"/>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321927" y="3606800"/>
            <a:ext cx="228600" cy="228600"/>
          </a:xfrm>
          <a:prstGeom prst="rect">
            <a:avLst/>
          </a:prstGeom>
        </p:spPr>
      </p:pic>
      <p:pic>
        <p:nvPicPr>
          <p:cNvPr id="239" name="Graphic 239" descr="Audited"/>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716909" y="5105400"/>
            <a:ext cx="228600" cy="228600"/>
          </a:xfrm>
          <a:prstGeom prst="rect">
            <a:avLst/>
          </a:prstGeom>
        </p:spPr>
      </p:pic>
    </p:spTree>
    <p:extLst>
      <p:ext uri="{BB962C8B-B14F-4D97-AF65-F5344CB8AC3E}">
        <p14:creationId xmlns:p14="http://schemas.microsoft.com/office/powerpoint/2010/main" val="32886637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303D0-FD11-8498-0715-5E38C6771E1A}"/>
              </a:ext>
            </a:extLst>
          </p:cNvPr>
          <p:cNvSpPr>
            <a:spLocks noGrp="1"/>
          </p:cNvSpPr>
          <p:nvPr>
            <p:ph type="title"/>
          </p:nvPr>
        </p:nvSpPr>
        <p:spPr>
          <a:xfrm>
            <a:off x="685800" y="330200"/>
            <a:ext cx="10363200" cy="762000"/>
          </a:xfrm>
        </p:spPr>
        <p:txBody>
          <a:bodyPr>
            <a:normAutofit fontScale="90000"/>
          </a:bodyPr>
          <a:lstStyle/>
          <a:p>
            <a:pPr>
              <a:lnSpc>
                <a:spcPct val="90000"/>
              </a:lnSpc>
            </a:pPr>
            <a:r>
              <a:rPr lang="en-GB" sz="2800" dirty="0"/>
              <a:t>Your data stays yours: it sharpens your decisions, never public AI</a:t>
            </a:r>
          </a:p>
        </p:txBody>
      </p:sp>
      <p:graphicFrame>
        <p:nvGraphicFramePr>
          <p:cNvPr id="300" name="Myth vs Fact table"/>
          <p:cNvGraphicFramePr>
            <a:graphicFrameLocks noGrp="1"/>
          </p:cNvGraphicFramePr>
          <p:nvPr/>
        </p:nvGraphicFramePr>
        <p:xfrm>
          <a:off x="685800" y="1447800"/>
          <a:ext cx="11049000" cy="3606800"/>
        </p:xfrm>
        <a:graphic>
          <a:graphicData uri="http://schemas.openxmlformats.org/drawingml/2006/table">
            <a:tbl>
              <a:tblPr firstRow="1"/>
              <a:tblGrid>
                <a:gridCol w="5842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584200">
                  <a:extLst>
                    <a:ext uri="{9D8B030D-6E8A-4147-A177-3AD203B41FA5}">
                      <a16:colId xmlns:a16="http://schemas.microsoft.com/office/drawing/2014/main" val="20002"/>
                    </a:ext>
                  </a:extLst>
                </a:gridCol>
                <a:gridCol w="6070600">
                  <a:extLst>
                    <a:ext uri="{9D8B030D-6E8A-4147-A177-3AD203B41FA5}">
                      <a16:colId xmlns:a16="http://schemas.microsoft.com/office/drawing/2014/main" val="20003"/>
                    </a:ext>
                  </a:extLst>
                </a:gridCol>
              </a:tblGrid>
              <a:tr h="457200">
                <a:tc>
                  <a:txBody>
                    <a:bodyPr/>
                    <a:lstStyle/>
                    <a:p>
                      <a:pPr marL="0" indent="0" algn="l">
                        <a:spcBef>
                          <a:spcPts val="0"/>
                        </a:spcBef>
                        <a:spcAft>
                          <a:spcPts val="0"/>
                        </a:spcAft>
                        <a:buNone/>
                      </a:pPr>
                      <a:endParaRPr/>
                    </a:p>
                  </a:txBody>
                  <a:tcPr marL="152400" marR="152400" marT="76200" marB="76200" anchor="ctr">
                    <a:lnL w="0">
                      <a:noFill/>
                    </a:lnL>
                    <a:lnR w="0">
                      <a:noFill/>
                    </a:lnR>
                    <a:lnT w="38100">
                      <a:solidFill>
                        <a:srgbClr val="FFFFFF"/>
                      </a:solidFill>
                    </a:lnT>
                    <a:lnB w="38100">
                      <a:solidFill>
                        <a:srgbClr val="FFFFFF"/>
                      </a:solidFill>
                    </a:lnB>
                    <a:solidFill>
                      <a:srgbClr val="E4572E"/>
                    </a:solidFill>
                  </a:tcPr>
                </a:tc>
                <a:tc>
                  <a:txBody>
                    <a:bodyPr/>
                    <a:lstStyle/>
                    <a:p>
                      <a:pPr marL="0" indent="0" algn="l">
                        <a:spcBef>
                          <a:spcPts val="0"/>
                        </a:spcBef>
                        <a:spcAft>
                          <a:spcPts val="0"/>
                        </a:spcAft>
                        <a:buNone/>
                      </a:pPr>
                      <a:r>
                        <a:rPr lang="en-GB" sz="1400" b="1" dirty="0">
                          <a:solidFill>
                            <a:srgbClr val="FFFFFF"/>
                          </a:solidFill>
                          <a:latin typeface="Anthropic Sans Text"/>
                          <a:cs typeface="Anthropic Sans Text"/>
                        </a:rPr>
                        <a:t>MYTH</a:t>
                      </a:r>
                    </a:p>
                  </a:txBody>
                  <a:tcPr marL="0" marR="152400" marT="76200" marB="76200" anchor="ctr">
                    <a:lnL w="0">
                      <a:noFill/>
                    </a:lnL>
                    <a:lnR w="0">
                      <a:noFill/>
                    </a:lnR>
                    <a:lnT w="38100">
                      <a:solidFill>
                        <a:srgbClr val="FFFFFF"/>
                      </a:solidFill>
                    </a:lnT>
                    <a:lnB w="38100">
                      <a:solidFill>
                        <a:srgbClr val="FFFFFF"/>
                      </a:solidFill>
                    </a:lnB>
                    <a:solidFill>
                      <a:srgbClr val="E4572E"/>
                    </a:solidFill>
                  </a:tcPr>
                </a:tc>
                <a:tc>
                  <a:txBody>
                    <a:bodyPr/>
                    <a:lstStyle/>
                    <a:p>
                      <a:pPr marL="0" indent="0" algn="l">
                        <a:spcBef>
                          <a:spcPts val="0"/>
                        </a:spcBef>
                        <a:spcAft>
                          <a:spcPts val="0"/>
                        </a:spcAft>
                        <a:buNone/>
                      </a:pPr>
                      <a:endParaRPr/>
                    </a:p>
                  </a:txBody>
                  <a:tcPr marL="152400" marR="152400" marT="76200" marB="76200" anchor="ctr">
                    <a:lnL w="0">
                      <a:noFill/>
                    </a:lnL>
                    <a:lnR w="0">
                      <a:noFill/>
                    </a:lnR>
                    <a:lnT w="38100">
                      <a:solidFill>
                        <a:srgbClr val="FFFFFF"/>
                      </a:solidFill>
                    </a:lnT>
                    <a:lnB w="38100">
                      <a:solidFill>
                        <a:srgbClr val="FFFFFF"/>
                      </a:solidFill>
                    </a:lnB>
                    <a:solidFill>
                      <a:srgbClr val="2E9E6A"/>
                    </a:solidFill>
                  </a:tcPr>
                </a:tc>
                <a:tc>
                  <a:txBody>
                    <a:bodyPr/>
                    <a:lstStyle/>
                    <a:p>
                      <a:pPr marL="0" indent="0" algn="l">
                        <a:spcBef>
                          <a:spcPts val="0"/>
                        </a:spcBef>
                        <a:spcAft>
                          <a:spcPts val="0"/>
                        </a:spcAft>
                        <a:buNone/>
                      </a:pPr>
                      <a:r>
                        <a:rPr lang="en-GB" sz="1400" b="1" dirty="0">
                          <a:solidFill>
                            <a:srgbClr val="FFFFFF"/>
                          </a:solidFill>
                          <a:latin typeface="Anthropic Sans Text"/>
                          <a:cs typeface="Anthropic Sans Text"/>
                        </a:rPr>
                        <a:t>FACT</a:t>
                      </a:r>
                    </a:p>
                  </a:txBody>
                  <a:tcPr marL="0" marR="152400" marT="76200" marB="76200" anchor="ctr">
                    <a:lnL w="0">
                      <a:noFill/>
                    </a:lnL>
                    <a:lnR w="0">
                      <a:noFill/>
                    </a:lnR>
                    <a:lnT w="38100">
                      <a:solidFill>
                        <a:srgbClr val="FFFFFF"/>
                      </a:solidFill>
                    </a:lnT>
                    <a:lnB w="38100">
                      <a:solidFill>
                        <a:srgbClr val="FFFFFF"/>
                      </a:solidFill>
                    </a:lnB>
                    <a:solidFill>
                      <a:srgbClr val="2E9E6A"/>
                    </a:solidFill>
                  </a:tcPr>
                </a:tc>
                <a:extLst>
                  <a:ext uri="{0D108BD9-81ED-4DB2-BD59-A6C34878D82A}">
                    <a16:rowId xmlns:a16="http://schemas.microsoft.com/office/drawing/2014/main" val="10000"/>
                  </a:ext>
                </a:extLst>
              </a:tr>
              <a:tr h="787400">
                <a:tc>
                  <a:txBody>
                    <a:bodyPr/>
                    <a:lstStyle/>
                    <a:p>
                      <a:pPr marL="0" indent="0" algn="l">
                        <a:spcBef>
                          <a:spcPts val="0"/>
                        </a:spcBef>
                        <a:spcAft>
                          <a:spcPts val="0"/>
                        </a:spcAft>
                        <a:buNone/>
                      </a:pPr>
                      <a:endParaRPr/>
                    </a:p>
                  </a:txBody>
                  <a:tcPr marL="152400" marR="152400" marT="76200" marB="76200" anchor="ctr">
                    <a:lnL w="0">
                      <a:noFill/>
                    </a:lnL>
                    <a:lnR w="0">
                      <a:noFill/>
                    </a:lnR>
                    <a:lnT w="38100">
                      <a:solidFill>
                        <a:srgbClr val="FFFFFF"/>
                      </a:solidFill>
                    </a:lnT>
                    <a:lnB w="38100">
                      <a:solidFill>
                        <a:srgbClr val="FFFFFF"/>
                      </a:solidFill>
                    </a:lnB>
                    <a:solidFill>
                      <a:srgbClr val="FCEBE5"/>
                    </a:solidFill>
                  </a:tcPr>
                </a:tc>
                <a:tc>
                  <a:txBody>
                    <a:bodyPr/>
                    <a:lstStyle/>
                    <a:p>
                      <a:pPr marL="0" indent="0" algn="l">
                        <a:spcBef>
                          <a:spcPts val="0"/>
                        </a:spcBef>
                        <a:spcAft>
                          <a:spcPts val="0"/>
                        </a:spcAft>
                        <a:buNone/>
                      </a:pPr>
                      <a:r>
                        <a:rPr lang="en-GB" sz="1600" b="1" dirty="0">
                          <a:solidFill>
                            <a:srgbClr val="0B1F3A"/>
                          </a:solidFill>
                          <a:latin typeface="Anthropic Sans Text"/>
                          <a:cs typeface="Anthropic Sans Text"/>
                        </a:rPr>
                        <a:t>“Our claims data trains the AI”</a:t>
                      </a:r>
                    </a:p>
                  </a:txBody>
                  <a:tcPr marL="0" marR="152400" marT="76200" marB="76200" anchor="ctr">
                    <a:lnL w="0">
                      <a:noFill/>
                    </a:lnL>
                    <a:lnR w="0">
                      <a:noFill/>
                    </a:lnR>
                    <a:lnT w="38100">
                      <a:solidFill>
                        <a:srgbClr val="FFFFFF"/>
                      </a:solidFill>
                    </a:lnT>
                    <a:lnB w="38100">
                      <a:solidFill>
                        <a:srgbClr val="FFFFFF"/>
                      </a:solidFill>
                    </a:lnB>
                    <a:solidFill>
                      <a:srgbClr val="FCEBE5"/>
                    </a:solidFill>
                  </a:tcPr>
                </a:tc>
                <a:tc>
                  <a:txBody>
                    <a:bodyPr/>
                    <a:lstStyle/>
                    <a:p>
                      <a:pPr marL="0" indent="0" algn="l">
                        <a:spcBef>
                          <a:spcPts val="0"/>
                        </a:spcBef>
                        <a:spcAft>
                          <a:spcPts val="0"/>
                        </a:spcAft>
                        <a:buNone/>
                      </a:pPr>
                      <a:endParaRPr/>
                    </a:p>
                  </a:txBody>
                  <a:tcPr marL="152400" marR="152400" marT="76200" marB="76200" anchor="ctr">
                    <a:lnL w="0">
                      <a:noFill/>
                    </a:lnL>
                    <a:lnR w="0">
                      <a:noFill/>
                    </a:lnR>
                    <a:lnT w="38100">
                      <a:solidFill>
                        <a:srgbClr val="FFFFFF"/>
                      </a:solidFill>
                    </a:lnT>
                    <a:lnB w="38100">
                      <a:solidFill>
                        <a:srgbClr val="FFFFFF"/>
                      </a:solidFill>
                    </a:lnB>
                    <a:solidFill>
                      <a:srgbClr val="E3F3EA"/>
                    </a:solidFill>
                  </a:tcPr>
                </a:tc>
                <a:tc>
                  <a:txBody>
                    <a:bodyPr/>
                    <a:lstStyle/>
                    <a:p>
                      <a:pPr marL="0" indent="0" algn="l">
                        <a:spcBef>
                          <a:spcPts val="0"/>
                        </a:spcBef>
                        <a:spcAft>
                          <a:spcPts val="0"/>
                        </a:spcAft>
                        <a:buNone/>
                      </a:pPr>
                      <a:r>
                        <a:rPr lang="en-GB" sz="1600" b="0" dirty="0">
                          <a:solidFill>
                            <a:srgbClr val="0B1F3A"/>
                          </a:solidFill>
                          <a:latin typeface="Anthropic Sans Text"/>
                          <a:cs typeface="Anthropic Sans Text"/>
                        </a:rPr>
                        <a:t>Never. Your data is not used to train public or frontier AI</a:t>
                      </a:r>
                    </a:p>
                  </a:txBody>
                  <a:tcPr marL="0" marR="152400" marT="76200" marB="76200" anchor="ctr">
                    <a:lnL w="0">
                      <a:noFill/>
                    </a:lnL>
                    <a:lnR w="0">
                      <a:noFill/>
                    </a:lnR>
                    <a:lnT w="38100">
                      <a:solidFill>
                        <a:srgbClr val="FFFFFF"/>
                      </a:solidFill>
                    </a:lnT>
                    <a:lnB w="38100">
                      <a:solidFill>
                        <a:srgbClr val="FFFFFF"/>
                      </a:solidFill>
                    </a:lnB>
                    <a:solidFill>
                      <a:srgbClr val="E3F3EA"/>
                    </a:solidFill>
                  </a:tcPr>
                </a:tc>
                <a:extLst>
                  <a:ext uri="{0D108BD9-81ED-4DB2-BD59-A6C34878D82A}">
                    <a16:rowId xmlns:a16="http://schemas.microsoft.com/office/drawing/2014/main" val="10001"/>
                  </a:ext>
                </a:extLst>
              </a:tr>
              <a:tr h="787400">
                <a:tc>
                  <a:txBody>
                    <a:bodyPr/>
                    <a:lstStyle/>
                    <a:p>
                      <a:pPr marL="0" indent="0" algn="l">
                        <a:spcBef>
                          <a:spcPts val="0"/>
                        </a:spcBef>
                        <a:spcAft>
                          <a:spcPts val="0"/>
                        </a:spcAft>
                        <a:buNone/>
                      </a:pPr>
                      <a:endParaRPr/>
                    </a:p>
                  </a:txBody>
                  <a:tcPr marL="152400" marR="152400" marT="76200" marB="76200" anchor="ctr">
                    <a:lnL w="0">
                      <a:noFill/>
                    </a:lnL>
                    <a:lnR w="0">
                      <a:noFill/>
                    </a:lnR>
                    <a:lnT w="38100">
                      <a:solidFill>
                        <a:srgbClr val="FFFFFF"/>
                      </a:solidFill>
                    </a:lnT>
                    <a:lnB w="38100">
                      <a:solidFill>
                        <a:srgbClr val="FFFFFF"/>
                      </a:solidFill>
                    </a:lnB>
                    <a:solidFill>
                      <a:srgbClr val="FCEBE5"/>
                    </a:solidFill>
                  </a:tcPr>
                </a:tc>
                <a:tc>
                  <a:txBody>
                    <a:bodyPr/>
                    <a:lstStyle/>
                    <a:p>
                      <a:pPr marL="0" indent="0" algn="l">
                        <a:spcBef>
                          <a:spcPts val="0"/>
                        </a:spcBef>
                        <a:spcAft>
                          <a:spcPts val="0"/>
                        </a:spcAft>
                        <a:buNone/>
                      </a:pPr>
                      <a:r>
                        <a:rPr lang="en-GB" sz="1600" b="1" dirty="0">
                          <a:solidFill>
                            <a:srgbClr val="0B1F3A"/>
                          </a:solidFill>
                          <a:latin typeface="Anthropic Sans Text"/>
                          <a:cs typeface="Anthropic Sans Text"/>
                        </a:rPr>
                        <a:t>“Data leaves our organisation”</a:t>
                      </a:r>
                    </a:p>
                  </a:txBody>
                  <a:tcPr marL="0" marR="152400" marT="76200" marB="76200" anchor="ctr">
                    <a:lnL w="0">
                      <a:noFill/>
                    </a:lnL>
                    <a:lnR w="0">
                      <a:noFill/>
                    </a:lnR>
                    <a:lnT w="38100">
                      <a:solidFill>
                        <a:srgbClr val="FFFFFF"/>
                      </a:solidFill>
                    </a:lnT>
                    <a:lnB w="38100">
                      <a:solidFill>
                        <a:srgbClr val="FFFFFF"/>
                      </a:solidFill>
                    </a:lnB>
                    <a:solidFill>
                      <a:srgbClr val="FCEBE5"/>
                    </a:solidFill>
                  </a:tcPr>
                </a:tc>
                <a:tc>
                  <a:txBody>
                    <a:bodyPr/>
                    <a:lstStyle/>
                    <a:p>
                      <a:pPr marL="0" indent="0" algn="l">
                        <a:spcBef>
                          <a:spcPts val="0"/>
                        </a:spcBef>
                        <a:spcAft>
                          <a:spcPts val="0"/>
                        </a:spcAft>
                        <a:buNone/>
                      </a:pPr>
                      <a:endParaRPr/>
                    </a:p>
                  </a:txBody>
                  <a:tcPr marL="152400" marR="152400" marT="76200" marB="76200" anchor="ctr">
                    <a:lnL w="0">
                      <a:noFill/>
                    </a:lnL>
                    <a:lnR w="0">
                      <a:noFill/>
                    </a:lnR>
                    <a:lnT w="38100">
                      <a:solidFill>
                        <a:srgbClr val="FFFFFF"/>
                      </a:solidFill>
                    </a:lnT>
                    <a:lnB w="38100">
                      <a:solidFill>
                        <a:srgbClr val="FFFFFF"/>
                      </a:solidFill>
                    </a:lnB>
                    <a:solidFill>
                      <a:srgbClr val="E3F3EA"/>
                    </a:solidFill>
                  </a:tcPr>
                </a:tc>
                <a:tc>
                  <a:txBody>
                    <a:bodyPr/>
                    <a:lstStyle/>
                    <a:p>
                      <a:pPr marL="0" indent="0" algn="l">
                        <a:spcBef>
                          <a:spcPts val="0"/>
                        </a:spcBef>
                        <a:spcAft>
                          <a:spcPts val="0"/>
                        </a:spcAft>
                        <a:buNone/>
                      </a:pPr>
                      <a:r>
                        <a:rPr lang="en-GB" sz="1600" b="0" dirty="0">
                          <a:solidFill>
                            <a:srgbClr val="0B1F3A"/>
                          </a:solidFill>
                          <a:latin typeface="Anthropic Sans Text"/>
                          <a:cs typeface="Anthropic Sans Text"/>
                        </a:rPr>
                        <a:t>It is processed and stored in your Azure tenant and chosen region</a:t>
                      </a:r>
                    </a:p>
                  </a:txBody>
                  <a:tcPr marL="0" marR="152400" marT="76200" marB="76200" anchor="ctr">
                    <a:lnL w="0">
                      <a:noFill/>
                    </a:lnL>
                    <a:lnR w="0">
                      <a:noFill/>
                    </a:lnR>
                    <a:lnT w="38100">
                      <a:solidFill>
                        <a:srgbClr val="FFFFFF"/>
                      </a:solidFill>
                    </a:lnT>
                    <a:lnB w="38100">
                      <a:solidFill>
                        <a:srgbClr val="FFFFFF"/>
                      </a:solidFill>
                    </a:lnB>
                    <a:solidFill>
                      <a:srgbClr val="E3F3EA"/>
                    </a:solidFill>
                  </a:tcPr>
                </a:tc>
                <a:extLst>
                  <a:ext uri="{0D108BD9-81ED-4DB2-BD59-A6C34878D82A}">
                    <a16:rowId xmlns:a16="http://schemas.microsoft.com/office/drawing/2014/main" val="10002"/>
                  </a:ext>
                </a:extLst>
              </a:tr>
              <a:tr h="787400">
                <a:tc>
                  <a:txBody>
                    <a:bodyPr/>
                    <a:lstStyle/>
                    <a:p>
                      <a:pPr marL="0" indent="0" algn="l">
                        <a:spcBef>
                          <a:spcPts val="0"/>
                        </a:spcBef>
                        <a:spcAft>
                          <a:spcPts val="0"/>
                        </a:spcAft>
                        <a:buNone/>
                      </a:pPr>
                      <a:endParaRPr/>
                    </a:p>
                  </a:txBody>
                  <a:tcPr marL="152400" marR="152400" marT="76200" marB="76200" anchor="ctr">
                    <a:lnL w="0">
                      <a:noFill/>
                    </a:lnL>
                    <a:lnR w="0">
                      <a:noFill/>
                    </a:lnR>
                    <a:lnT w="38100">
                      <a:solidFill>
                        <a:srgbClr val="FFFFFF"/>
                      </a:solidFill>
                    </a:lnT>
                    <a:lnB w="38100">
                      <a:solidFill>
                        <a:srgbClr val="FFFFFF"/>
                      </a:solidFill>
                    </a:lnB>
                    <a:solidFill>
                      <a:srgbClr val="FCEBE5"/>
                    </a:solidFill>
                  </a:tcPr>
                </a:tc>
                <a:tc>
                  <a:txBody>
                    <a:bodyPr/>
                    <a:lstStyle/>
                    <a:p>
                      <a:pPr marL="0" indent="0" algn="l">
                        <a:spcBef>
                          <a:spcPts val="0"/>
                        </a:spcBef>
                        <a:spcAft>
                          <a:spcPts val="0"/>
                        </a:spcAft>
                        <a:buNone/>
                      </a:pPr>
                      <a:r>
                        <a:rPr lang="en-GB" sz="1600" b="1" dirty="0">
                          <a:solidFill>
                            <a:srgbClr val="0B1F3A"/>
                          </a:solidFill>
                          <a:latin typeface="Anthropic Sans Text"/>
                          <a:cs typeface="Anthropic Sans Text"/>
                        </a:rPr>
                        <a:t>“It learns from every hospital”</a:t>
                      </a:r>
                    </a:p>
                  </a:txBody>
                  <a:tcPr marL="0" marR="152400" marT="76200" marB="76200" anchor="ctr">
                    <a:lnL w="0">
                      <a:noFill/>
                    </a:lnL>
                    <a:lnR w="0">
                      <a:noFill/>
                    </a:lnR>
                    <a:lnT w="38100">
                      <a:solidFill>
                        <a:srgbClr val="FFFFFF"/>
                      </a:solidFill>
                    </a:lnT>
                    <a:lnB w="38100">
                      <a:solidFill>
                        <a:srgbClr val="FFFFFF"/>
                      </a:solidFill>
                    </a:lnB>
                    <a:solidFill>
                      <a:srgbClr val="FCEBE5"/>
                    </a:solidFill>
                  </a:tcPr>
                </a:tc>
                <a:tc>
                  <a:txBody>
                    <a:bodyPr/>
                    <a:lstStyle/>
                    <a:p>
                      <a:pPr marL="0" indent="0" algn="l">
                        <a:spcBef>
                          <a:spcPts val="0"/>
                        </a:spcBef>
                        <a:spcAft>
                          <a:spcPts val="0"/>
                        </a:spcAft>
                        <a:buNone/>
                      </a:pPr>
                      <a:endParaRPr/>
                    </a:p>
                  </a:txBody>
                  <a:tcPr marL="152400" marR="152400" marT="76200" marB="76200" anchor="ctr">
                    <a:lnL w="0">
                      <a:noFill/>
                    </a:lnL>
                    <a:lnR w="0">
                      <a:noFill/>
                    </a:lnR>
                    <a:lnT w="38100">
                      <a:solidFill>
                        <a:srgbClr val="FFFFFF"/>
                      </a:solidFill>
                    </a:lnT>
                    <a:lnB w="38100">
                      <a:solidFill>
                        <a:srgbClr val="FFFFFF"/>
                      </a:solidFill>
                    </a:lnB>
                    <a:solidFill>
                      <a:srgbClr val="E3F3EA"/>
                    </a:solidFill>
                  </a:tcPr>
                </a:tc>
                <a:tc>
                  <a:txBody>
                    <a:bodyPr/>
                    <a:lstStyle/>
                    <a:p>
                      <a:pPr marL="0" indent="0" algn="l">
                        <a:spcBef>
                          <a:spcPts val="0"/>
                        </a:spcBef>
                        <a:spcAft>
                          <a:spcPts val="0"/>
                        </a:spcAft>
                        <a:buNone/>
                      </a:pPr>
                      <a:r>
                        <a:rPr lang="en-GB" sz="1600" b="0" dirty="0">
                          <a:solidFill>
                            <a:srgbClr val="0B1F3A"/>
                          </a:solidFill>
                          <a:latin typeface="Anthropic Sans Text"/>
                          <a:cs typeface="Anthropic Sans Text"/>
                        </a:rPr>
                        <a:t>It learns patterns only from your own outcomes, only for you</a:t>
                      </a:r>
                    </a:p>
                  </a:txBody>
                  <a:tcPr marL="0" marR="152400" marT="76200" marB="76200" anchor="ctr">
                    <a:lnL w="0">
                      <a:noFill/>
                    </a:lnL>
                    <a:lnR w="0">
                      <a:noFill/>
                    </a:lnR>
                    <a:lnT w="38100">
                      <a:solidFill>
                        <a:srgbClr val="FFFFFF"/>
                      </a:solidFill>
                    </a:lnT>
                    <a:lnB w="38100">
                      <a:solidFill>
                        <a:srgbClr val="FFFFFF"/>
                      </a:solidFill>
                    </a:lnB>
                    <a:solidFill>
                      <a:srgbClr val="E3F3EA"/>
                    </a:solidFill>
                  </a:tcPr>
                </a:tc>
                <a:extLst>
                  <a:ext uri="{0D108BD9-81ED-4DB2-BD59-A6C34878D82A}">
                    <a16:rowId xmlns:a16="http://schemas.microsoft.com/office/drawing/2014/main" val="10003"/>
                  </a:ext>
                </a:extLst>
              </a:tr>
              <a:tr h="787400">
                <a:tc>
                  <a:txBody>
                    <a:bodyPr/>
                    <a:lstStyle/>
                    <a:p>
                      <a:pPr marL="0" indent="0" algn="l">
                        <a:spcBef>
                          <a:spcPts val="0"/>
                        </a:spcBef>
                        <a:spcAft>
                          <a:spcPts val="0"/>
                        </a:spcAft>
                        <a:buNone/>
                      </a:pPr>
                      <a:endParaRPr/>
                    </a:p>
                  </a:txBody>
                  <a:tcPr marL="152400" marR="152400" marT="76200" marB="76200" anchor="ctr">
                    <a:lnL w="0">
                      <a:noFill/>
                    </a:lnL>
                    <a:lnR w="0">
                      <a:noFill/>
                    </a:lnR>
                    <a:lnT w="38100">
                      <a:solidFill>
                        <a:srgbClr val="FFFFFF"/>
                      </a:solidFill>
                    </a:lnT>
                    <a:lnB w="38100">
                      <a:solidFill>
                        <a:srgbClr val="FFFFFF"/>
                      </a:solidFill>
                    </a:lnB>
                    <a:solidFill>
                      <a:srgbClr val="FCEBE5"/>
                    </a:solidFill>
                  </a:tcPr>
                </a:tc>
                <a:tc>
                  <a:txBody>
                    <a:bodyPr/>
                    <a:lstStyle/>
                    <a:p>
                      <a:pPr marL="0" indent="0" algn="l">
                        <a:spcBef>
                          <a:spcPts val="0"/>
                        </a:spcBef>
                        <a:spcAft>
                          <a:spcPts val="0"/>
                        </a:spcAft>
                        <a:buNone/>
                      </a:pPr>
                      <a:r>
                        <a:rPr lang="en-GB" sz="1600" b="1" dirty="0">
                          <a:solidFill>
                            <a:srgbClr val="0B1F3A"/>
                          </a:solidFill>
                          <a:latin typeface="Anthropic Sans Text"/>
                          <a:cs typeface="Anthropic Sans Text"/>
                        </a:rPr>
                        <a:t>“Once in, we lose control of it”</a:t>
                      </a:r>
                    </a:p>
                  </a:txBody>
                  <a:tcPr marL="0" marR="152400" marT="76200" marB="76200" anchor="ctr">
                    <a:lnL w="0">
                      <a:noFill/>
                    </a:lnL>
                    <a:lnR w="0">
                      <a:noFill/>
                    </a:lnR>
                    <a:lnT w="38100">
                      <a:solidFill>
                        <a:srgbClr val="FFFFFF"/>
                      </a:solidFill>
                    </a:lnT>
                    <a:lnB w="38100">
                      <a:solidFill>
                        <a:srgbClr val="FFFFFF"/>
                      </a:solidFill>
                    </a:lnB>
                    <a:solidFill>
                      <a:srgbClr val="FCEBE5"/>
                    </a:solidFill>
                  </a:tcPr>
                </a:tc>
                <a:tc>
                  <a:txBody>
                    <a:bodyPr/>
                    <a:lstStyle/>
                    <a:p>
                      <a:pPr marL="0" indent="0" algn="l">
                        <a:spcBef>
                          <a:spcPts val="0"/>
                        </a:spcBef>
                        <a:spcAft>
                          <a:spcPts val="0"/>
                        </a:spcAft>
                        <a:buNone/>
                      </a:pPr>
                      <a:endParaRPr/>
                    </a:p>
                  </a:txBody>
                  <a:tcPr marL="152400" marR="152400" marT="76200" marB="76200" anchor="ctr">
                    <a:lnL w="0">
                      <a:noFill/>
                    </a:lnL>
                    <a:lnR w="0">
                      <a:noFill/>
                    </a:lnR>
                    <a:lnT w="38100">
                      <a:solidFill>
                        <a:srgbClr val="FFFFFF"/>
                      </a:solidFill>
                    </a:lnT>
                    <a:lnB w="38100">
                      <a:solidFill>
                        <a:srgbClr val="FFFFFF"/>
                      </a:solidFill>
                    </a:lnB>
                    <a:solidFill>
                      <a:srgbClr val="E3F3EA"/>
                    </a:solidFill>
                  </a:tcPr>
                </a:tc>
                <a:tc>
                  <a:txBody>
                    <a:bodyPr/>
                    <a:lstStyle/>
                    <a:p>
                      <a:pPr marL="0" indent="0" algn="l">
                        <a:spcBef>
                          <a:spcPts val="0"/>
                        </a:spcBef>
                        <a:spcAft>
                          <a:spcPts val="0"/>
                        </a:spcAft>
                        <a:buNone/>
                      </a:pPr>
                      <a:r>
                        <a:rPr lang="en-GB" sz="1600" b="0" dirty="0">
                          <a:solidFill>
                            <a:srgbClr val="0B1F3A"/>
                          </a:solidFill>
                          <a:latin typeface="Anthropic Sans Text"/>
                          <a:cs typeface="Anthropic Sans Text"/>
                        </a:rPr>
                        <a:t>You own it: retention, export and deletion on your terms</a:t>
                      </a:r>
                    </a:p>
                  </a:txBody>
                  <a:tcPr marL="0" marR="152400" marT="76200" marB="76200" anchor="ctr">
                    <a:lnL w="0">
                      <a:noFill/>
                    </a:lnL>
                    <a:lnR w="0">
                      <a:noFill/>
                    </a:lnR>
                    <a:lnT w="38100">
                      <a:solidFill>
                        <a:srgbClr val="FFFFFF"/>
                      </a:solidFill>
                    </a:lnT>
                    <a:lnB w="38100">
                      <a:solidFill>
                        <a:srgbClr val="FFFFFF"/>
                      </a:solidFill>
                    </a:lnB>
                    <a:solidFill>
                      <a:srgbClr val="E3F3EA"/>
                    </a:solidFill>
                  </a:tcPr>
                </a:tc>
                <a:extLst>
                  <a:ext uri="{0D108BD9-81ED-4DB2-BD59-A6C34878D82A}">
                    <a16:rowId xmlns:a16="http://schemas.microsoft.com/office/drawing/2014/main" val="10004"/>
                  </a:ext>
                </a:extLst>
              </a:tr>
            </a:tbl>
          </a:graphicData>
        </a:graphic>
      </p:graphicFrame>
      <p:sp>
        <p:nvSpPr>
          <p:cNvPr id="310" name="Myth chip"/>
          <p:cNvSpPr/>
          <p:nvPr/>
        </p:nvSpPr>
        <p:spPr>
          <a:xfrm>
            <a:off x="812800" y="2133600"/>
            <a:ext cx="330200" cy="330200"/>
          </a:xfrm>
          <a:prstGeom prst="ellipse">
            <a:avLst/>
          </a:prstGeom>
          <a:solidFill>
            <a:srgbClr val="E4572E"/>
          </a:solidFill>
          <a:ln>
            <a:noFill/>
          </a:ln>
        </p:spPr>
        <p:txBody>
          <a:bodyPr wrap="none" lIns="0" tIns="0" rIns="0" bIns="0" rtlCol="0" anchor="ctr">
            <a:noAutofit/>
          </a:bodyPr>
          <a:lstStyle/>
          <a:p>
            <a:pPr marL="0" indent="0" algn="ctr">
              <a:spcBef>
                <a:spcPts val="0"/>
              </a:spcBef>
              <a:spcAft>
                <a:spcPts val="0"/>
              </a:spcAft>
              <a:buNone/>
            </a:pPr>
            <a:r>
              <a:rPr lang="en-GB" sz="1300" b="1" dirty="0">
                <a:solidFill>
                  <a:srgbClr val="FFFFFF"/>
                </a:solidFill>
                <a:latin typeface="Segoe UI Symbol"/>
                <a:cs typeface="Segoe UI Symbol"/>
              </a:rPr>
              <a:t>✗</a:t>
            </a:r>
          </a:p>
        </p:txBody>
      </p:sp>
      <p:sp>
        <p:nvSpPr>
          <p:cNvPr id="311" name="Fact chip"/>
          <p:cNvSpPr/>
          <p:nvPr/>
        </p:nvSpPr>
        <p:spPr>
          <a:xfrm>
            <a:off x="5207000" y="2133600"/>
            <a:ext cx="330200" cy="330200"/>
          </a:xfrm>
          <a:prstGeom prst="ellipse">
            <a:avLst/>
          </a:prstGeom>
          <a:solidFill>
            <a:srgbClr val="2E9E6A"/>
          </a:solidFill>
          <a:ln>
            <a:noFill/>
          </a:ln>
        </p:spPr>
        <p:txBody>
          <a:bodyPr wrap="none" lIns="0" tIns="0" rIns="0" bIns="0" rtlCol="0" anchor="ctr">
            <a:noAutofit/>
          </a:bodyPr>
          <a:lstStyle/>
          <a:p>
            <a:pPr marL="0" indent="0" algn="ctr">
              <a:spcBef>
                <a:spcPts val="0"/>
              </a:spcBef>
              <a:spcAft>
                <a:spcPts val="0"/>
              </a:spcAft>
              <a:buNone/>
            </a:pPr>
            <a:r>
              <a:rPr lang="en-GB" sz="1300" b="1" dirty="0">
                <a:solidFill>
                  <a:srgbClr val="FFFFFF"/>
                </a:solidFill>
                <a:latin typeface="Segoe UI Symbol"/>
                <a:cs typeface="Segoe UI Symbol"/>
              </a:rPr>
              <a:t>✓</a:t>
            </a:r>
          </a:p>
        </p:txBody>
      </p:sp>
      <p:sp>
        <p:nvSpPr>
          <p:cNvPr id="312" name="Myth chip"/>
          <p:cNvSpPr/>
          <p:nvPr/>
        </p:nvSpPr>
        <p:spPr>
          <a:xfrm>
            <a:off x="812800" y="2921000"/>
            <a:ext cx="330200" cy="330200"/>
          </a:xfrm>
          <a:prstGeom prst="ellipse">
            <a:avLst/>
          </a:prstGeom>
          <a:solidFill>
            <a:srgbClr val="E4572E"/>
          </a:solidFill>
          <a:ln>
            <a:noFill/>
          </a:ln>
        </p:spPr>
        <p:txBody>
          <a:bodyPr wrap="none" lIns="0" tIns="0" rIns="0" bIns="0" rtlCol="0" anchor="ctr">
            <a:noAutofit/>
          </a:bodyPr>
          <a:lstStyle/>
          <a:p>
            <a:pPr marL="0" indent="0" algn="ctr">
              <a:spcBef>
                <a:spcPts val="0"/>
              </a:spcBef>
              <a:spcAft>
                <a:spcPts val="0"/>
              </a:spcAft>
              <a:buNone/>
            </a:pPr>
            <a:r>
              <a:rPr lang="en-GB" sz="1300" b="1" dirty="0">
                <a:solidFill>
                  <a:srgbClr val="FFFFFF"/>
                </a:solidFill>
                <a:latin typeface="Segoe UI Symbol"/>
                <a:cs typeface="Segoe UI Symbol"/>
              </a:rPr>
              <a:t>✗</a:t>
            </a:r>
          </a:p>
        </p:txBody>
      </p:sp>
      <p:sp>
        <p:nvSpPr>
          <p:cNvPr id="313" name="Fact chip"/>
          <p:cNvSpPr/>
          <p:nvPr/>
        </p:nvSpPr>
        <p:spPr>
          <a:xfrm>
            <a:off x="5207000" y="2921000"/>
            <a:ext cx="330200" cy="330200"/>
          </a:xfrm>
          <a:prstGeom prst="ellipse">
            <a:avLst/>
          </a:prstGeom>
          <a:solidFill>
            <a:srgbClr val="2E9E6A"/>
          </a:solidFill>
          <a:ln>
            <a:noFill/>
          </a:ln>
        </p:spPr>
        <p:txBody>
          <a:bodyPr wrap="none" lIns="0" tIns="0" rIns="0" bIns="0" rtlCol="0" anchor="ctr">
            <a:noAutofit/>
          </a:bodyPr>
          <a:lstStyle/>
          <a:p>
            <a:pPr marL="0" indent="0" algn="ctr">
              <a:spcBef>
                <a:spcPts val="0"/>
              </a:spcBef>
              <a:spcAft>
                <a:spcPts val="0"/>
              </a:spcAft>
              <a:buNone/>
            </a:pPr>
            <a:r>
              <a:rPr lang="en-GB" sz="1300" b="1" dirty="0">
                <a:solidFill>
                  <a:srgbClr val="FFFFFF"/>
                </a:solidFill>
                <a:latin typeface="Segoe UI Symbol"/>
                <a:cs typeface="Segoe UI Symbol"/>
              </a:rPr>
              <a:t>✓</a:t>
            </a:r>
          </a:p>
        </p:txBody>
      </p:sp>
      <p:sp>
        <p:nvSpPr>
          <p:cNvPr id="314" name="Myth chip"/>
          <p:cNvSpPr/>
          <p:nvPr/>
        </p:nvSpPr>
        <p:spPr>
          <a:xfrm>
            <a:off x="812800" y="3708400"/>
            <a:ext cx="330200" cy="330200"/>
          </a:xfrm>
          <a:prstGeom prst="ellipse">
            <a:avLst/>
          </a:prstGeom>
          <a:solidFill>
            <a:srgbClr val="E4572E"/>
          </a:solidFill>
          <a:ln>
            <a:noFill/>
          </a:ln>
        </p:spPr>
        <p:txBody>
          <a:bodyPr wrap="none" lIns="0" tIns="0" rIns="0" bIns="0" rtlCol="0" anchor="ctr">
            <a:noAutofit/>
          </a:bodyPr>
          <a:lstStyle/>
          <a:p>
            <a:pPr marL="0" indent="0" algn="ctr">
              <a:spcBef>
                <a:spcPts val="0"/>
              </a:spcBef>
              <a:spcAft>
                <a:spcPts val="0"/>
              </a:spcAft>
              <a:buNone/>
            </a:pPr>
            <a:r>
              <a:rPr lang="en-GB" sz="1300" b="1" dirty="0">
                <a:solidFill>
                  <a:srgbClr val="FFFFFF"/>
                </a:solidFill>
                <a:latin typeface="Segoe UI Symbol"/>
                <a:cs typeface="Segoe UI Symbol"/>
              </a:rPr>
              <a:t>✗</a:t>
            </a:r>
          </a:p>
        </p:txBody>
      </p:sp>
      <p:sp>
        <p:nvSpPr>
          <p:cNvPr id="315" name="Fact chip"/>
          <p:cNvSpPr/>
          <p:nvPr/>
        </p:nvSpPr>
        <p:spPr>
          <a:xfrm>
            <a:off x="5207000" y="3708400"/>
            <a:ext cx="330200" cy="330200"/>
          </a:xfrm>
          <a:prstGeom prst="ellipse">
            <a:avLst/>
          </a:prstGeom>
          <a:solidFill>
            <a:srgbClr val="2E9E6A"/>
          </a:solidFill>
          <a:ln>
            <a:noFill/>
          </a:ln>
        </p:spPr>
        <p:txBody>
          <a:bodyPr wrap="none" lIns="0" tIns="0" rIns="0" bIns="0" rtlCol="0" anchor="ctr">
            <a:noAutofit/>
          </a:bodyPr>
          <a:lstStyle/>
          <a:p>
            <a:pPr marL="0" indent="0" algn="ctr">
              <a:spcBef>
                <a:spcPts val="0"/>
              </a:spcBef>
              <a:spcAft>
                <a:spcPts val="0"/>
              </a:spcAft>
              <a:buNone/>
            </a:pPr>
            <a:r>
              <a:rPr lang="en-GB" sz="1300" b="1" dirty="0">
                <a:solidFill>
                  <a:srgbClr val="FFFFFF"/>
                </a:solidFill>
                <a:latin typeface="Segoe UI Symbol"/>
                <a:cs typeface="Segoe UI Symbol"/>
              </a:rPr>
              <a:t>✓</a:t>
            </a:r>
          </a:p>
        </p:txBody>
      </p:sp>
      <p:sp>
        <p:nvSpPr>
          <p:cNvPr id="316" name="Myth chip"/>
          <p:cNvSpPr/>
          <p:nvPr/>
        </p:nvSpPr>
        <p:spPr>
          <a:xfrm>
            <a:off x="812800" y="4495800"/>
            <a:ext cx="330200" cy="330200"/>
          </a:xfrm>
          <a:prstGeom prst="ellipse">
            <a:avLst/>
          </a:prstGeom>
          <a:solidFill>
            <a:srgbClr val="E4572E"/>
          </a:solidFill>
          <a:ln>
            <a:noFill/>
          </a:ln>
        </p:spPr>
        <p:txBody>
          <a:bodyPr wrap="none" lIns="0" tIns="0" rIns="0" bIns="0" rtlCol="0" anchor="ctr">
            <a:noAutofit/>
          </a:bodyPr>
          <a:lstStyle/>
          <a:p>
            <a:pPr marL="0" indent="0" algn="ctr">
              <a:spcBef>
                <a:spcPts val="0"/>
              </a:spcBef>
              <a:spcAft>
                <a:spcPts val="0"/>
              </a:spcAft>
              <a:buNone/>
            </a:pPr>
            <a:r>
              <a:rPr lang="en-GB" sz="1300" b="1" dirty="0">
                <a:solidFill>
                  <a:srgbClr val="FFFFFF"/>
                </a:solidFill>
                <a:latin typeface="Segoe UI Symbol"/>
                <a:cs typeface="Segoe UI Symbol"/>
              </a:rPr>
              <a:t>✗</a:t>
            </a:r>
          </a:p>
        </p:txBody>
      </p:sp>
      <p:sp>
        <p:nvSpPr>
          <p:cNvPr id="317" name="Fact chip"/>
          <p:cNvSpPr/>
          <p:nvPr/>
        </p:nvSpPr>
        <p:spPr>
          <a:xfrm>
            <a:off x="5207000" y="4495800"/>
            <a:ext cx="330200" cy="330200"/>
          </a:xfrm>
          <a:prstGeom prst="ellipse">
            <a:avLst/>
          </a:prstGeom>
          <a:solidFill>
            <a:srgbClr val="2E9E6A"/>
          </a:solidFill>
          <a:ln>
            <a:noFill/>
          </a:ln>
        </p:spPr>
        <p:txBody>
          <a:bodyPr wrap="none" lIns="0" tIns="0" rIns="0" bIns="0" rtlCol="0" anchor="ctr">
            <a:noAutofit/>
          </a:bodyPr>
          <a:lstStyle/>
          <a:p>
            <a:pPr marL="0" indent="0" algn="ctr">
              <a:spcBef>
                <a:spcPts val="0"/>
              </a:spcBef>
              <a:spcAft>
                <a:spcPts val="0"/>
              </a:spcAft>
              <a:buNone/>
            </a:pPr>
            <a:r>
              <a:rPr lang="en-GB" sz="1300" b="1" dirty="0">
                <a:solidFill>
                  <a:srgbClr val="FFFFFF"/>
                </a:solidFill>
                <a:latin typeface="Segoe UI Symbol"/>
                <a:cs typeface="Segoe UI Symbol"/>
              </a:rPr>
              <a:t>✓</a:t>
            </a:r>
          </a:p>
        </p:txBody>
      </p:sp>
      <p:sp>
        <p:nvSpPr>
          <p:cNvPr id="330" name="Bottom strip"/>
          <p:cNvSpPr/>
          <p:nvPr/>
        </p:nvSpPr>
        <p:spPr>
          <a:xfrm>
            <a:off x="685800" y="5410200"/>
            <a:ext cx="11049000" cy="609600"/>
          </a:xfrm>
          <a:prstGeom prst="rect">
            <a:avLst/>
          </a:prstGeom>
          <a:solidFill>
            <a:srgbClr val="1F4E8C"/>
          </a:solidFill>
          <a:ln>
            <a:noFill/>
          </a:ln>
        </p:spPr>
        <p:txBody>
          <a:bodyPr wrap="square" lIns="228600" tIns="0" rIns="228600" bIns="0" rtlCol="0" anchor="ctr">
            <a:noAutofit/>
          </a:bodyPr>
          <a:lstStyle/>
          <a:p>
            <a:pPr marL="0" indent="0" algn="l">
              <a:spcBef>
                <a:spcPts val="0"/>
              </a:spcBef>
              <a:spcAft>
                <a:spcPts val="0"/>
              </a:spcAft>
              <a:buNone/>
            </a:pPr>
            <a:r>
              <a:rPr lang="en-GB" sz="1600" b="1" dirty="0">
                <a:solidFill>
                  <a:srgbClr val="FFFFFF"/>
                </a:solidFill>
                <a:latin typeface="Anthropic Sans Text"/>
                <a:cs typeface="Anthropic Sans Text"/>
              </a:rPr>
              <a:t>Patterns, not training: </a:t>
            </a:r>
            <a:r>
              <a:rPr lang="en-GB" sz="1600" b="0" dirty="0">
                <a:solidFill>
                  <a:srgbClr val="FFFFFF"/>
                </a:solidFill>
                <a:latin typeface="Anthropic Sans Text"/>
                <a:cs typeface="Anthropic Sans Text"/>
              </a:rPr>
              <a:t>your outcomes tune your priorities, inside your walls.</a:t>
            </a:r>
          </a:p>
        </p:txBody>
      </p:sp>
      <p:pic>
        <p:nvPicPr>
          <p:cNvPr id="331" name="Graphic 331" descr="Shield"/>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77600" y="609600"/>
            <a:ext cx="431800" cy="431800"/>
          </a:xfrm>
          <a:prstGeom prst="rect">
            <a:avLst/>
          </a:prstGeom>
        </p:spPr>
      </p:pic>
    </p:spTree>
    <p:extLst>
      <p:ext uri="{BB962C8B-B14F-4D97-AF65-F5344CB8AC3E}">
        <p14:creationId xmlns:p14="http://schemas.microsoft.com/office/powerpoint/2010/main" val="7101275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9EC82-FC57-0297-7422-1BB605885A0C}"/>
              </a:ext>
            </a:extLst>
          </p:cNvPr>
          <p:cNvSpPr>
            <a:spLocks noGrp="1"/>
          </p:cNvSpPr>
          <p:nvPr>
            <p:ph type="title"/>
          </p:nvPr>
        </p:nvSpPr>
        <p:spPr/>
        <p:txBody>
          <a:bodyPr/>
          <a:lstStyle/>
          <a:p>
            <a:r>
              <a:rPr lang="en-GB" dirty="0"/>
              <a:t>Proof</a:t>
            </a:r>
          </a:p>
        </p:txBody>
      </p:sp>
      <p:sp>
        <p:nvSpPr>
          <p:cNvPr id="3" name="Text Placeholder 2">
            <a:extLst>
              <a:ext uri="{FF2B5EF4-FFF2-40B4-BE49-F238E27FC236}">
                <a16:creationId xmlns:a16="http://schemas.microsoft.com/office/drawing/2014/main" id="{78CBB362-5B82-9D1C-5704-8F68E20FF104}"/>
              </a:ext>
            </a:extLst>
          </p:cNvPr>
          <p:cNvSpPr>
            <a:spLocks noGrp="1"/>
          </p:cNvSpPr>
          <p:nvPr>
            <p:ph type="body" idx="1"/>
          </p:nvPr>
        </p:nvSpPr>
        <p:spPr/>
        <p:txBody>
          <a:bodyPr/>
          <a:lstStyle/>
          <a:p>
            <a:r>
              <a:rPr lang="en-GB" dirty="0"/>
              <a:t>Built on realistic data and tested against known answers</a:t>
            </a:r>
          </a:p>
        </p:txBody>
      </p:sp>
      <p:sp>
        <p:nvSpPr>
          <p:cNvPr id="100" name="Shape 100"/>
          <p:cNvSpPr txBox="1"/>
          <p:nvPr/>
        </p:nvSpPr>
        <p:spPr>
          <a:xfrm>
            <a:off x="762000" y="1778000"/>
            <a:ext cx="3810000" cy="3048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200" b="1" spc="200" dirty="0">
                <a:solidFill>
                  <a:srgbClr val="8FDDEB"/>
                </a:solidFill>
                <a:latin typeface="Anthropic Mono"/>
                <a:cs typeface="Anthropic Mono"/>
              </a:rPr>
              <a:t>SECTION 04</a:t>
            </a:r>
            <a:endParaRPr lang="en-GB" sz="1200" dirty="0"/>
          </a:p>
        </p:txBody>
      </p:sp>
      <p:sp>
        <p:nvSpPr>
          <p:cNvPr id="101" name="Shape 101"/>
          <p:cNvSpPr txBox="1"/>
          <p:nvPr/>
        </p:nvSpPr>
        <p:spPr>
          <a:xfrm>
            <a:off x="8890000" y="1524000"/>
            <a:ext cx="2794000" cy="381000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GB" sz="20000" b="1" dirty="0">
                <a:solidFill>
                  <a:srgbClr val="2A5C9C"/>
                </a:solidFill>
                <a:latin typeface="Anthropic Serif Web"/>
                <a:cs typeface="Anthropic Serif Web"/>
              </a:rPr>
              <a:t>04</a:t>
            </a:r>
            <a:endParaRPr lang="en-GB" sz="20000" dirty="0"/>
          </a:p>
        </p:txBody>
      </p:sp>
    </p:spTree>
    <p:extLst>
      <p:ext uri="{BB962C8B-B14F-4D97-AF65-F5344CB8AC3E}">
        <p14:creationId xmlns:p14="http://schemas.microsoft.com/office/powerpoint/2010/main" val="37657035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92223-172C-5544-ADBD-5CF9D1C4CDB8}"/>
              </a:ext>
            </a:extLst>
          </p:cNvPr>
          <p:cNvSpPr>
            <a:spLocks noGrp="1"/>
          </p:cNvSpPr>
          <p:nvPr>
            <p:ph type="title"/>
          </p:nvPr>
        </p:nvSpPr>
        <p:spPr/>
        <p:txBody>
          <a:bodyPr/>
          <a:lstStyle/>
          <a:p>
            <a:r>
              <a:rPr lang="en-GB" dirty="0"/>
              <a:t>The demo runs on a realistic, fully synthetic hospital</a:t>
            </a:r>
          </a:p>
        </p:txBody>
      </p:sp>
      <p:sp>
        <p:nvSpPr>
          <p:cNvPr id="100" name="Shape 100"/>
          <p:cNvSpPr/>
          <p:nvPr/>
        </p:nvSpPr>
        <p:spPr>
          <a:xfrm>
            <a:off x="685800" y="1498600"/>
            <a:ext cx="2032000" cy="1524000"/>
          </a:xfrm>
          <a:prstGeom prst="rect">
            <a:avLst/>
          </a:prstGeom>
          <a:solidFill>
            <a:srgbClr val="E6EDF6"/>
          </a:solidFill>
          <a:ln>
            <a:noFill/>
          </a:ln>
        </p:spPr>
        <p:txBody>
          <a:bodyPr wrap="square" lIns="0" tIns="0" rIns="0" bIns="0" rtlCol="0" anchor="t">
            <a:noAutofit/>
          </a:bodyPr>
          <a:lstStyle/>
          <a:p>
            <a:endParaRPr lang="en-GB" dirty="0"/>
          </a:p>
        </p:txBody>
      </p:sp>
      <p:sp>
        <p:nvSpPr>
          <p:cNvPr id="101" name="Shape 101"/>
          <p:cNvSpPr txBox="1"/>
          <p:nvPr/>
        </p:nvSpPr>
        <p:spPr>
          <a:xfrm>
            <a:off x="889000" y="1676400"/>
            <a:ext cx="1778000" cy="787400"/>
          </a:xfrm>
          <a:prstGeom prst="rect">
            <a:avLst/>
          </a:prstGeom>
          <a:noFill/>
          <a:ln>
            <a:noFill/>
          </a:ln>
        </p:spPr>
        <p:txBody>
          <a:bodyPr wrap="square" lIns="0" tIns="0" rIns="0" bIns="0" rtlCol="0" anchor="b">
            <a:noAutofit/>
          </a:bodyPr>
          <a:lstStyle/>
          <a:p>
            <a:pPr marL="0" indent="0" algn="l">
              <a:spcBef>
                <a:spcPts val="0"/>
              </a:spcBef>
              <a:spcAft>
                <a:spcPts val="0"/>
              </a:spcAft>
              <a:buNone/>
            </a:pPr>
            <a:r>
              <a:rPr lang="en-GB" sz="4400" b="1" dirty="0">
                <a:solidFill>
                  <a:srgbClr val="1F4E8C"/>
                </a:solidFill>
                <a:latin typeface="Anthropic Serif Web"/>
                <a:cs typeface="Anthropic Serif Web"/>
              </a:rPr>
              <a:t>300</a:t>
            </a:r>
            <a:endParaRPr lang="en-GB" sz="4400" dirty="0"/>
          </a:p>
        </p:txBody>
      </p:sp>
      <p:sp>
        <p:nvSpPr>
          <p:cNvPr id="102" name="Shape 102"/>
          <p:cNvSpPr txBox="1"/>
          <p:nvPr/>
        </p:nvSpPr>
        <p:spPr>
          <a:xfrm>
            <a:off x="889000" y="2540000"/>
            <a:ext cx="1778000" cy="3048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400" b="0" dirty="0">
                <a:solidFill>
                  <a:srgbClr val="1F2933"/>
                </a:solidFill>
                <a:latin typeface="Anthropic Sans Text"/>
                <a:cs typeface="Anthropic Sans Text"/>
              </a:rPr>
              <a:t>synthetic patients</a:t>
            </a:r>
            <a:endParaRPr lang="en-GB" sz="1400" dirty="0"/>
          </a:p>
        </p:txBody>
      </p:sp>
      <p:sp>
        <p:nvSpPr>
          <p:cNvPr id="103" name="Shape 103"/>
          <p:cNvSpPr/>
          <p:nvPr/>
        </p:nvSpPr>
        <p:spPr>
          <a:xfrm>
            <a:off x="2882900" y="1498600"/>
            <a:ext cx="2032000" cy="1524000"/>
          </a:xfrm>
          <a:prstGeom prst="rect">
            <a:avLst/>
          </a:prstGeom>
          <a:solidFill>
            <a:srgbClr val="E6EDF6"/>
          </a:solidFill>
          <a:ln>
            <a:noFill/>
          </a:ln>
        </p:spPr>
        <p:txBody>
          <a:bodyPr wrap="square" lIns="0" tIns="0" rIns="0" bIns="0" rtlCol="0" anchor="t">
            <a:noAutofit/>
          </a:bodyPr>
          <a:lstStyle/>
          <a:p>
            <a:endParaRPr lang="en-GB" dirty="0"/>
          </a:p>
        </p:txBody>
      </p:sp>
      <p:sp>
        <p:nvSpPr>
          <p:cNvPr id="104" name="Shape 104"/>
          <p:cNvSpPr txBox="1"/>
          <p:nvPr/>
        </p:nvSpPr>
        <p:spPr>
          <a:xfrm>
            <a:off x="3086100" y="1676400"/>
            <a:ext cx="1778000" cy="787400"/>
          </a:xfrm>
          <a:prstGeom prst="rect">
            <a:avLst/>
          </a:prstGeom>
          <a:noFill/>
          <a:ln>
            <a:noFill/>
          </a:ln>
        </p:spPr>
        <p:txBody>
          <a:bodyPr wrap="square" lIns="0" tIns="0" rIns="0" bIns="0" rtlCol="0" anchor="b">
            <a:noAutofit/>
          </a:bodyPr>
          <a:lstStyle/>
          <a:p>
            <a:pPr marL="0" indent="0" algn="l">
              <a:spcBef>
                <a:spcPts val="0"/>
              </a:spcBef>
              <a:spcAft>
                <a:spcPts val="0"/>
              </a:spcAft>
              <a:buNone/>
            </a:pPr>
            <a:r>
              <a:rPr lang="en-GB" sz="4400" b="1" dirty="0">
                <a:solidFill>
                  <a:srgbClr val="1F4E8C"/>
                </a:solidFill>
                <a:latin typeface="Anthropic Serif Web"/>
                <a:cs typeface="Anthropic Serif Web"/>
              </a:rPr>
              <a:t>1,200</a:t>
            </a:r>
            <a:endParaRPr lang="en-GB" sz="4400" dirty="0"/>
          </a:p>
        </p:txBody>
      </p:sp>
      <p:sp>
        <p:nvSpPr>
          <p:cNvPr id="105" name="Shape 105"/>
          <p:cNvSpPr txBox="1"/>
          <p:nvPr/>
        </p:nvSpPr>
        <p:spPr>
          <a:xfrm>
            <a:off x="3086100" y="2540000"/>
            <a:ext cx="1778000" cy="3048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400" b="0" dirty="0">
                <a:solidFill>
                  <a:srgbClr val="1F2933"/>
                </a:solidFill>
                <a:latin typeface="Anthropic Sans Text"/>
                <a:cs typeface="Anthropic Sans Text"/>
              </a:rPr>
              <a:t>claims</a:t>
            </a:r>
            <a:endParaRPr lang="en-GB" sz="1400" dirty="0"/>
          </a:p>
        </p:txBody>
      </p:sp>
      <p:sp>
        <p:nvSpPr>
          <p:cNvPr id="106" name="Shape 106"/>
          <p:cNvSpPr/>
          <p:nvPr/>
        </p:nvSpPr>
        <p:spPr>
          <a:xfrm>
            <a:off x="5080000" y="1498600"/>
            <a:ext cx="2032000" cy="1524000"/>
          </a:xfrm>
          <a:prstGeom prst="rect">
            <a:avLst/>
          </a:prstGeom>
          <a:solidFill>
            <a:srgbClr val="E6EDF6"/>
          </a:solidFill>
          <a:ln>
            <a:noFill/>
          </a:ln>
        </p:spPr>
        <p:txBody>
          <a:bodyPr wrap="square" lIns="0" tIns="0" rIns="0" bIns="0" rtlCol="0" anchor="t">
            <a:noAutofit/>
          </a:bodyPr>
          <a:lstStyle/>
          <a:p>
            <a:endParaRPr lang="en-GB" dirty="0"/>
          </a:p>
        </p:txBody>
      </p:sp>
      <p:sp>
        <p:nvSpPr>
          <p:cNvPr id="107" name="Shape 107"/>
          <p:cNvSpPr txBox="1"/>
          <p:nvPr/>
        </p:nvSpPr>
        <p:spPr>
          <a:xfrm>
            <a:off x="5283200" y="1676400"/>
            <a:ext cx="1778000" cy="787400"/>
          </a:xfrm>
          <a:prstGeom prst="rect">
            <a:avLst/>
          </a:prstGeom>
          <a:noFill/>
          <a:ln>
            <a:noFill/>
          </a:ln>
        </p:spPr>
        <p:txBody>
          <a:bodyPr wrap="square" lIns="0" tIns="0" rIns="0" bIns="0" rtlCol="0" anchor="b">
            <a:noAutofit/>
          </a:bodyPr>
          <a:lstStyle/>
          <a:p>
            <a:pPr marL="0" indent="0" algn="l">
              <a:spcBef>
                <a:spcPts val="0"/>
              </a:spcBef>
              <a:spcAft>
                <a:spcPts val="0"/>
              </a:spcAft>
              <a:buNone/>
            </a:pPr>
            <a:r>
              <a:rPr lang="en-GB" sz="4400" b="1" dirty="0">
                <a:solidFill>
                  <a:srgbClr val="1F4E8C"/>
                </a:solidFill>
                <a:latin typeface="Anthropic Serif Web"/>
                <a:cs typeface="Anthropic Serif Web"/>
              </a:rPr>
              <a:t>6</a:t>
            </a:r>
            <a:endParaRPr lang="en-GB" sz="4400" dirty="0"/>
          </a:p>
        </p:txBody>
      </p:sp>
      <p:sp>
        <p:nvSpPr>
          <p:cNvPr id="108" name="Shape 108"/>
          <p:cNvSpPr txBox="1"/>
          <p:nvPr/>
        </p:nvSpPr>
        <p:spPr>
          <a:xfrm>
            <a:off x="5283200" y="2540000"/>
            <a:ext cx="1778000" cy="3048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400" b="0" dirty="0">
                <a:solidFill>
                  <a:srgbClr val="1F2933"/>
                </a:solidFill>
                <a:latin typeface="Anthropic Sans Text"/>
                <a:cs typeface="Anthropic Sans Text"/>
              </a:rPr>
              <a:t>months</a:t>
            </a:r>
            <a:endParaRPr lang="en-GB" sz="1400" dirty="0"/>
          </a:p>
        </p:txBody>
      </p:sp>
      <p:sp>
        <p:nvSpPr>
          <p:cNvPr id="109" name="Shape 109"/>
          <p:cNvSpPr/>
          <p:nvPr/>
        </p:nvSpPr>
        <p:spPr>
          <a:xfrm>
            <a:off x="685800" y="3200400"/>
            <a:ext cx="2032000" cy="1524000"/>
          </a:xfrm>
          <a:prstGeom prst="rect">
            <a:avLst/>
          </a:prstGeom>
          <a:solidFill>
            <a:srgbClr val="E6EDF6"/>
          </a:solidFill>
          <a:ln>
            <a:noFill/>
          </a:ln>
        </p:spPr>
        <p:txBody>
          <a:bodyPr wrap="square" lIns="0" tIns="0" rIns="0" bIns="0" rtlCol="0" anchor="t">
            <a:noAutofit/>
          </a:bodyPr>
          <a:lstStyle/>
          <a:p>
            <a:endParaRPr lang="en-GB" dirty="0"/>
          </a:p>
        </p:txBody>
      </p:sp>
      <p:sp>
        <p:nvSpPr>
          <p:cNvPr id="110" name="Shape 110"/>
          <p:cNvSpPr txBox="1"/>
          <p:nvPr/>
        </p:nvSpPr>
        <p:spPr>
          <a:xfrm>
            <a:off x="889000" y="3378200"/>
            <a:ext cx="1778000" cy="787400"/>
          </a:xfrm>
          <a:prstGeom prst="rect">
            <a:avLst/>
          </a:prstGeom>
          <a:noFill/>
          <a:ln>
            <a:noFill/>
          </a:ln>
        </p:spPr>
        <p:txBody>
          <a:bodyPr wrap="square" lIns="0" tIns="0" rIns="0" bIns="0" rtlCol="0" anchor="b">
            <a:noAutofit/>
          </a:bodyPr>
          <a:lstStyle/>
          <a:p>
            <a:pPr marL="0" indent="0" algn="l">
              <a:spcBef>
                <a:spcPts val="0"/>
              </a:spcBef>
              <a:spcAft>
                <a:spcPts val="0"/>
              </a:spcAft>
              <a:buNone/>
            </a:pPr>
            <a:r>
              <a:rPr lang="en-GB" sz="4400" b="1" dirty="0">
                <a:solidFill>
                  <a:srgbClr val="1F4E8C"/>
                </a:solidFill>
                <a:latin typeface="Anthropic Serif Web"/>
                <a:cs typeface="Anthropic Serif Web"/>
              </a:rPr>
              <a:t>5</a:t>
            </a:r>
            <a:endParaRPr lang="en-GB" sz="4400" dirty="0"/>
          </a:p>
        </p:txBody>
      </p:sp>
      <p:sp>
        <p:nvSpPr>
          <p:cNvPr id="111" name="Shape 111"/>
          <p:cNvSpPr txBox="1"/>
          <p:nvPr/>
        </p:nvSpPr>
        <p:spPr>
          <a:xfrm>
            <a:off x="889000" y="4241800"/>
            <a:ext cx="1778000" cy="3048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400" b="0" dirty="0">
                <a:solidFill>
                  <a:srgbClr val="1F2933"/>
                </a:solidFill>
                <a:latin typeface="Anthropic Sans Text"/>
                <a:cs typeface="Anthropic Sans Text"/>
              </a:rPr>
              <a:t>payers</a:t>
            </a:r>
            <a:endParaRPr lang="en-GB" sz="1400" dirty="0"/>
          </a:p>
        </p:txBody>
      </p:sp>
      <p:sp>
        <p:nvSpPr>
          <p:cNvPr id="112" name="Shape 112"/>
          <p:cNvSpPr/>
          <p:nvPr/>
        </p:nvSpPr>
        <p:spPr>
          <a:xfrm>
            <a:off x="2882900" y="3200400"/>
            <a:ext cx="2032000" cy="1524000"/>
          </a:xfrm>
          <a:prstGeom prst="rect">
            <a:avLst/>
          </a:prstGeom>
          <a:solidFill>
            <a:srgbClr val="FCE9E3"/>
          </a:solidFill>
          <a:ln>
            <a:noFill/>
          </a:ln>
        </p:spPr>
        <p:txBody>
          <a:bodyPr wrap="square" lIns="0" tIns="0" rIns="0" bIns="0" rtlCol="0" anchor="t">
            <a:noAutofit/>
          </a:bodyPr>
          <a:lstStyle/>
          <a:p>
            <a:endParaRPr lang="en-GB" dirty="0"/>
          </a:p>
        </p:txBody>
      </p:sp>
      <p:sp>
        <p:nvSpPr>
          <p:cNvPr id="113" name="Shape 113"/>
          <p:cNvSpPr txBox="1"/>
          <p:nvPr/>
        </p:nvSpPr>
        <p:spPr>
          <a:xfrm>
            <a:off x="3086100" y="3378200"/>
            <a:ext cx="1778000" cy="787400"/>
          </a:xfrm>
          <a:prstGeom prst="rect">
            <a:avLst/>
          </a:prstGeom>
          <a:noFill/>
          <a:ln>
            <a:noFill/>
          </a:ln>
        </p:spPr>
        <p:txBody>
          <a:bodyPr wrap="square" lIns="0" tIns="0" rIns="0" bIns="0" rtlCol="0" anchor="b">
            <a:noAutofit/>
          </a:bodyPr>
          <a:lstStyle/>
          <a:p>
            <a:pPr marL="0" indent="0" algn="l">
              <a:spcBef>
                <a:spcPts val="0"/>
              </a:spcBef>
              <a:spcAft>
                <a:spcPts val="0"/>
              </a:spcAft>
              <a:buNone/>
            </a:pPr>
            <a:r>
              <a:rPr lang="en-GB" sz="4400" b="1" dirty="0">
                <a:solidFill>
                  <a:srgbClr val="E4572E"/>
                </a:solidFill>
                <a:latin typeface="Anthropic Serif Web"/>
                <a:cs typeface="Anthropic Serif Web"/>
              </a:rPr>
              <a:t>18%</a:t>
            </a:r>
            <a:endParaRPr lang="en-GB" sz="4400" dirty="0"/>
          </a:p>
        </p:txBody>
      </p:sp>
      <p:sp>
        <p:nvSpPr>
          <p:cNvPr id="114" name="Shape 114"/>
          <p:cNvSpPr txBox="1"/>
          <p:nvPr/>
        </p:nvSpPr>
        <p:spPr>
          <a:xfrm>
            <a:off x="3086100" y="4241800"/>
            <a:ext cx="1778000" cy="3048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400" b="0" dirty="0">
                <a:solidFill>
                  <a:srgbClr val="1F2933"/>
                </a:solidFill>
                <a:latin typeface="Anthropic Sans Text"/>
                <a:cs typeface="Anthropic Sans Text"/>
              </a:rPr>
              <a:t>denial rate</a:t>
            </a:r>
            <a:endParaRPr lang="en-GB" sz="1400" dirty="0"/>
          </a:p>
        </p:txBody>
      </p:sp>
      <p:sp>
        <p:nvSpPr>
          <p:cNvPr id="115" name="Shape 115"/>
          <p:cNvSpPr/>
          <p:nvPr/>
        </p:nvSpPr>
        <p:spPr>
          <a:xfrm>
            <a:off x="5080000" y="3200400"/>
            <a:ext cx="2032000" cy="1524000"/>
          </a:xfrm>
          <a:prstGeom prst="rect">
            <a:avLst/>
          </a:prstGeom>
          <a:solidFill>
            <a:srgbClr val="E6EDF6"/>
          </a:solidFill>
          <a:ln>
            <a:noFill/>
          </a:ln>
        </p:spPr>
        <p:txBody>
          <a:bodyPr wrap="square" lIns="0" tIns="0" rIns="0" bIns="0" rtlCol="0" anchor="t">
            <a:noAutofit/>
          </a:bodyPr>
          <a:lstStyle/>
          <a:p>
            <a:endParaRPr lang="en-GB" dirty="0"/>
          </a:p>
        </p:txBody>
      </p:sp>
      <p:sp>
        <p:nvSpPr>
          <p:cNvPr id="116" name="Shape 116"/>
          <p:cNvSpPr txBox="1"/>
          <p:nvPr/>
        </p:nvSpPr>
        <p:spPr>
          <a:xfrm>
            <a:off x="5283200" y="3378200"/>
            <a:ext cx="1778000" cy="787400"/>
          </a:xfrm>
          <a:prstGeom prst="rect">
            <a:avLst/>
          </a:prstGeom>
          <a:noFill/>
          <a:ln>
            <a:noFill/>
          </a:ln>
        </p:spPr>
        <p:txBody>
          <a:bodyPr wrap="square" lIns="0" tIns="0" rIns="0" bIns="0" rtlCol="0" anchor="b">
            <a:noAutofit/>
          </a:bodyPr>
          <a:lstStyle/>
          <a:p>
            <a:pPr marL="0" indent="0" algn="l">
              <a:spcBef>
                <a:spcPts val="0"/>
              </a:spcBef>
              <a:spcAft>
                <a:spcPts val="0"/>
              </a:spcAft>
              <a:buNone/>
            </a:pPr>
            <a:r>
              <a:rPr lang="en-GB" sz="4400" b="1" dirty="0">
                <a:solidFill>
                  <a:srgbClr val="1F4E8C"/>
                </a:solidFill>
                <a:latin typeface="Anthropic Serif Web"/>
                <a:cs typeface="Anthropic Serif Web"/>
              </a:rPr>
              <a:t>23</a:t>
            </a:r>
            <a:endParaRPr lang="en-GB" sz="4400" dirty="0"/>
          </a:p>
        </p:txBody>
      </p:sp>
      <p:sp>
        <p:nvSpPr>
          <p:cNvPr id="117" name="Shape 117"/>
          <p:cNvSpPr txBox="1"/>
          <p:nvPr/>
        </p:nvSpPr>
        <p:spPr>
          <a:xfrm>
            <a:off x="5283200" y="4241800"/>
            <a:ext cx="1778000" cy="3048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GB" sz="1400" b="0" dirty="0">
                <a:solidFill>
                  <a:srgbClr val="1F2933"/>
                </a:solidFill>
                <a:latin typeface="Anthropic Sans Text"/>
                <a:cs typeface="Anthropic Sans Text"/>
              </a:rPr>
              <a:t>denial scenarios</a:t>
            </a:r>
            <a:endParaRPr lang="en-GB" sz="1400" dirty="0"/>
          </a:p>
        </p:txBody>
      </p:sp>
      <p:graphicFrame>
        <p:nvGraphicFramePr>
          <p:cNvPr id="118" name="Table 118"/>
          <p:cNvGraphicFramePr>
            <a:graphicFrameLocks noGrp="1"/>
          </p:cNvGraphicFramePr>
          <p:nvPr/>
        </p:nvGraphicFramePr>
        <p:xfrm>
          <a:off x="7467600" y="1498600"/>
          <a:ext cx="4267200" cy="3213100"/>
        </p:xfrm>
        <a:graphic>
          <a:graphicData uri="http://schemas.openxmlformats.org/drawingml/2006/table">
            <a:tbl>
              <a:tblPr firstRow="1"/>
              <a:tblGrid>
                <a:gridCol w="1574800">
                  <a:extLst>
                    <a:ext uri="{9D8B030D-6E8A-4147-A177-3AD203B41FA5}">
                      <a16:colId xmlns:a16="http://schemas.microsoft.com/office/drawing/2014/main" val="20000"/>
                    </a:ext>
                  </a:extLst>
                </a:gridCol>
                <a:gridCol w="2692400">
                  <a:extLst>
                    <a:ext uri="{9D8B030D-6E8A-4147-A177-3AD203B41FA5}">
                      <a16:colId xmlns:a16="http://schemas.microsoft.com/office/drawing/2014/main" val="20001"/>
                    </a:ext>
                  </a:extLst>
                </a:gridCol>
              </a:tblGrid>
              <a:tr h="355600">
                <a:tc>
                  <a:txBody>
                    <a:bodyPr/>
                    <a:lstStyle/>
                    <a:p>
                      <a:pPr marL="0" indent="0" algn="l">
                        <a:spcBef>
                          <a:spcPts val="0"/>
                        </a:spcBef>
                        <a:spcAft>
                          <a:spcPts val="0"/>
                        </a:spcAft>
                        <a:buNone/>
                      </a:pPr>
                      <a:r>
                        <a:rPr lang="en-GB" sz="1100" b="1" dirty="0">
                          <a:solidFill>
                            <a:srgbClr val="52606D"/>
                          </a:solidFill>
                          <a:latin typeface="Anthropic Sans Text"/>
                          <a:cs typeface="Anthropic Sans Text"/>
                        </a:rPr>
                        <a:t>INPUT</a:t>
                      </a:r>
                      <a:endParaRPr lang="en-GB" sz="1100" dirty="0"/>
                    </a:p>
                  </a:txBody>
                  <a:tcPr marL="76200" marR="76200" marT="25400" marB="25400" anchor="ctr">
                    <a:lnL w="0">
                      <a:noFill/>
                    </a:lnL>
                    <a:lnR w="0">
                      <a:noFill/>
                    </a:lnR>
                    <a:lnT w="0">
                      <a:noFill/>
                    </a:lnT>
                    <a:lnB w="15875">
                      <a:solidFill>
                        <a:srgbClr val="9AA5B1"/>
                      </a:solidFill>
                    </a:lnB>
                    <a:noFill/>
                  </a:tcPr>
                </a:tc>
                <a:tc>
                  <a:txBody>
                    <a:bodyPr/>
                    <a:lstStyle/>
                    <a:p>
                      <a:pPr marL="0" indent="0" algn="l">
                        <a:spcBef>
                          <a:spcPts val="0"/>
                        </a:spcBef>
                        <a:spcAft>
                          <a:spcPts val="0"/>
                        </a:spcAft>
                        <a:buNone/>
                      </a:pPr>
                      <a:r>
                        <a:rPr lang="en-GB" sz="1100" b="1" dirty="0">
                          <a:solidFill>
                            <a:srgbClr val="52606D"/>
                          </a:solidFill>
                          <a:latin typeface="Anthropic Sans Text"/>
                          <a:cs typeface="Anthropic Sans Text"/>
                        </a:rPr>
                        <a:t>BUILT FROM</a:t>
                      </a:r>
                      <a:endParaRPr lang="en-GB" sz="1100" dirty="0"/>
                    </a:p>
                  </a:txBody>
                  <a:tcPr marL="76200" marR="76200" marT="25400" marB="25400" anchor="ctr">
                    <a:lnL w="0">
                      <a:noFill/>
                    </a:lnL>
                    <a:lnR w="0">
                      <a:noFill/>
                    </a:lnR>
                    <a:lnT w="0">
                      <a:noFill/>
                    </a:lnT>
                    <a:lnB w="15875">
                      <a:solidFill>
                        <a:srgbClr val="9AA5B1"/>
                      </a:solidFill>
                    </a:lnB>
                    <a:noFill/>
                  </a:tcPr>
                </a:tc>
                <a:extLst>
                  <a:ext uri="{0D108BD9-81ED-4DB2-BD59-A6C34878D82A}">
                    <a16:rowId xmlns:a16="http://schemas.microsoft.com/office/drawing/2014/main" val="10000"/>
                  </a:ext>
                </a:extLst>
              </a:tr>
              <a:tr h="571500">
                <a:tc>
                  <a:txBody>
                    <a:bodyPr/>
                    <a:lstStyle/>
                    <a:p>
                      <a:pPr marL="0" indent="0" algn="l">
                        <a:spcBef>
                          <a:spcPts val="0"/>
                        </a:spcBef>
                        <a:spcAft>
                          <a:spcPts val="0"/>
                        </a:spcAft>
                        <a:buNone/>
                      </a:pPr>
                      <a:r>
                        <a:rPr lang="en-GB" sz="1300" b="1" dirty="0">
                          <a:solidFill>
                            <a:srgbClr val="0B1F3A"/>
                          </a:solidFill>
                          <a:latin typeface="Anthropic Sans Text"/>
                          <a:cs typeface="Anthropic Sans Text"/>
                        </a:rPr>
                        <a:t>Patients</a:t>
                      </a:r>
                      <a:endParaRPr lang="en-GB" sz="1300" dirty="0"/>
                    </a:p>
                  </a:txBody>
                  <a:tcPr marL="76200" marR="76200" marT="25400" marB="25400" anchor="ctr">
                    <a:lnL w="0">
                      <a:noFill/>
                    </a:lnL>
                    <a:lnR w="0">
                      <a:noFill/>
                    </a:lnR>
                    <a:lnT w="15875" cap="flat" cmpd="sng" algn="ctr">
                      <a:solidFill>
                        <a:srgbClr val="9AA5B1"/>
                      </a:solidFill>
                      <a:prstDash val="solid"/>
                      <a:round/>
                      <a:headEnd type="none" w="med" len="med"/>
                      <a:tailEnd type="none" w="med" len="med"/>
                    </a:lnT>
                    <a:lnB w="9525">
                      <a:solidFill>
                        <a:srgbClr val="E0E3E7"/>
                      </a:solidFill>
                    </a:lnB>
                    <a:noFill/>
                  </a:tcPr>
                </a:tc>
                <a:tc>
                  <a:txBody>
                    <a:bodyPr/>
                    <a:lstStyle/>
                    <a:p>
                      <a:pPr marL="0" indent="0" algn="l">
                        <a:spcBef>
                          <a:spcPts val="0"/>
                        </a:spcBef>
                        <a:spcAft>
                          <a:spcPts val="0"/>
                        </a:spcAft>
                        <a:buNone/>
                      </a:pPr>
                      <a:r>
                        <a:rPr lang="en-GB" sz="1300" b="0" dirty="0">
                          <a:solidFill>
                            <a:srgbClr val="1F2933"/>
                          </a:solidFill>
                          <a:latin typeface="Anthropic Sans Text"/>
                          <a:cs typeface="Anthropic Sans Text"/>
                        </a:rPr>
                        <a:t>Synthea-style synthetic records</a:t>
                      </a:r>
                      <a:endParaRPr lang="en-GB" sz="1300" dirty="0"/>
                    </a:p>
                  </a:txBody>
                  <a:tcPr marL="76200" marR="76200" marT="25400" marB="25400" anchor="ctr">
                    <a:lnL w="0">
                      <a:noFill/>
                    </a:lnL>
                    <a:lnR w="0">
                      <a:noFill/>
                    </a:lnR>
                    <a:lnT w="15875" cap="flat" cmpd="sng" algn="ctr">
                      <a:solidFill>
                        <a:srgbClr val="9AA5B1"/>
                      </a:solidFill>
                      <a:prstDash val="solid"/>
                      <a:round/>
                      <a:headEnd type="none" w="med" len="med"/>
                      <a:tailEnd type="none" w="med" len="med"/>
                    </a:lnT>
                    <a:lnB w="9525">
                      <a:solidFill>
                        <a:srgbClr val="E0E3E7"/>
                      </a:solidFill>
                    </a:lnB>
                    <a:noFill/>
                  </a:tcPr>
                </a:tc>
                <a:extLst>
                  <a:ext uri="{0D108BD9-81ED-4DB2-BD59-A6C34878D82A}">
                    <a16:rowId xmlns:a16="http://schemas.microsoft.com/office/drawing/2014/main" val="10001"/>
                  </a:ext>
                </a:extLst>
              </a:tr>
              <a:tr h="571500">
                <a:tc>
                  <a:txBody>
                    <a:bodyPr/>
                    <a:lstStyle/>
                    <a:p>
                      <a:pPr marL="0" indent="0" algn="l">
                        <a:spcBef>
                          <a:spcPts val="0"/>
                        </a:spcBef>
                        <a:spcAft>
                          <a:spcPts val="0"/>
                        </a:spcAft>
                        <a:buNone/>
                      </a:pPr>
                      <a:r>
                        <a:rPr lang="en-GB" sz="1300" b="1" dirty="0">
                          <a:solidFill>
                            <a:srgbClr val="0B1F3A"/>
                          </a:solidFill>
                          <a:latin typeface="Anthropic Sans Text"/>
                          <a:cs typeface="Anthropic Sans Text"/>
                        </a:rPr>
                        <a:t>Code sets</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l">
                        <a:spcBef>
                          <a:spcPts val="0"/>
                        </a:spcBef>
                        <a:spcAft>
                          <a:spcPts val="0"/>
                        </a:spcAft>
                        <a:buNone/>
                      </a:pPr>
                      <a:r>
                        <a:rPr lang="en-GB" sz="1300" b="0" dirty="0">
                          <a:solidFill>
                            <a:srgbClr val="1F2933"/>
                          </a:solidFill>
                          <a:latin typeface="Anthropic Sans Text"/>
                          <a:cs typeface="Anthropic Sans Text"/>
                        </a:rPr>
                        <a:t>CARC/RARC, ICD-10, HCPCS</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extLst>
                  <a:ext uri="{0D108BD9-81ED-4DB2-BD59-A6C34878D82A}">
                    <a16:rowId xmlns:a16="http://schemas.microsoft.com/office/drawing/2014/main" val="10002"/>
                  </a:ext>
                </a:extLst>
              </a:tr>
              <a:tr h="571500">
                <a:tc>
                  <a:txBody>
                    <a:bodyPr/>
                    <a:lstStyle/>
                    <a:p>
                      <a:pPr marL="0" indent="0" algn="l">
                        <a:spcBef>
                          <a:spcPts val="0"/>
                        </a:spcBef>
                        <a:spcAft>
                          <a:spcPts val="0"/>
                        </a:spcAft>
                        <a:buNone/>
                      </a:pPr>
                      <a:r>
                        <a:rPr lang="en-GB" sz="1300" b="1" dirty="0">
                          <a:solidFill>
                            <a:srgbClr val="0B1F3A"/>
                          </a:solidFill>
                          <a:latin typeface="Anthropic Sans Text"/>
                          <a:cs typeface="Anthropic Sans Text"/>
                        </a:rPr>
                        <a:t>Coding edits</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l">
                        <a:spcBef>
                          <a:spcPts val="0"/>
                        </a:spcBef>
                        <a:spcAft>
                          <a:spcPts val="0"/>
                        </a:spcAft>
                        <a:buNone/>
                      </a:pPr>
                      <a:r>
                        <a:rPr lang="en-GB" sz="1300" b="0" dirty="0">
                          <a:solidFill>
                            <a:srgbClr val="1F2933"/>
                          </a:solidFill>
                          <a:latin typeface="Anthropic Sans Text"/>
                          <a:cs typeface="Anthropic Sans Text"/>
                        </a:rPr>
                        <a:t>CMS NCCI/MUE structure</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extLst>
                  <a:ext uri="{0D108BD9-81ED-4DB2-BD59-A6C34878D82A}">
                    <a16:rowId xmlns:a16="http://schemas.microsoft.com/office/drawing/2014/main" val="10003"/>
                  </a:ext>
                </a:extLst>
              </a:tr>
              <a:tr h="571500">
                <a:tc>
                  <a:txBody>
                    <a:bodyPr/>
                    <a:lstStyle/>
                    <a:p>
                      <a:pPr marL="0" indent="0" algn="l">
                        <a:spcBef>
                          <a:spcPts val="0"/>
                        </a:spcBef>
                        <a:spcAft>
                          <a:spcPts val="0"/>
                        </a:spcAft>
                        <a:buNone/>
                      </a:pPr>
                      <a:r>
                        <a:rPr lang="en-GB" sz="1300" b="1" dirty="0">
                          <a:solidFill>
                            <a:srgbClr val="0B1F3A"/>
                          </a:solidFill>
                          <a:latin typeface="Anthropic Sans Text"/>
                          <a:cs typeface="Anthropic Sans Text"/>
                        </a:rPr>
                        <a:t>Coverage rules</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l">
                        <a:spcBef>
                          <a:spcPts val="0"/>
                        </a:spcBef>
                        <a:spcAft>
                          <a:spcPts val="0"/>
                        </a:spcAft>
                        <a:buNone/>
                      </a:pPr>
                      <a:r>
                        <a:rPr lang="en-GB" sz="1300" b="0" dirty="0">
                          <a:solidFill>
                            <a:srgbClr val="1F2933"/>
                          </a:solidFill>
                          <a:latin typeface="Anthropic Sans Text"/>
                          <a:cs typeface="Anthropic Sans Text"/>
                        </a:rPr>
                        <a:t>CMS LCD/NCD structure</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extLst>
                  <a:ext uri="{0D108BD9-81ED-4DB2-BD59-A6C34878D82A}">
                    <a16:rowId xmlns:a16="http://schemas.microsoft.com/office/drawing/2014/main" val="10004"/>
                  </a:ext>
                </a:extLst>
              </a:tr>
              <a:tr h="571500">
                <a:tc>
                  <a:txBody>
                    <a:bodyPr/>
                    <a:lstStyle/>
                    <a:p>
                      <a:pPr marL="0" indent="0" algn="l">
                        <a:spcBef>
                          <a:spcPts val="0"/>
                        </a:spcBef>
                        <a:spcAft>
                          <a:spcPts val="0"/>
                        </a:spcAft>
                        <a:buNone/>
                      </a:pPr>
                      <a:r>
                        <a:rPr lang="en-GB" sz="1300" b="1" dirty="0">
                          <a:solidFill>
                            <a:srgbClr val="0B1F3A"/>
                          </a:solidFill>
                          <a:latin typeface="Anthropic Sans Text"/>
                          <a:cs typeface="Anthropic Sans Text"/>
                        </a:rPr>
                        <a:t>Policy library</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l">
                        <a:spcBef>
                          <a:spcPts val="0"/>
                        </a:spcBef>
                        <a:spcAft>
                          <a:spcPts val="0"/>
                        </a:spcAft>
                        <a:buNone/>
                      </a:pPr>
                      <a:r>
                        <a:rPr lang="en-GB" sz="1300" b="0" dirty="0">
                          <a:solidFill>
                            <a:srgbClr val="1F2933"/>
                          </a:solidFill>
                          <a:latin typeface="Anthropic Sans Text"/>
                          <a:cs typeface="Anthropic Sans Text"/>
                        </a:rPr>
                        <a:t>CMS manuals, payer policies</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extLst>
                  <a:ext uri="{0D108BD9-81ED-4DB2-BD59-A6C34878D82A}">
                    <a16:rowId xmlns:a16="http://schemas.microsoft.com/office/drawing/2014/main" val="10005"/>
                  </a:ext>
                </a:extLst>
              </a:tr>
            </a:tbl>
          </a:graphicData>
        </a:graphic>
      </p:graphicFrame>
      <p:sp>
        <p:nvSpPr>
          <p:cNvPr id="119" name="Shape 119"/>
          <p:cNvSpPr/>
          <p:nvPr/>
        </p:nvSpPr>
        <p:spPr>
          <a:xfrm>
            <a:off x="685800" y="5130800"/>
            <a:ext cx="11049000" cy="812800"/>
          </a:xfrm>
          <a:prstGeom prst="rect">
            <a:avLst/>
          </a:prstGeom>
          <a:solidFill>
            <a:srgbClr val="2E9E6A"/>
          </a:solidFill>
          <a:ln>
            <a:noFill/>
          </a:ln>
        </p:spPr>
        <p:txBody>
          <a:bodyPr wrap="square" lIns="889000" tIns="0" rIns="254000" bIns="0" rtlCol="0" anchor="ctr">
            <a:noAutofit/>
          </a:bodyPr>
          <a:lstStyle/>
          <a:p>
            <a:pPr marL="0" indent="0" algn="l">
              <a:spcBef>
                <a:spcPts val="0"/>
              </a:spcBef>
              <a:spcAft>
                <a:spcPts val="0"/>
              </a:spcAft>
              <a:buNone/>
            </a:pPr>
            <a:r>
              <a:rPr lang="en-GB" sz="2200" b="1" dirty="0">
                <a:solidFill>
                  <a:srgbClr val="FFFFFF"/>
                </a:solidFill>
                <a:latin typeface="Anthropic Serif Web"/>
                <a:cs typeface="Anthropic Serif Web"/>
              </a:rPr>
              <a:t>100% synthetic</a:t>
            </a:r>
            <a:r>
              <a:rPr lang="en-GB" sz="2000" b="0" dirty="0">
                <a:solidFill>
                  <a:srgbClr val="FFFFFF"/>
                </a:solidFill>
                <a:latin typeface="Anthropic Sans Text"/>
                <a:cs typeface="Anthropic Sans Text"/>
              </a:rPr>
              <a:t>  ·  no real patient data</a:t>
            </a:r>
            <a:endParaRPr lang="en-GB" sz="2200" dirty="0"/>
          </a:p>
        </p:txBody>
      </p:sp>
      <p:sp>
        <p:nvSpPr>
          <p:cNvPr id="120" name="Shape 120"/>
          <p:cNvSpPr/>
          <p:nvPr/>
        </p:nvSpPr>
        <p:spPr>
          <a:xfrm>
            <a:off x="914400" y="5308600"/>
            <a:ext cx="457200" cy="457200"/>
          </a:xfrm>
          <a:prstGeom prst="ellipse">
            <a:avLst/>
          </a:prstGeom>
          <a:solidFill>
            <a:srgbClr val="FFFFFF"/>
          </a:solidFill>
          <a:ln>
            <a:noFill/>
          </a:ln>
        </p:spPr>
        <p:txBody>
          <a:bodyPr wrap="square" lIns="0" tIns="0" rIns="0" bIns="0" rtlCol="0" anchor="ctr">
            <a:noAutofit/>
          </a:bodyPr>
          <a:lstStyle/>
          <a:p>
            <a:pPr marL="0" indent="0" algn="ctr">
              <a:spcBef>
                <a:spcPts val="0"/>
              </a:spcBef>
              <a:spcAft>
                <a:spcPts val="0"/>
              </a:spcAft>
              <a:buNone/>
            </a:pPr>
            <a:r>
              <a:rPr lang="en-GB" sz="1800" b="1" dirty="0">
                <a:solidFill>
                  <a:srgbClr val="2E9E6A"/>
                </a:solidFill>
                <a:latin typeface="Segoe UI Symbol"/>
                <a:cs typeface="Segoe UI Symbol"/>
              </a:rPr>
              <a:t>✓</a:t>
            </a:r>
            <a:endParaRPr lang="en-GB" sz="1800" dirty="0"/>
          </a:p>
        </p:txBody>
      </p:sp>
    </p:spTree>
    <p:extLst>
      <p:ext uri="{BB962C8B-B14F-4D97-AF65-F5344CB8AC3E}">
        <p14:creationId xmlns:p14="http://schemas.microsoft.com/office/powerpoint/2010/main" val="16988259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ACDD2-1058-E0E9-981D-55292E418E88}"/>
              </a:ext>
            </a:extLst>
          </p:cNvPr>
          <p:cNvSpPr>
            <a:spLocks noGrp="1"/>
          </p:cNvSpPr>
          <p:nvPr>
            <p:ph type="title"/>
          </p:nvPr>
        </p:nvSpPr>
        <p:spPr/>
        <p:txBody>
          <a:bodyPr>
            <a:normAutofit fontScale="90000"/>
          </a:bodyPr>
          <a:lstStyle/>
          <a:p>
            <a:r>
              <a:rPr lang="en-GB" dirty="0"/>
              <a:t>Every test scenario has a known right answer and a target</a:t>
            </a:r>
          </a:p>
        </p:txBody>
      </p:sp>
      <p:graphicFrame>
        <p:nvGraphicFramePr>
          <p:cNvPr id="100" name="Table 100"/>
          <p:cNvGraphicFramePr>
            <a:graphicFrameLocks noGrp="1"/>
          </p:cNvGraphicFramePr>
          <p:nvPr/>
        </p:nvGraphicFramePr>
        <p:xfrm>
          <a:off x="685800" y="1422400"/>
          <a:ext cx="11049000" cy="3276600"/>
        </p:xfrm>
        <a:graphic>
          <a:graphicData uri="http://schemas.openxmlformats.org/drawingml/2006/table">
            <a:tbl>
              <a:tblPr firstRow="1"/>
              <a:tblGrid>
                <a:gridCol w="24130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4445000">
                  <a:extLst>
                    <a:ext uri="{9D8B030D-6E8A-4147-A177-3AD203B41FA5}">
                      <a16:colId xmlns:a16="http://schemas.microsoft.com/office/drawing/2014/main" val="20002"/>
                    </a:ext>
                  </a:extLst>
                </a:gridCol>
              </a:tblGrid>
              <a:tr h="330200">
                <a:tc>
                  <a:txBody>
                    <a:bodyPr/>
                    <a:lstStyle/>
                    <a:p>
                      <a:pPr marL="0" indent="0" algn="l">
                        <a:spcBef>
                          <a:spcPts val="0"/>
                        </a:spcBef>
                        <a:spcAft>
                          <a:spcPts val="0"/>
                        </a:spcAft>
                        <a:buNone/>
                      </a:pPr>
                      <a:r>
                        <a:rPr lang="en-GB" sz="1100" b="1" dirty="0">
                          <a:solidFill>
                            <a:srgbClr val="52606D"/>
                          </a:solidFill>
                          <a:latin typeface="Anthropic Sans Text"/>
                          <a:cs typeface="Anthropic Sans Text"/>
                        </a:rPr>
                        <a:t>DENIAL CODE</a:t>
                      </a:r>
                      <a:endParaRPr lang="en-GB" sz="1100" dirty="0"/>
                    </a:p>
                  </a:txBody>
                  <a:tcPr marL="76200" marR="76200" marT="25400" marB="25400" anchor="ctr">
                    <a:lnL w="0">
                      <a:noFill/>
                    </a:lnL>
                    <a:lnR w="0">
                      <a:noFill/>
                    </a:lnR>
                    <a:lnT w="0">
                      <a:noFill/>
                    </a:lnT>
                    <a:lnB w="15875">
                      <a:solidFill>
                        <a:srgbClr val="9AA5B1"/>
                      </a:solidFill>
                    </a:lnB>
                    <a:noFill/>
                  </a:tcPr>
                </a:tc>
                <a:tc>
                  <a:txBody>
                    <a:bodyPr/>
                    <a:lstStyle/>
                    <a:p>
                      <a:pPr marL="0" indent="0" algn="l">
                        <a:spcBef>
                          <a:spcPts val="0"/>
                        </a:spcBef>
                        <a:spcAft>
                          <a:spcPts val="0"/>
                        </a:spcAft>
                        <a:buNone/>
                      </a:pPr>
                      <a:r>
                        <a:rPr lang="en-GB" sz="1100" b="1" dirty="0">
                          <a:solidFill>
                            <a:srgbClr val="52606D"/>
                          </a:solidFill>
                          <a:latin typeface="Anthropic Sans Text"/>
                          <a:cs typeface="Anthropic Sans Text"/>
                        </a:rPr>
                        <a:t>SITUATION</a:t>
                      </a:r>
                      <a:endParaRPr lang="en-GB" sz="1100" dirty="0"/>
                    </a:p>
                  </a:txBody>
                  <a:tcPr marL="76200" marR="76200" marT="25400" marB="25400" anchor="ctr">
                    <a:lnL w="0">
                      <a:noFill/>
                    </a:lnL>
                    <a:lnR w="0">
                      <a:noFill/>
                    </a:lnR>
                    <a:lnT w="0">
                      <a:noFill/>
                    </a:lnT>
                    <a:lnB w="15875">
                      <a:solidFill>
                        <a:srgbClr val="9AA5B1"/>
                      </a:solidFill>
                    </a:lnB>
                    <a:noFill/>
                  </a:tcPr>
                </a:tc>
                <a:tc>
                  <a:txBody>
                    <a:bodyPr/>
                    <a:lstStyle/>
                    <a:p>
                      <a:pPr marL="0" indent="0" algn="l">
                        <a:spcBef>
                          <a:spcPts val="0"/>
                        </a:spcBef>
                        <a:spcAft>
                          <a:spcPts val="0"/>
                        </a:spcAft>
                        <a:buNone/>
                      </a:pPr>
                      <a:r>
                        <a:rPr lang="en-GB" sz="1100" b="1" dirty="0">
                          <a:solidFill>
                            <a:srgbClr val="52606D"/>
                          </a:solidFill>
                          <a:latin typeface="Anthropic Sans Text"/>
                          <a:cs typeface="Anthropic Sans Text"/>
                        </a:rPr>
                        <a:t>EXPECTED DECISION</a:t>
                      </a:r>
                      <a:endParaRPr lang="en-GB" sz="1100" dirty="0"/>
                    </a:p>
                  </a:txBody>
                  <a:tcPr marL="76200" marR="76200" marT="25400" marB="25400" anchor="ctr">
                    <a:lnL w="0">
                      <a:noFill/>
                    </a:lnL>
                    <a:lnR w="0">
                      <a:noFill/>
                    </a:lnR>
                    <a:lnT w="0">
                      <a:noFill/>
                    </a:lnT>
                    <a:lnB w="15875">
                      <a:solidFill>
                        <a:srgbClr val="9AA5B1"/>
                      </a:solidFill>
                    </a:lnB>
                    <a:noFill/>
                  </a:tcPr>
                </a:tc>
                <a:extLst>
                  <a:ext uri="{0D108BD9-81ED-4DB2-BD59-A6C34878D82A}">
                    <a16:rowId xmlns:a16="http://schemas.microsoft.com/office/drawing/2014/main" val="10000"/>
                  </a:ext>
                </a:extLst>
              </a:tr>
              <a:tr h="368300">
                <a:tc>
                  <a:txBody>
                    <a:bodyPr/>
                    <a:lstStyle/>
                    <a:p>
                      <a:pPr marL="0" indent="0" algn="l">
                        <a:spcBef>
                          <a:spcPts val="0"/>
                        </a:spcBef>
                        <a:spcAft>
                          <a:spcPts val="0"/>
                        </a:spcAft>
                        <a:buNone/>
                      </a:pPr>
                      <a:r>
                        <a:rPr lang="en-GB" sz="1300" b="1" dirty="0">
                          <a:solidFill>
                            <a:srgbClr val="0B1F3A"/>
                          </a:solidFill>
                          <a:latin typeface="Anthropic Mono"/>
                          <a:cs typeface="Anthropic Mono"/>
                        </a:rPr>
                        <a:t>CO-16 + MA130</a:t>
                      </a:r>
                      <a:endParaRPr lang="en-GB" sz="1300" dirty="0"/>
                    </a:p>
                  </a:txBody>
                  <a:tcPr marL="76200" marR="76200" marT="25400" marB="25400" anchor="ctr">
                    <a:lnL w="0">
                      <a:noFill/>
                    </a:lnL>
                    <a:lnR w="0">
                      <a:noFill/>
                    </a:lnR>
                    <a:lnT w="15875" cap="flat" cmpd="sng" algn="ctr">
                      <a:solidFill>
                        <a:srgbClr val="9AA5B1"/>
                      </a:solidFill>
                      <a:prstDash val="solid"/>
                      <a:round/>
                      <a:headEnd type="none" w="med" len="med"/>
                      <a:tailEnd type="none" w="med" len="med"/>
                    </a:lnT>
                    <a:lnB w="9525">
                      <a:solidFill>
                        <a:srgbClr val="E0E3E7"/>
                      </a:solidFill>
                    </a:lnB>
                    <a:noFill/>
                  </a:tcPr>
                </a:tc>
                <a:tc>
                  <a:txBody>
                    <a:bodyPr/>
                    <a:lstStyle/>
                    <a:p>
                      <a:pPr marL="0" indent="0" algn="l">
                        <a:spcBef>
                          <a:spcPts val="0"/>
                        </a:spcBef>
                        <a:spcAft>
                          <a:spcPts val="0"/>
                        </a:spcAft>
                        <a:buNone/>
                      </a:pPr>
                      <a:r>
                        <a:rPr lang="en-GB" sz="1300" b="0" dirty="0">
                          <a:solidFill>
                            <a:srgbClr val="1F2933"/>
                          </a:solidFill>
                          <a:latin typeface="Anthropic Sans Text"/>
                          <a:cs typeface="Anthropic Sans Text"/>
                        </a:rPr>
                        <a:t>Missing provider ID</a:t>
                      </a:r>
                      <a:endParaRPr lang="en-GB" sz="1300" dirty="0"/>
                    </a:p>
                  </a:txBody>
                  <a:tcPr marL="76200" marR="76200" marT="25400" marB="25400" anchor="ctr">
                    <a:lnL w="0">
                      <a:noFill/>
                    </a:lnL>
                    <a:lnR w="0">
                      <a:noFill/>
                    </a:lnR>
                    <a:lnT w="15875" cap="flat" cmpd="sng" algn="ctr">
                      <a:solidFill>
                        <a:srgbClr val="9AA5B1"/>
                      </a:solidFill>
                      <a:prstDash val="solid"/>
                      <a:round/>
                      <a:headEnd type="none" w="med" len="med"/>
                      <a:tailEnd type="none" w="med" len="med"/>
                    </a:lnT>
                    <a:lnB w="9525">
                      <a:solidFill>
                        <a:srgbClr val="E0E3E7"/>
                      </a:solidFill>
                    </a:lnB>
                    <a:noFill/>
                  </a:tcPr>
                </a:tc>
                <a:tc>
                  <a:txBody>
                    <a:bodyPr/>
                    <a:lstStyle/>
                    <a:p>
                      <a:pPr marL="0" indent="0" algn="l">
                        <a:spcBef>
                          <a:spcPts val="0"/>
                        </a:spcBef>
                        <a:spcAft>
                          <a:spcPts val="0"/>
                        </a:spcAft>
                        <a:buNone/>
                      </a:pPr>
                      <a:r>
                        <a:rPr lang="en-GB" sz="1300" b="1" dirty="0">
                          <a:solidFill>
                            <a:srgbClr val="1E7A50"/>
                          </a:solidFill>
                          <a:latin typeface="Anthropic Sans Text"/>
                          <a:cs typeface="Anthropic Sans Text"/>
                        </a:rPr>
                        <a:t>Submit new claim</a:t>
                      </a:r>
                      <a:endParaRPr lang="en-GB" sz="1300" dirty="0"/>
                    </a:p>
                  </a:txBody>
                  <a:tcPr marL="76200" marR="76200" marT="25400" marB="25400" anchor="ctr">
                    <a:lnL w="0">
                      <a:noFill/>
                    </a:lnL>
                    <a:lnR w="0">
                      <a:noFill/>
                    </a:lnR>
                    <a:lnT w="15875" cap="flat" cmpd="sng" algn="ctr">
                      <a:solidFill>
                        <a:srgbClr val="9AA5B1"/>
                      </a:solidFill>
                      <a:prstDash val="solid"/>
                      <a:round/>
                      <a:headEnd type="none" w="med" len="med"/>
                      <a:tailEnd type="none" w="med" len="med"/>
                    </a:lnT>
                    <a:lnB w="9525">
                      <a:solidFill>
                        <a:srgbClr val="E0E3E7"/>
                      </a:solidFill>
                    </a:lnB>
                    <a:noFill/>
                  </a:tcPr>
                </a:tc>
                <a:extLst>
                  <a:ext uri="{0D108BD9-81ED-4DB2-BD59-A6C34878D82A}">
                    <a16:rowId xmlns:a16="http://schemas.microsoft.com/office/drawing/2014/main" val="10001"/>
                  </a:ext>
                </a:extLst>
              </a:tr>
              <a:tr h="368300">
                <a:tc>
                  <a:txBody>
                    <a:bodyPr/>
                    <a:lstStyle/>
                    <a:p>
                      <a:pPr marL="0" indent="0" algn="l">
                        <a:spcBef>
                          <a:spcPts val="0"/>
                        </a:spcBef>
                        <a:spcAft>
                          <a:spcPts val="0"/>
                        </a:spcAft>
                        <a:buNone/>
                      </a:pPr>
                      <a:r>
                        <a:rPr lang="en-GB" sz="1300" b="1" dirty="0">
                          <a:solidFill>
                            <a:srgbClr val="0B1F3A"/>
                          </a:solidFill>
                          <a:latin typeface="Anthropic Mono"/>
                          <a:cs typeface="Anthropic Mono"/>
                        </a:rPr>
                        <a:t>CO-197</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l">
                        <a:spcBef>
                          <a:spcPts val="0"/>
                        </a:spcBef>
                        <a:spcAft>
                          <a:spcPts val="0"/>
                        </a:spcAft>
                        <a:buNone/>
                      </a:pPr>
                      <a:r>
                        <a:rPr lang="en-GB" sz="1300" b="0" dirty="0">
                          <a:solidFill>
                            <a:srgbClr val="1F2933"/>
                          </a:solidFill>
                          <a:latin typeface="Anthropic Sans Text"/>
                          <a:cs typeface="Anthropic Sans Text"/>
                        </a:rPr>
                        <a:t>Auth on file, not on claim</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l">
                        <a:spcBef>
                          <a:spcPts val="0"/>
                        </a:spcBef>
                        <a:spcAft>
                          <a:spcPts val="0"/>
                        </a:spcAft>
                        <a:buNone/>
                      </a:pPr>
                      <a:r>
                        <a:rPr lang="en-GB" sz="1300" b="1" dirty="0">
                          <a:solidFill>
                            <a:srgbClr val="1E7A50"/>
                          </a:solidFill>
                          <a:latin typeface="Anthropic Sans Text"/>
                          <a:cs typeface="Anthropic Sans Text"/>
                        </a:rPr>
                        <a:t>Appeal with auth</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extLst>
                  <a:ext uri="{0D108BD9-81ED-4DB2-BD59-A6C34878D82A}">
                    <a16:rowId xmlns:a16="http://schemas.microsoft.com/office/drawing/2014/main" val="10002"/>
                  </a:ext>
                </a:extLst>
              </a:tr>
              <a:tr h="368300">
                <a:tc>
                  <a:txBody>
                    <a:bodyPr/>
                    <a:lstStyle/>
                    <a:p>
                      <a:pPr marL="0" indent="0" algn="l">
                        <a:spcBef>
                          <a:spcPts val="0"/>
                        </a:spcBef>
                        <a:spcAft>
                          <a:spcPts val="0"/>
                        </a:spcAft>
                        <a:buNone/>
                      </a:pPr>
                      <a:r>
                        <a:rPr lang="en-GB" sz="1300" b="1" dirty="0">
                          <a:solidFill>
                            <a:srgbClr val="0B1F3A"/>
                          </a:solidFill>
                          <a:latin typeface="Anthropic Mono"/>
                          <a:cs typeface="Anthropic Mono"/>
                        </a:rPr>
                        <a:t>CO-50 + N115</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l">
                        <a:spcBef>
                          <a:spcPts val="0"/>
                        </a:spcBef>
                        <a:spcAft>
                          <a:spcPts val="0"/>
                        </a:spcAft>
                        <a:buNone/>
                      </a:pPr>
                      <a:r>
                        <a:rPr lang="en-GB" sz="1300" b="0" dirty="0">
                          <a:solidFill>
                            <a:srgbClr val="1F2933"/>
                          </a:solidFill>
                          <a:latin typeface="Anthropic Sans Text"/>
                          <a:cs typeface="Anthropic Sans Text"/>
                        </a:rPr>
                        <a:t>Diagnosis not on coverage list</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l">
                        <a:spcBef>
                          <a:spcPts val="0"/>
                        </a:spcBef>
                        <a:spcAft>
                          <a:spcPts val="0"/>
                        </a:spcAft>
                        <a:buNone/>
                      </a:pPr>
                      <a:r>
                        <a:rPr lang="en-GB" sz="1300" b="1" dirty="0">
                          <a:solidFill>
                            <a:srgbClr val="1E7A50"/>
                          </a:solidFill>
                          <a:latin typeface="Anthropic Sans Text"/>
                          <a:cs typeface="Anthropic Sans Text"/>
                        </a:rPr>
                        <a:t>Correct &amp; resubmit</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extLst>
                  <a:ext uri="{0D108BD9-81ED-4DB2-BD59-A6C34878D82A}">
                    <a16:rowId xmlns:a16="http://schemas.microsoft.com/office/drawing/2014/main" val="10003"/>
                  </a:ext>
                </a:extLst>
              </a:tr>
              <a:tr h="368300">
                <a:tc>
                  <a:txBody>
                    <a:bodyPr/>
                    <a:lstStyle/>
                    <a:p>
                      <a:pPr marL="0" indent="0" algn="l">
                        <a:spcBef>
                          <a:spcPts val="0"/>
                        </a:spcBef>
                        <a:spcAft>
                          <a:spcPts val="0"/>
                        </a:spcAft>
                        <a:buNone/>
                      </a:pPr>
                      <a:r>
                        <a:rPr lang="en-GB" sz="1300" b="1" dirty="0">
                          <a:solidFill>
                            <a:srgbClr val="0B1F3A"/>
                          </a:solidFill>
                          <a:latin typeface="Anthropic Mono"/>
                          <a:cs typeface="Anthropic Mono"/>
                        </a:rPr>
                        <a:t>PR-50 (GA)</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l">
                        <a:spcBef>
                          <a:spcPts val="0"/>
                        </a:spcBef>
                        <a:spcAft>
                          <a:spcPts val="0"/>
                        </a:spcAft>
                        <a:buNone/>
                      </a:pPr>
                      <a:r>
                        <a:rPr lang="en-GB" sz="1300" b="0" dirty="0">
                          <a:solidFill>
                            <a:srgbClr val="1F2933"/>
                          </a:solidFill>
                          <a:latin typeface="Anthropic Sans Text"/>
                          <a:cs typeface="Anthropic Sans Text"/>
                        </a:rPr>
                        <a:t>Signed ABN on file</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l">
                        <a:spcBef>
                          <a:spcPts val="0"/>
                        </a:spcBef>
                        <a:spcAft>
                          <a:spcPts val="0"/>
                        </a:spcAft>
                        <a:buNone/>
                      </a:pPr>
                      <a:r>
                        <a:rPr lang="en-GB" sz="1300" b="1" dirty="0">
                          <a:solidFill>
                            <a:srgbClr val="1E7A50"/>
                          </a:solidFill>
                          <a:latin typeface="Anthropic Sans Text"/>
                          <a:cs typeface="Anthropic Sans Text"/>
                        </a:rPr>
                        <a:t>Bill patient</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extLst>
                  <a:ext uri="{0D108BD9-81ED-4DB2-BD59-A6C34878D82A}">
                    <a16:rowId xmlns:a16="http://schemas.microsoft.com/office/drawing/2014/main" val="10004"/>
                  </a:ext>
                </a:extLst>
              </a:tr>
              <a:tr h="368300">
                <a:tc>
                  <a:txBody>
                    <a:bodyPr/>
                    <a:lstStyle/>
                    <a:p>
                      <a:pPr marL="0" indent="0" algn="l">
                        <a:spcBef>
                          <a:spcPts val="0"/>
                        </a:spcBef>
                        <a:spcAft>
                          <a:spcPts val="0"/>
                        </a:spcAft>
                        <a:buNone/>
                      </a:pPr>
                      <a:r>
                        <a:rPr lang="en-GB" sz="1300" b="1" dirty="0">
                          <a:solidFill>
                            <a:srgbClr val="0B1F3A"/>
                          </a:solidFill>
                          <a:latin typeface="Anthropic Mono"/>
                          <a:cs typeface="Anthropic Mono"/>
                        </a:rPr>
                        <a:t>CO-29</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l">
                        <a:spcBef>
                          <a:spcPts val="0"/>
                        </a:spcBef>
                        <a:spcAft>
                          <a:spcPts val="0"/>
                        </a:spcAft>
                        <a:buNone/>
                      </a:pPr>
                      <a:r>
                        <a:rPr lang="en-GB" sz="1300" b="0" dirty="0">
                          <a:solidFill>
                            <a:srgbClr val="1F2933"/>
                          </a:solidFill>
                          <a:latin typeface="Anthropic Sans Text"/>
                          <a:cs typeface="Anthropic Sans Text"/>
                        </a:rPr>
                        <a:t>Proof of timely filing</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l">
                        <a:spcBef>
                          <a:spcPts val="0"/>
                        </a:spcBef>
                        <a:spcAft>
                          <a:spcPts val="0"/>
                        </a:spcAft>
                        <a:buNone/>
                      </a:pPr>
                      <a:r>
                        <a:rPr lang="en-GB" sz="1300" b="1" dirty="0">
                          <a:solidFill>
                            <a:srgbClr val="1E7A50"/>
                          </a:solidFill>
                          <a:latin typeface="Anthropic Sans Text"/>
                          <a:cs typeface="Anthropic Sans Text"/>
                        </a:rPr>
                        <a:t>Appeal</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extLst>
                  <a:ext uri="{0D108BD9-81ED-4DB2-BD59-A6C34878D82A}">
                    <a16:rowId xmlns:a16="http://schemas.microsoft.com/office/drawing/2014/main" val="10005"/>
                  </a:ext>
                </a:extLst>
              </a:tr>
              <a:tr h="368300">
                <a:tc>
                  <a:txBody>
                    <a:bodyPr/>
                    <a:lstStyle/>
                    <a:p>
                      <a:pPr marL="0" indent="0" algn="l">
                        <a:spcBef>
                          <a:spcPts val="0"/>
                        </a:spcBef>
                        <a:spcAft>
                          <a:spcPts val="0"/>
                        </a:spcAft>
                        <a:buNone/>
                      </a:pPr>
                      <a:r>
                        <a:rPr lang="en-GB" sz="1300" b="1" dirty="0">
                          <a:solidFill>
                            <a:srgbClr val="0B1F3A"/>
                          </a:solidFill>
                          <a:latin typeface="Anthropic Mono"/>
                          <a:cs typeface="Anthropic Mono"/>
                        </a:rPr>
                        <a:t>CO-97 + M15</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l">
                        <a:spcBef>
                          <a:spcPts val="0"/>
                        </a:spcBef>
                        <a:spcAft>
                          <a:spcPts val="0"/>
                        </a:spcAft>
                        <a:buNone/>
                      </a:pPr>
                      <a:r>
                        <a:rPr lang="en-GB" sz="1300" b="0" dirty="0">
                          <a:solidFill>
                            <a:srgbClr val="1F2933"/>
                          </a:solidFill>
                          <a:latin typeface="Anthropic Sans Text"/>
                          <a:cs typeface="Anthropic Sans Text"/>
                        </a:rPr>
                        <a:t>Separate site documented</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l">
                        <a:spcBef>
                          <a:spcPts val="0"/>
                        </a:spcBef>
                        <a:spcAft>
                          <a:spcPts val="0"/>
                        </a:spcAft>
                        <a:buNone/>
                      </a:pPr>
                      <a:r>
                        <a:rPr lang="en-GB" sz="1300" b="1" dirty="0">
                          <a:solidFill>
                            <a:srgbClr val="1E7A50"/>
                          </a:solidFill>
                          <a:latin typeface="Anthropic Sans Text"/>
                          <a:cs typeface="Anthropic Sans Text"/>
                        </a:rPr>
                        <a:t>Add modifier, resubmit</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extLst>
                  <a:ext uri="{0D108BD9-81ED-4DB2-BD59-A6C34878D82A}">
                    <a16:rowId xmlns:a16="http://schemas.microsoft.com/office/drawing/2014/main" val="10006"/>
                  </a:ext>
                </a:extLst>
              </a:tr>
              <a:tr h="368300">
                <a:tc>
                  <a:txBody>
                    <a:bodyPr/>
                    <a:lstStyle/>
                    <a:p>
                      <a:pPr marL="0" indent="0" algn="l">
                        <a:spcBef>
                          <a:spcPts val="0"/>
                        </a:spcBef>
                        <a:spcAft>
                          <a:spcPts val="0"/>
                        </a:spcAft>
                        <a:buNone/>
                      </a:pPr>
                      <a:r>
                        <a:rPr lang="en-GB" sz="1300" b="1" dirty="0">
                          <a:solidFill>
                            <a:srgbClr val="0B1F3A"/>
                          </a:solidFill>
                          <a:latin typeface="Anthropic Mono"/>
                          <a:cs typeface="Anthropic Mono"/>
                        </a:rPr>
                        <a:t>CO-22</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l">
                        <a:spcBef>
                          <a:spcPts val="0"/>
                        </a:spcBef>
                        <a:spcAft>
                          <a:spcPts val="0"/>
                        </a:spcAft>
                        <a:buNone/>
                      </a:pPr>
                      <a:r>
                        <a:rPr lang="en-GB" sz="1300" b="0" dirty="0">
                          <a:solidFill>
                            <a:srgbClr val="1F2933"/>
                          </a:solidFill>
                          <a:latin typeface="Anthropic Sans Text"/>
                          <a:cs typeface="Anthropic Sans Text"/>
                        </a:rPr>
                        <a:t>Other insurance primary</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l">
                        <a:spcBef>
                          <a:spcPts val="0"/>
                        </a:spcBef>
                        <a:spcAft>
                          <a:spcPts val="0"/>
                        </a:spcAft>
                        <a:buNone/>
                      </a:pPr>
                      <a:r>
                        <a:rPr lang="en-GB" sz="1300" b="1" dirty="0">
                          <a:solidFill>
                            <a:srgbClr val="1E7A50"/>
                          </a:solidFill>
                          <a:latin typeface="Anthropic Sans Text"/>
                          <a:cs typeface="Anthropic Sans Text"/>
                        </a:rPr>
                        <a:t>Bill primary, then secondary</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extLst>
                  <a:ext uri="{0D108BD9-81ED-4DB2-BD59-A6C34878D82A}">
                    <a16:rowId xmlns:a16="http://schemas.microsoft.com/office/drawing/2014/main" val="10007"/>
                  </a:ext>
                </a:extLst>
              </a:tr>
              <a:tr h="368300">
                <a:tc>
                  <a:txBody>
                    <a:bodyPr/>
                    <a:lstStyle/>
                    <a:p>
                      <a:pPr marL="0" indent="0" algn="l">
                        <a:spcBef>
                          <a:spcPts val="0"/>
                        </a:spcBef>
                        <a:spcAft>
                          <a:spcPts val="0"/>
                        </a:spcAft>
                        <a:buNone/>
                      </a:pPr>
                      <a:r>
                        <a:rPr lang="en-GB" sz="1300" b="1" dirty="0">
                          <a:solidFill>
                            <a:srgbClr val="0B1F3A"/>
                          </a:solidFill>
                          <a:latin typeface="Anthropic Mono"/>
                          <a:cs typeface="Anthropic Mono"/>
                        </a:rPr>
                        <a:t>CO-45</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l">
                        <a:spcBef>
                          <a:spcPts val="0"/>
                        </a:spcBef>
                        <a:spcAft>
                          <a:spcPts val="0"/>
                        </a:spcAft>
                        <a:buNone/>
                      </a:pPr>
                      <a:r>
                        <a:rPr lang="en-GB" sz="1300" b="0" dirty="0">
                          <a:solidFill>
                            <a:srgbClr val="1F2933"/>
                          </a:solidFill>
                          <a:latin typeface="Anthropic Sans Text"/>
                          <a:cs typeface="Anthropic Sans Text"/>
                        </a:rPr>
                        <a:t>Contract adjustment</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tc>
                  <a:txBody>
                    <a:bodyPr/>
                    <a:lstStyle/>
                    <a:p>
                      <a:pPr marL="0" indent="0" algn="l">
                        <a:spcBef>
                          <a:spcPts val="0"/>
                        </a:spcBef>
                        <a:spcAft>
                          <a:spcPts val="0"/>
                        </a:spcAft>
                        <a:buNone/>
                      </a:pPr>
                      <a:r>
                        <a:rPr lang="en-GB" sz="1300" b="1" dirty="0">
                          <a:solidFill>
                            <a:srgbClr val="1E7A50"/>
                          </a:solidFill>
                          <a:latin typeface="Anthropic Sans Text"/>
                          <a:cs typeface="Anthropic Sans Text"/>
                        </a:rPr>
                        <a:t>No action</a:t>
                      </a:r>
                      <a:endParaRPr lang="en-GB" sz="1300" dirty="0"/>
                    </a:p>
                  </a:txBody>
                  <a:tcPr marL="76200" marR="76200" marT="25400" marB="25400" anchor="ctr">
                    <a:lnL w="0">
                      <a:noFill/>
                    </a:lnL>
                    <a:lnR w="0">
                      <a:noFill/>
                    </a:lnR>
                    <a:lnT w="9525" cap="flat" cmpd="sng" algn="ctr">
                      <a:solidFill>
                        <a:srgbClr val="E0E3E7"/>
                      </a:solidFill>
                      <a:prstDash val="solid"/>
                      <a:round/>
                      <a:headEnd type="none" w="med" len="med"/>
                      <a:tailEnd type="none" w="med" len="med"/>
                    </a:lnT>
                    <a:lnB w="9525">
                      <a:solidFill>
                        <a:srgbClr val="E0E3E7"/>
                      </a:solidFill>
                    </a:lnB>
                    <a:noFill/>
                  </a:tcPr>
                </a:tc>
                <a:extLst>
                  <a:ext uri="{0D108BD9-81ED-4DB2-BD59-A6C34878D82A}">
                    <a16:rowId xmlns:a16="http://schemas.microsoft.com/office/drawing/2014/main" val="10008"/>
                  </a:ext>
                </a:extLst>
              </a:tr>
            </a:tbl>
          </a:graphicData>
        </a:graphic>
      </p:graphicFrame>
      <p:sp>
        <p:nvSpPr>
          <p:cNvPr id="101" name="Shape 101"/>
          <p:cNvSpPr/>
          <p:nvPr/>
        </p:nvSpPr>
        <p:spPr>
          <a:xfrm>
            <a:off x="685800" y="5105400"/>
            <a:ext cx="914400" cy="914400"/>
          </a:xfrm>
          <a:prstGeom prst="donut">
            <a:avLst>
              <a:gd name="adj" fmla="val 13000"/>
            </a:avLst>
          </a:prstGeom>
          <a:solidFill>
            <a:srgbClr val="E5E8EC"/>
          </a:solidFill>
          <a:ln>
            <a:noFill/>
          </a:ln>
        </p:spPr>
        <p:txBody>
          <a:bodyPr wrap="square" lIns="0" tIns="0" rIns="0" bIns="0" rtlCol="0" anchor="t">
            <a:noAutofit/>
          </a:bodyPr>
          <a:lstStyle/>
          <a:p>
            <a:endParaRPr lang="en-GB" dirty="0"/>
          </a:p>
        </p:txBody>
      </p:sp>
      <p:sp>
        <p:nvSpPr>
          <p:cNvPr id="102" name="Shape 102"/>
          <p:cNvSpPr/>
          <p:nvPr/>
        </p:nvSpPr>
        <p:spPr>
          <a:xfrm>
            <a:off x="685800" y="5105400"/>
            <a:ext cx="914400" cy="914400"/>
          </a:xfrm>
          <a:prstGeom prst="blockArc">
            <a:avLst>
              <a:gd name="adj1" fmla="val 16200000"/>
              <a:gd name="adj2" fmla="val 14040000"/>
              <a:gd name="adj3" fmla="val 13000"/>
            </a:avLst>
          </a:prstGeom>
          <a:solidFill>
            <a:srgbClr val="2E9E6A"/>
          </a:solidFill>
          <a:ln>
            <a:noFill/>
          </a:ln>
        </p:spPr>
        <p:txBody>
          <a:bodyPr wrap="square" lIns="0" tIns="0" rIns="0" bIns="0" rtlCol="0" anchor="t">
            <a:noAutofit/>
          </a:bodyPr>
          <a:lstStyle/>
          <a:p>
            <a:endParaRPr lang="en-GB" dirty="0"/>
          </a:p>
        </p:txBody>
      </p:sp>
      <p:sp>
        <p:nvSpPr>
          <p:cNvPr id="103" name="Shape 103"/>
          <p:cNvSpPr txBox="1"/>
          <p:nvPr/>
        </p:nvSpPr>
        <p:spPr>
          <a:xfrm>
            <a:off x="635000" y="5105400"/>
            <a:ext cx="1016000" cy="9144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GB" sz="1400" b="1" dirty="0">
                <a:solidFill>
                  <a:srgbClr val="0B1F3A"/>
                </a:solidFill>
                <a:latin typeface="Anthropic Mono"/>
                <a:cs typeface="Anthropic Mono"/>
              </a:rPr>
              <a:t>≥ 90%</a:t>
            </a:r>
            <a:endParaRPr lang="en-GB" sz="1400" dirty="0"/>
          </a:p>
        </p:txBody>
      </p:sp>
      <p:sp>
        <p:nvSpPr>
          <p:cNvPr id="104" name="Shape 104"/>
          <p:cNvSpPr txBox="1"/>
          <p:nvPr/>
        </p:nvSpPr>
        <p:spPr>
          <a:xfrm>
            <a:off x="1752600" y="5207000"/>
            <a:ext cx="1593850" cy="711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000" b="1" spc="150" dirty="0">
                <a:solidFill>
                  <a:srgbClr val="2E9E6A"/>
                </a:solidFill>
                <a:latin typeface="Anthropic Sans Text"/>
                <a:cs typeface="Anthropic Sans Text"/>
              </a:rPr>
              <a:t>TARGET</a:t>
            </a:r>
            <a:endParaRPr lang="en-GB" sz="1000" dirty="0"/>
          </a:p>
          <a:p>
            <a:pPr marL="0" indent="0" algn="l">
              <a:lnSpc>
                <a:spcPct val="100000"/>
              </a:lnSpc>
              <a:spcBef>
                <a:spcPts val="0"/>
              </a:spcBef>
              <a:spcAft>
                <a:spcPts val="0"/>
              </a:spcAft>
              <a:buNone/>
            </a:pPr>
            <a:r>
              <a:rPr lang="en-GB" sz="1500" b="1" dirty="0">
                <a:solidFill>
                  <a:srgbClr val="0B1F3A"/>
                </a:solidFill>
                <a:latin typeface="Anthropic Sans Text"/>
                <a:cs typeface="Anthropic Sans Text"/>
              </a:rPr>
              <a:t>Decision accuracy</a:t>
            </a:r>
            <a:endParaRPr lang="en-GB" sz="1500" dirty="0"/>
          </a:p>
        </p:txBody>
      </p:sp>
      <p:sp>
        <p:nvSpPr>
          <p:cNvPr id="105" name="Shape 105"/>
          <p:cNvSpPr/>
          <p:nvPr/>
        </p:nvSpPr>
        <p:spPr>
          <a:xfrm>
            <a:off x="3448050" y="5105400"/>
            <a:ext cx="914400" cy="914400"/>
          </a:xfrm>
          <a:prstGeom prst="donut">
            <a:avLst>
              <a:gd name="adj" fmla="val 13000"/>
            </a:avLst>
          </a:prstGeom>
          <a:solidFill>
            <a:srgbClr val="E5E8EC"/>
          </a:solidFill>
          <a:ln>
            <a:noFill/>
          </a:ln>
        </p:spPr>
        <p:txBody>
          <a:bodyPr wrap="square" lIns="0" tIns="0" rIns="0" bIns="0" rtlCol="0" anchor="t">
            <a:noAutofit/>
          </a:bodyPr>
          <a:lstStyle/>
          <a:p>
            <a:endParaRPr lang="en-GB" dirty="0"/>
          </a:p>
        </p:txBody>
      </p:sp>
      <p:sp>
        <p:nvSpPr>
          <p:cNvPr id="106" name="Shape 106"/>
          <p:cNvSpPr/>
          <p:nvPr/>
        </p:nvSpPr>
        <p:spPr>
          <a:xfrm>
            <a:off x="3448050" y="5105400"/>
            <a:ext cx="914400" cy="914400"/>
          </a:xfrm>
          <a:prstGeom prst="donut">
            <a:avLst>
              <a:gd name="adj" fmla="val 13000"/>
            </a:avLst>
          </a:prstGeom>
          <a:solidFill>
            <a:srgbClr val="2E9E6A"/>
          </a:solidFill>
          <a:ln>
            <a:noFill/>
          </a:ln>
        </p:spPr>
        <p:txBody>
          <a:bodyPr wrap="square" lIns="0" tIns="0" rIns="0" bIns="0" rtlCol="0" anchor="t">
            <a:noAutofit/>
          </a:bodyPr>
          <a:lstStyle/>
          <a:p>
            <a:endParaRPr lang="en-GB" dirty="0"/>
          </a:p>
        </p:txBody>
      </p:sp>
      <p:sp>
        <p:nvSpPr>
          <p:cNvPr id="107" name="Shape 107"/>
          <p:cNvSpPr txBox="1"/>
          <p:nvPr/>
        </p:nvSpPr>
        <p:spPr>
          <a:xfrm>
            <a:off x="3397250" y="5105400"/>
            <a:ext cx="1016000" cy="9144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GB" sz="1400" b="1" dirty="0">
                <a:solidFill>
                  <a:srgbClr val="0B1F3A"/>
                </a:solidFill>
                <a:latin typeface="Anthropic Mono"/>
                <a:cs typeface="Anthropic Mono"/>
              </a:rPr>
              <a:t>100%</a:t>
            </a:r>
            <a:endParaRPr lang="en-GB" sz="1400" dirty="0"/>
          </a:p>
        </p:txBody>
      </p:sp>
      <p:sp>
        <p:nvSpPr>
          <p:cNvPr id="108" name="Shape 108"/>
          <p:cNvSpPr txBox="1"/>
          <p:nvPr/>
        </p:nvSpPr>
        <p:spPr>
          <a:xfrm>
            <a:off x="4514850" y="5207000"/>
            <a:ext cx="1593850" cy="711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000" b="1" spc="150" dirty="0">
                <a:solidFill>
                  <a:srgbClr val="2E9E6A"/>
                </a:solidFill>
                <a:latin typeface="Anthropic Sans Text"/>
                <a:cs typeface="Anthropic Sans Text"/>
              </a:rPr>
              <a:t>TARGET</a:t>
            </a:r>
            <a:endParaRPr lang="en-GB" sz="1000" dirty="0"/>
          </a:p>
          <a:p>
            <a:pPr marL="0" indent="0" algn="l">
              <a:lnSpc>
                <a:spcPct val="100000"/>
              </a:lnSpc>
              <a:spcBef>
                <a:spcPts val="0"/>
              </a:spcBef>
              <a:spcAft>
                <a:spcPts val="0"/>
              </a:spcAft>
              <a:buNone/>
            </a:pPr>
            <a:r>
              <a:rPr lang="en-GB" sz="1500" b="1" dirty="0">
                <a:solidFill>
                  <a:srgbClr val="0B1F3A"/>
                </a:solidFill>
                <a:latin typeface="Anthropic Sans Text"/>
                <a:cs typeface="Anthropic Sans Text"/>
              </a:rPr>
              <a:t>Deadline accuracy</a:t>
            </a:r>
            <a:endParaRPr lang="en-GB" sz="1500" dirty="0"/>
          </a:p>
        </p:txBody>
      </p:sp>
      <p:sp>
        <p:nvSpPr>
          <p:cNvPr id="109" name="Shape 109"/>
          <p:cNvSpPr/>
          <p:nvPr/>
        </p:nvSpPr>
        <p:spPr>
          <a:xfrm>
            <a:off x="6210300" y="5105400"/>
            <a:ext cx="914400" cy="914400"/>
          </a:xfrm>
          <a:prstGeom prst="donut">
            <a:avLst>
              <a:gd name="adj" fmla="val 13000"/>
            </a:avLst>
          </a:prstGeom>
          <a:solidFill>
            <a:srgbClr val="E5E8EC"/>
          </a:solidFill>
          <a:ln>
            <a:noFill/>
          </a:ln>
        </p:spPr>
        <p:txBody>
          <a:bodyPr wrap="square" lIns="0" tIns="0" rIns="0" bIns="0" rtlCol="0" anchor="t">
            <a:noAutofit/>
          </a:bodyPr>
          <a:lstStyle/>
          <a:p>
            <a:endParaRPr lang="en-GB" dirty="0"/>
          </a:p>
        </p:txBody>
      </p:sp>
      <p:sp>
        <p:nvSpPr>
          <p:cNvPr id="110" name="Shape 110"/>
          <p:cNvSpPr/>
          <p:nvPr/>
        </p:nvSpPr>
        <p:spPr>
          <a:xfrm>
            <a:off x="6210300" y="5105400"/>
            <a:ext cx="914400" cy="914400"/>
          </a:xfrm>
          <a:prstGeom prst="donut">
            <a:avLst>
              <a:gd name="adj" fmla="val 13000"/>
            </a:avLst>
          </a:prstGeom>
          <a:solidFill>
            <a:srgbClr val="2E9E6A"/>
          </a:solidFill>
          <a:ln>
            <a:noFill/>
          </a:ln>
        </p:spPr>
        <p:txBody>
          <a:bodyPr wrap="square" lIns="0" tIns="0" rIns="0" bIns="0" rtlCol="0" anchor="t">
            <a:noAutofit/>
          </a:bodyPr>
          <a:lstStyle/>
          <a:p>
            <a:endParaRPr lang="en-GB" dirty="0"/>
          </a:p>
        </p:txBody>
      </p:sp>
      <p:sp>
        <p:nvSpPr>
          <p:cNvPr id="111" name="Shape 111"/>
          <p:cNvSpPr txBox="1"/>
          <p:nvPr/>
        </p:nvSpPr>
        <p:spPr>
          <a:xfrm>
            <a:off x="6159500" y="5105400"/>
            <a:ext cx="1016000" cy="9144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GB" sz="1800" b="1" dirty="0">
                <a:solidFill>
                  <a:srgbClr val="0B1F3A"/>
                </a:solidFill>
                <a:latin typeface="Anthropic Mono"/>
                <a:cs typeface="Anthropic Mono"/>
              </a:rPr>
              <a:t>0</a:t>
            </a:r>
            <a:endParaRPr lang="en-GB" sz="1800" dirty="0"/>
          </a:p>
        </p:txBody>
      </p:sp>
      <p:sp>
        <p:nvSpPr>
          <p:cNvPr id="112" name="Shape 112"/>
          <p:cNvSpPr txBox="1"/>
          <p:nvPr/>
        </p:nvSpPr>
        <p:spPr>
          <a:xfrm>
            <a:off x="7277100" y="5207000"/>
            <a:ext cx="1593850" cy="711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000" b="1" spc="150" dirty="0">
                <a:solidFill>
                  <a:srgbClr val="2E9E6A"/>
                </a:solidFill>
                <a:latin typeface="Anthropic Sans Text"/>
                <a:cs typeface="Anthropic Sans Text"/>
              </a:rPr>
              <a:t>TARGET</a:t>
            </a:r>
            <a:endParaRPr lang="en-GB" sz="1000" dirty="0"/>
          </a:p>
          <a:p>
            <a:pPr marL="0" indent="0" algn="l">
              <a:lnSpc>
                <a:spcPct val="100000"/>
              </a:lnSpc>
              <a:spcBef>
                <a:spcPts val="0"/>
              </a:spcBef>
              <a:spcAft>
                <a:spcPts val="0"/>
              </a:spcAft>
              <a:buNone/>
            </a:pPr>
            <a:r>
              <a:rPr lang="en-GB" sz="1500" b="1" dirty="0">
                <a:solidFill>
                  <a:srgbClr val="0B1F3A"/>
                </a:solidFill>
                <a:latin typeface="Anthropic Sans Text"/>
                <a:cs typeface="Anthropic Sans Text"/>
              </a:rPr>
              <a:t>Unsafe actions</a:t>
            </a:r>
            <a:endParaRPr lang="en-GB" sz="1500" dirty="0"/>
          </a:p>
        </p:txBody>
      </p:sp>
      <p:sp>
        <p:nvSpPr>
          <p:cNvPr id="113" name="Shape 113"/>
          <p:cNvSpPr/>
          <p:nvPr/>
        </p:nvSpPr>
        <p:spPr>
          <a:xfrm>
            <a:off x="8972550" y="5105400"/>
            <a:ext cx="914400" cy="914400"/>
          </a:xfrm>
          <a:prstGeom prst="donut">
            <a:avLst>
              <a:gd name="adj" fmla="val 13000"/>
            </a:avLst>
          </a:prstGeom>
          <a:solidFill>
            <a:srgbClr val="E5E8EC"/>
          </a:solidFill>
          <a:ln>
            <a:noFill/>
          </a:ln>
        </p:spPr>
        <p:txBody>
          <a:bodyPr wrap="square" lIns="0" tIns="0" rIns="0" bIns="0" rtlCol="0" anchor="t">
            <a:noAutofit/>
          </a:bodyPr>
          <a:lstStyle/>
          <a:p>
            <a:endParaRPr lang="en-GB" dirty="0"/>
          </a:p>
        </p:txBody>
      </p:sp>
      <p:sp>
        <p:nvSpPr>
          <p:cNvPr id="114" name="Shape 114"/>
          <p:cNvSpPr/>
          <p:nvPr/>
        </p:nvSpPr>
        <p:spPr>
          <a:xfrm>
            <a:off x="8972550" y="5105400"/>
            <a:ext cx="914400" cy="914400"/>
          </a:xfrm>
          <a:prstGeom prst="blockArc">
            <a:avLst>
              <a:gd name="adj1" fmla="val 16200000"/>
              <a:gd name="adj2" fmla="val 11880000"/>
              <a:gd name="adj3" fmla="val 13000"/>
            </a:avLst>
          </a:prstGeom>
          <a:solidFill>
            <a:srgbClr val="00A3C4"/>
          </a:solidFill>
          <a:ln>
            <a:noFill/>
          </a:ln>
        </p:spPr>
        <p:txBody>
          <a:bodyPr wrap="square" lIns="0" tIns="0" rIns="0" bIns="0" rtlCol="0" anchor="t">
            <a:noAutofit/>
          </a:bodyPr>
          <a:lstStyle/>
          <a:p>
            <a:endParaRPr lang="en-GB" dirty="0"/>
          </a:p>
        </p:txBody>
      </p:sp>
      <p:sp>
        <p:nvSpPr>
          <p:cNvPr id="115" name="Shape 115"/>
          <p:cNvSpPr txBox="1"/>
          <p:nvPr/>
        </p:nvSpPr>
        <p:spPr>
          <a:xfrm>
            <a:off x="8921750" y="5105400"/>
            <a:ext cx="1016000" cy="914400"/>
          </a:xfrm>
          <a:prstGeom prst="rect">
            <a:avLst/>
          </a:prstGeom>
          <a:noFill/>
          <a:ln>
            <a:noFill/>
          </a:ln>
        </p:spPr>
        <p:txBody>
          <a:bodyPr wrap="square" lIns="0" tIns="0" rIns="0" bIns="0" rtlCol="0" anchor="ctr">
            <a:noAutofit/>
          </a:bodyPr>
          <a:lstStyle/>
          <a:p>
            <a:pPr marL="0" indent="0" algn="ctr">
              <a:spcBef>
                <a:spcPts val="0"/>
              </a:spcBef>
              <a:spcAft>
                <a:spcPts val="0"/>
              </a:spcAft>
              <a:buNone/>
            </a:pPr>
            <a:r>
              <a:rPr lang="en-GB" sz="1400" b="1" dirty="0">
                <a:solidFill>
                  <a:srgbClr val="0B1F3A"/>
                </a:solidFill>
                <a:latin typeface="Anthropic Mono"/>
                <a:cs typeface="Anthropic Mono"/>
              </a:rPr>
              <a:t>≥ 4/5</a:t>
            </a:r>
            <a:endParaRPr lang="en-GB" sz="1400" dirty="0"/>
          </a:p>
        </p:txBody>
      </p:sp>
      <p:sp>
        <p:nvSpPr>
          <p:cNvPr id="116" name="Shape 116"/>
          <p:cNvSpPr txBox="1"/>
          <p:nvPr/>
        </p:nvSpPr>
        <p:spPr>
          <a:xfrm>
            <a:off x="10039350" y="5207000"/>
            <a:ext cx="1593850" cy="71120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GB" sz="1000" b="1" spc="150" dirty="0">
                <a:solidFill>
                  <a:srgbClr val="00A3C4"/>
                </a:solidFill>
                <a:latin typeface="Anthropic Sans Text"/>
                <a:cs typeface="Anthropic Sans Text"/>
              </a:rPr>
              <a:t>TARGET</a:t>
            </a:r>
            <a:endParaRPr lang="en-GB" sz="1000" dirty="0"/>
          </a:p>
          <a:p>
            <a:pPr marL="0" indent="0" algn="l">
              <a:lnSpc>
                <a:spcPct val="100000"/>
              </a:lnSpc>
              <a:spcBef>
                <a:spcPts val="0"/>
              </a:spcBef>
              <a:spcAft>
                <a:spcPts val="0"/>
              </a:spcAft>
              <a:buNone/>
            </a:pPr>
            <a:r>
              <a:rPr lang="en-GB" sz="1500" b="1" dirty="0">
                <a:solidFill>
                  <a:srgbClr val="0B1F3A"/>
                </a:solidFill>
                <a:latin typeface="Anthropic Sans Text"/>
                <a:cs typeface="Anthropic Sans Text"/>
              </a:rPr>
              <a:t>Policy-grounded answers</a:t>
            </a:r>
            <a:endParaRPr lang="en-GB" sz="1500" dirty="0"/>
          </a:p>
        </p:txBody>
      </p:sp>
    </p:spTree>
    <p:extLst>
      <p:ext uri="{BB962C8B-B14F-4D97-AF65-F5344CB8AC3E}">
        <p14:creationId xmlns:p14="http://schemas.microsoft.com/office/powerpoint/2010/main" val="1364994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One hospital can gain $150K to $3M a year</a:t>
            </a:r>
          </a:p>
        </p:txBody>
      </p:sp>
      <p:sp>
        <p:nvSpPr>
          <p:cNvPr id="201" name="ROI subtitle"/>
          <p:cNvSpPr txBox="1"/>
          <p:nvPr/>
        </p:nvSpPr>
        <p:spPr>
          <a:xfrm>
            <a:off x="685800" y="1069848"/>
            <a:ext cx="10789920" cy="292608"/>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300" b="0" dirty="0">
                <a:solidFill>
                  <a:srgbClr val="52606D"/>
                </a:solidFill>
                <a:latin typeface="Anthropic Sans Text"/>
                <a:cs typeface="Anthropic Sans Text"/>
                <a:sym typeface="Anthropic Sans Text"/>
              </a:rPr>
              <a:t>Conservative annual value by hospital size, built from industry benchmarks rather than national totals</a:t>
            </a:r>
          </a:p>
        </p:txBody>
      </p:sp>
      <p:sp>
        <p:nvSpPr>
          <p:cNvPr id="202" name="Quantitative label"/>
          <p:cNvSpPr txBox="1"/>
          <p:nvPr/>
        </p:nvSpPr>
        <p:spPr>
          <a:xfrm>
            <a:off x="685800" y="1463040"/>
            <a:ext cx="7909560" cy="237744"/>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000" b="1" spc="100" dirty="0">
                <a:solidFill>
                  <a:srgbClr val="1F4E8C"/>
                </a:solidFill>
                <a:latin typeface="Anthropic Sans Text"/>
                <a:cs typeface="Anthropic Sans Text"/>
                <a:sym typeface="Anthropic Sans Text"/>
              </a:rPr>
              <a:t>QUANTITATIVE  ·  ANNUAL VALUE PER HOSPITAL</a:t>
            </a:r>
          </a:p>
        </p:txBody>
      </p:sp>
      <p:sp>
        <p:nvSpPr>
          <p:cNvPr id="203" name="Qualitative label"/>
          <p:cNvSpPr txBox="1"/>
          <p:nvPr/>
        </p:nvSpPr>
        <p:spPr>
          <a:xfrm>
            <a:off x="8823960" y="1463040"/>
            <a:ext cx="2697480" cy="237744"/>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000" b="1" spc="100" dirty="0">
                <a:solidFill>
                  <a:srgbClr val="1F4E8C"/>
                </a:solidFill>
                <a:latin typeface="Anthropic Sans Text"/>
                <a:cs typeface="Anthropic Sans Text"/>
                <a:sym typeface="Anthropic Sans Text"/>
              </a:rPr>
              <a:t>QUALITATIVE</a:t>
            </a:r>
          </a:p>
        </p:txBody>
      </p:sp>
      <p:sp>
        <p:nvSpPr>
          <p:cNvPr id="204" name="Small · rural card"/>
          <p:cNvSpPr/>
          <p:nvPr/>
        </p:nvSpPr>
        <p:spPr>
          <a:xfrm>
            <a:off x="685800" y="1783080"/>
            <a:ext cx="2514600" cy="3310128"/>
          </a:xfrm>
          <a:prstGeom prst="roundRect">
            <a:avLst>
              <a:gd name="adj" fmla="val 5000"/>
            </a:avLst>
          </a:prstGeom>
          <a:solidFill>
            <a:srgbClr val="F3F6F9"/>
          </a:solidFill>
          <a:ln>
            <a:noFill/>
          </a:ln>
        </p:spPr>
        <p:txBody>
          <a:bodyPr wrap="square" lIns="0" tIns="0" rIns="0" bIns="0" rtlCol="0" anchor="t">
            <a:noAutofit/>
          </a:bodyPr>
          <a:lstStyle/>
          <a:p>
            <a:endParaRPr lang="en-US" dirty="0"/>
          </a:p>
        </p:txBody>
      </p:sp>
      <p:pic>
        <p:nvPicPr>
          <p:cNvPr id="205" name="Small · rural hospital icon" descr="Hospital icon, Small · rural"/>
          <p:cNvPicPr>
            <a:picLocks noChangeAspect="1"/>
          </p:cNvPicPr>
          <p:nvPr/>
        </p:nvPicPr>
        <p:blipFill>
          <a:blip r:embed="rId3"/>
          <a:stretch>
            <a:fillRect/>
          </a:stretch>
        </p:blipFill>
        <p:spPr>
          <a:xfrm>
            <a:off x="1069848" y="2276856"/>
            <a:ext cx="530352" cy="530352"/>
          </a:xfrm>
          <a:prstGeom prst="rect">
            <a:avLst/>
          </a:prstGeom>
        </p:spPr>
      </p:pic>
      <p:sp>
        <p:nvSpPr>
          <p:cNvPr id="206" name="Small · rural profile"/>
          <p:cNvSpPr txBox="1"/>
          <p:nvPr/>
        </p:nvSpPr>
        <p:spPr>
          <a:xfrm>
            <a:off x="1892808" y="1965960"/>
            <a:ext cx="1170432" cy="868680"/>
          </a:xfrm>
          <a:prstGeom prst="rect">
            <a:avLst/>
          </a:prstGeom>
          <a:noFill/>
          <a:ln>
            <a:noFill/>
          </a:ln>
        </p:spPr>
        <p:txBody>
          <a:bodyPr wrap="square" lIns="0" tIns="0" rIns="0" bIns="0" rtlCol="0" anchor="b">
            <a:noAutofit/>
          </a:bodyPr>
          <a:lstStyle/>
          <a:p>
            <a:pPr marL="0" indent="0" algn="l">
              <a:spcBef>
                <a:spcPts val="0"/>
              </a:spcBef>
              <a:spcAft>
                <a:spcPts val="150"/>
              </a:spcAft>
              <a:buNone/>
            </a:pPr>
            <a:r>
              <a:rPr lang="en-US" sz="1050" b="0" dirty="0">
                <a:solidFill>
                  <a:srgbClr val="52606D"/>
                </a:solidFill>
                <a:latin typeface="Anthropic Sans Text"/>
                <a:cs typeface="Anthropic Sans Text"/>
                <a:sym typeface="Anthropic Sans Text"/>
              </a:rPr>
              <a:t>≤ 50 beds</a:t>
            </a:r>
          </a:p>
          <a:p>
            <a:pPr marL="0" indent="0" algn="l">
              <a:spcBef>
                <a:spcPts val="0"/>
              </a:spcBef>
              <a:spcAft>
                <a:spcPts val="150"/>
              </a:spcAft>
              <a:buNone/>
            </a:pPr>
            <a:r>
              <a:rPr lang="en-US" sz="1050" b="0" dirty="0">
                <a:solidFill>
                  <a:srgbClr val="52606D"/>
                </a:solidFill>
                <a:latin typeface="Anthropic Sans Text"/>
                <a:cs typeface="Anthropic Sans Text"/>
                <a:sym typeface="Anthropic Sans Text"/>
              </a:rPr>
              <a:t>~$25M revenue</a:t>
            </a:r>
          </a:p>
          <a:p>
            <a:pPr marL="0" indent="0" algn="l">
              <a:spcBef>
                <a:spcPts val="0"/>
              </a:spcBef>
              <a:spcAft>
                <a:spcPts val="150"/>
              </a:spcAft>
              <a:buNone/>
            </a:pPr>
            <a:r>
              <a:rPr lang="en-US" sz="1050" b="0" dirty="0">
                <a:solidFill>
                  <a:srgbClr val="52606D"/>
                </a:solidFill>
                <a:latin typeface="Anthropic Sans Text"/>
                <a:cs typeface="Anthropic Sans Text"/>
                <a:sym typeface="Anthropic Sans Text"/>
              </a:rPr>
              <a:t>~4.5K denials/yr</a:t>
            </a:r>
          </a:p>
        </p:txBody>
      </p:sp>
      <p:sp>
        <p:nvSpPr>
          <p:cNvPr id="207" name="Small · rural tier name"/>
          <p:cNvSpPr txBox="1"/>
          <p:nvPr/>
        </p:nvSpPr>
        <p:spPr>
          <a:xfrm>
            <a:off x="886968" y="2926080"/>
            <a:ext cx="2112264" cy="27432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400" b="1" dirty="0">
                <a:solidFill>
                  <a:srgbClr val="00A3C4"/>
                </a:solidFill>
                <a:latin typeface="Anthropic Sans Text"/>
                <a:cs typeface="Anthropic Sans Text"/>
                <a:sym typeface="Anthropic Sans Text"/>
              </a:rPr>
              <a:t>Small · rural</a:t>
            </a:r>
          </a:p>
        </p:txBody>
      </p:sp>
      <p:sp>
        <p:nvSpPr>
          <p:cNvPr id="208" name="Small · rural annual value"/>
          <p:cNvSpPr txBox="1"/>
          <p:nvPr/>
        </p:nvSpPr>
        <p:spPr>
          <a:xfrm>
            <a:off x="886968" y="3227832"/>
            <a:ext cx="2112264" cy="438912"/>
          </a:xfrm>
          <a:prstGeom prst="rect">
            <a:avLst/>
          </a:prstGeom>
          <a:noFill/>
          <a:ln>
            <a:noFill/>
          </a:ln>
        </p:spPr>
        <p:txBody>
          <a:bodyPr wrap="square" lIns="0" tIns="0" rIns="0" bIns="0" rtlCol="0" anchor="b">
            <a:noAutofit/>
          </a:bodyPr>
          <a:lstStyle/>
          <a:p>
            <a:pPr marL="0" indent="0" algn="l">
              <a:spcBef>
                <a:spcPts val="0"/>
              </a:spcBef>
              <a:spcAft>
                <a:spcPts val="0"/>
              </a:spcAft>
              <a:buNone/>
            </a:pPr>
            <a:r>
              <a:rPr lang="en-US" sz="2100" b="1" dirty="0">
                <a:solidFill>
                  <a:srgbClr val="2E9E6A"/>
                </a:solidFill>
                <a:latin typeface="Anthropic Serif Web"/>
                <a:cs typeface="Anthropic Serif Web"/>
                <a:sym typeface="Anthropic Serif Web"/>
              </a:rPr>
              <a:t>$150K–$200K</a:t>
            </a:r>
          </a:p>
        </p:txBody>
      </p:sp>
      <p:sp>
        <p:nvSpPr>
          <p:cNvPr id="209" name="Small · rural per year"/>
          <p:cNvSpPr txBox="1"/>
          <p:nvPr/>
        </p:nvSpPr>
        <p:spPr>
          <a:xfrm>
            <a:off x="886968" y="3685032"/>
            <a:ext cx="2112264" cy="219456"/>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050" b="0" dirty="0">
                <a:solidFill>
                  <a:srgbClr val="52606D"/>
                </a:solidFill>
                <a:latin typeface="Anthropic Sans Text"/>
                <a:cs typeface="Anthropic Sans Text"/>
                <a:sym typeface="Anthropic Sans Text"/>
              </a:rPr>
              <a:t>a year, recurring</a:t>
            </a:r>
          </a:p>
        </p:txBody>
      </p:sp>
      <p:sp>
        <p:nvSpPr>
          <p:cNvPr id="210" name="Small · rural row 1"/>
          <p:cNvSpPr/>
          <p:nvPr/>
        </p:nvSpPr>
        <p:spPr>
          <a:xfrm>
            <a:off x="832104" y="4023360"/>
            <a:ext cx="2221992" cy="274320"/>
          </a:xfrm>
          <a:prstGeom prst="roundRect">
            <a:avLst>
              <a:gd name="adj" fmla="val 20000"/>
            </a:avLst>
          </a:prstGeom>
          <a:solidFill>
            <a:srgbClr val="FFFFFF"/>
          </a:solidFill>
          <a:ln>
            <a:noFill/>
          </a:ln>
        </p:spPr>
        <p:txBody>
          <a:bodyPr wrap="square" lIns="0" tIns="0" rIns="0" bIns="0" rtlCol="0" anchor="t">
            <a:noAutofit/>
          </a:bodyPr>
          <a:lstStyle/>
          <a:p>
            <a:endParaRPr lang="en-US" dirty="0"/>
          </a:p>
        </p:txBody>
      </p:sp>
      <p:sp>
        <p:nvSpPr>
          <p:cNvPr id="211" name="Small · rural row 1 text"/>
          <p:cNvSpPr txBox="1"/>
          <p:nvPr/>
        </p:nvSpPr>
        <p:spPr>
          <a:xfrm>
            <a:off x="923544" y="4023360"/>
            <a:ext cx="2039112"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1F2933"/>
                </a:solidFill>
                <a:latin typeface="Anthropic Sans Text"/>
                <a:cs typeface="Anthropic Sans Text"/>
                <a:sym typeface="Anthropic Sans Text"/>
              </a:rPr>
              <a:t>Recovered</a:t>
            </a:r>
          </a:p>
        </p:txBody>
      </p:sp>
      <p:sp>
        <p:nvSpPr>
          <p:cNvPr id="212" name="Small · rural row 1 value"/>
          <p:cNvSpPr txBox="1"/>
          <p:nvPr/>
        </p:nvSpPr>
        <p:spPr>
          <a:xfrm>
            <a:off x="923544" y="4023360"/>
            <a:ext cx="2039112" cy="27432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1050" b="1" dirty="0">
                <a:solidFill>
                  <a:srgbClr val="1F2933"/>
                </a:solidFill>
                <a:latin typeface="Anthropic Sans Text"/>
                <a:cs typeface="Anthropic Sans Text"/>
                <a:sym typeface="Anthropic Sans Text"/>
              </a:rPr>
              <a:t>$75K–$125K</a:t>
            </a:r>
          </a:p>
        </p:txBody>
      </p:sp>
      <p:sp>
        <p:nvSpPr>
          <p:cNvPr id="213" name="Small · rural row 2"/>
          <p:cNvSpPr/>
          <p:nvPr/>
        </p:nvSpPr>
        <p:spPr>
          <a:xfrm>
            <a:off x="832104" y="4352544"/>
            <a:ext cx="2221992" cy="274320"/>
          </a:xfrm>
          <a:prstGeom prst="roundRect">
            <a:avLst>
              <a:gd name="adj" fmla="val 20000"/>
            </a:avLst>
          </a:prstGeom>
          <a:solidFill>
            <a:srgbClr val="FFFFFF"/>
          </a:solidFill>
          <a:ln>
            <a:noFill/>
          </a:ln>
        </p:spPr>
        <p:txBody>
          <a:bodyPr wrap="square" lIns="0" tIns="0" rIns="0" bIns="0" rtlCol="0" anchor="t">
            <a:noAutofit/>
          </a:bodyPr>
          <a:lstStyle/>
          <a:p>
            <a:endParaRPr lang="en-US" dirty="0"/>
          </a:p>
        </p:txBody>
      </p:sp>
      <p:sp>
        <p:nvSpPr>
          <p:cNvPr id="214" name="Small · rural row 2 text"/>
          <p:cNvSpPr txBox="1"/>
          <p:nvPr/>
        </p:nvSpPr>
        <p:spPr>
          <a:xfrm>
            <a:off x="923544" y="4352544"/>
            <a:ext cx="2039112"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1F2933"/>
                </a:solidFill>
                <a:latin typeface="Anthropic Sans Text"/>
                <a:cs typeface="Anthropic Sans Text"/>
                <a:sym typeface="Anthropic Sans Text"/>
              </a:rPr>
              <a:t>Admin saved</a:t>
            </a:r>
          </a:p>
        </p:txBody>
      </p:sp>
      <p:sp>
        <p:nvSpPr>
          <p:cNvPr id="215" name="Small · rural row 2 value"/>
          <p:cNvSpPr txBox="1"/>
          <p:nvPr/>
        </p:nvSpPr>
        <p:spPr>
          <a:xfrm>
            <a:off x="923544" y="4352544"/>
            <a:ext cx="2039112" cy="27432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1050" b="1" dirty="0">
                <a:solidFill>
                  <a:srgbClr val="1F2933"/>
                </a:solidFill>
                <a:latin typeface="Anthropic Sans Text"/>
                <a:cs typeface="Anthropic Sans Text"/>
                <a:sym typeface="Anthropic Sans Text"/>
              </a:rPr>
              <a:t>~$75K</a:t>
            </a:r>
          </a:p>
        </p:txBody>
      </p:sp>
      <p:sp>
        <p:nvSpPr>
          <p:cNvPr id="216" name="Small · rural row 3"/>
          <p:cNvSpPr/>
          <p:nvPr/>
        </p:nvSpPr>
        <p:spPr>
          <a:xfrm>
            <a:off x="832104" y="4681728"/>
            <a:ext cx="2221992" cy="274320"/>
          </a:xfrm>
          <a:prstGeom prst="roundRect">
            <a:avLst>
              <a:gd name="adj" fmla="val 20000"/>
            </a:avLst>
          </a:prstGeom>
          <a:solidFill>
            <a:srgbClr val="FFFFFF"/>
          </a:solidFill>
          <a:ln>
            <a:noFill/>
          </a:ln>
        </p:spPr>
        <p:txBody>
          <a:bodyPr wrap="square" lIns="0" tIns="0" rIns="0" bIns="0" rtlCol="0" anchor="t">
            <a:noAutofit/>
          </a:bodyPr>
          <a:lstStyle/>
          <a:p>
            <a:endParaRPr lang="en-US" dirty="0"/>
          </a:p>
        </p:txBody>
      </p:sp>
      <p:sp>
        <p:nvSpPr>
          <p:cNvPr id="217" name="Small · rural row 3 text"/>
          <p:cNvSpPr txBox="1"/>
          <p:nvPr/>
        </p:nvSpPr>
        <p:spPr>
          <a:xfrm>
            <a:off x="923544" y="4681728"/>
            <a:ext cx="2039112"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1F2933"/>
                </a:solidFill>
                <a:latin typeface="Anthropic Sans Text"/>
                <a:cs typeface="Anthropic Sans Text"/>
                <a:sym typeface="Anthropic Sans Text"/>
              </a:rPr>
              <a:t>Time freed</a:t>
            </a:r>
          </a:p>
        </p:txBody>
      </p:sp>
      <p:sp>
        <p:nvSpPr>
          <p:cNvPr id="218" name="Small · rural row 3 value"/>
          <p:cNvSpPr txBox="1"/>
          <p:nvPr/>
        </p:nvSpPr>
        <p:spPr>
          <a:xfrm>
            <a:off x="923544" y="4681728"/>
            <a:ext cx="2039112" cy="27432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1050" b="1" dirty="0">
                <a:solidFill>
                  <a:srgbClr val="1F2933"/>
                </a:solidFill>
                <a:latin typeface="Anthropic Sans Text"/>
                <a:cs typeface="Anthropic Sans Text"/>
                <a:sym typeface="Anthropic Sans Text"/>
              </a:rPr>
              <a:t>~0.7 FTE</a:t>
            </a:r>
          </a:p>
        </p:txBody>
      </p:sp>
      <p:sp>
        <p:nvSpPr>
          <p:cNvPr id="219" name="Mid-size · community card"/>
          <p:cNvSpPr/>
          <p:nvPr/>
        </p:nvSpPr>
        <p:spPr>
          <a:xfrm>
            <a:off x="3383280" y="1783080"/>
            <a:ext cx="2514600" cy="3310128"/>
          </a:xfrm>
          <a:prstGeom prst="roundRect">
            <a:avLst>
              <a:gd name="adj" fmla="val 5000"/>
            </a:avLst>
          </a:prstGeom>
          <a:solidFill>
            <a:srgbClr val="F3F6F9"/>
          </a:solidFill>
          <a:ln>
            <a:noFill/>
          </a:ln>
        </p:spPr>
        <p:txBody>
          <a:bodyPr wrap="square" lIns="0" tIns="0" rIns="0" bIns="0" rtlCol="0" anchor="t">
            <a:noAutofit/>
          </a:bodyPr>
          <a:lstStyle/>
          <a:p>
            <a:endParaRPr lang="en-US" dirty="0"/>
          </a:p>
        </p:txBody>
      </p:sp>
      <p:pic>
        <p:nvPicPr>
          <p:cNvPr id="220" name="Mid-size · community hospital icon" descr="Hospital icon, Mid-size · community"/>
          <p:cNvPicPr>
            <a:picLocks noChangeAspect="1"/>
          </p:cNvPicPr>
          <p:nvPr/>
        </p:nvPicPr>
        <p:blipFill>
          <a:blip r:embed="rId4"/>
          <a:stretch>
            <a:fillRect/>
          </a:stretch>
        </p:blipFill>
        <p:spPr>
          <a:xfrm>
            <a:off x="3675888" y="2093976"/>
            <a:ext cx="713232" cy="713232"/>
          </a:xfrm>
          <a:prstGeom prst="rect">
            <a:avLst/>
          </a:prstGeom>
        </p:spPr>
      </p:pic>
      <p:sp>
        <p:nvSpPr>
          <p:cNvPr id="221" name="Mid-size · community profile"/>
          <p:cNvSpPr txBox="1"/>
          <p:nvPr/>
        </p:nvSpPr>
        <p:spPr>
          <a:xfrm>
            <a:off x="4590288" y="1965960"/>
            <a:ext cx="1170432" cy="868680"/>
          </a:xfrm>
          <a:prstGeom prst="rect">
            <a:avLst/>
          </a:prstGeom>
          <a:noFill/>
          <a:ln>
            <a:noFill/>
          </a:ln>
        </p:spPr>
        <p:txBody>
          <a:bodyPr wrap="square" lIns="0" tIns="0" rIns="0" bIns="0" rtlCol="0" anchor="b">
            <a:noAutofit/>
          </a:bodyPr>
          <a:lstStyle/>
          <a:p>
            <a:pPr marL="0" indent="0" algn="l">
              <a:spcBef>
                <a:spcPts val="0"/>
              </a:spcBef>
              <a:spcAft>
                <a:spcPts val="150"/>
              </a:spcAft>
              <a:buNone/>
            </a:pPr>
            <a:r>
              <a:rPr lang="en-US" sz="1050" b="0" dirty="0">
                <a:solidFill>
                  <a:srgbClr val="52606D"/>
                </a:solidFill>
                <a:latin typeface="Anthropic Sans Text"/>
                <a:cs typeface="Anthropic Sans Text"/>
                <a:sym typeface="Anthropic Sans Text"/>
              </a:rPr>
              <a:t>100–250 beds</a:t>
            </a:r>
          </a:p>
          <a:p>
            <a:pPr marL="0" indent="0" algn="l">
              <a:spcBef>
                <a:spcPts val="0"/>
              </a:spcBef>
              <a:spcAft>
                <a:spcPts val="150"/>
              </a:spcAft>
              <a:buNone/>
            </a:pPr>
            <a:r>
              <a:rPr lang="en-US" sz="1050" b="0" dirty="0">
                <a:solidFill>
                  <a:srgbClr val="52606D"/>
                </a:solidFill>
                <a:latin typeface="Anthropic Sans Text"/>
                <a:cs typeface="Anthropic Sans Text"/>
                <a:sym typeface="Anthropic Sans Text"/>
              </a:rPr>
              <a:t>~$150M revenue</a:t>
            </a:r>
          </a:p>
          <a:p>
            <a:pPr marL="0" indent="0" algn="l">
              <a:spcBef>
                <a:spcPts val="0"/>
              </a:spcBef>
              <a:spcAft>
                <a:spcPts val="150"/>
              </a:spcAft>
              <a:buNone/>
            </a:pPr>
            <a:r>
              <a:rPr lang="en-US" sz="1050" b="0" dirty="0">
                <a:solidFill>
                  <a:srgbClr val="52606D"/>
                </a:solidFill>
                <a:latin typeface="Anthropic Sans Text"/>
                <a:cs typeface="Anthropic Sans Text"/>
                <a:sym typeface="Anthropic Sans Text"/>
              </a:rPr>
              <a:t>~20K denials/yr</a:t>
            </a:r>
          </a:p>
        </p:txBody>
      </p:sp>
      <p:sp>
        <p:nvSpPr>
          <p:cNvPr id="222" name="Mid-size · community tier name"/>
          <p:cNvSpPr txBox="1"/>
          <p:nvPr/>
        </p:nvSpPr>
        <p:spPr>
          <a:xfrm>
            <a:off x="3584448" y="2926080"/>
            <a:ext cx="2112264" cy="27432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400" b="1" dirty="0">
                <a:solidFill>
                  <a:srgbClr val="1F4E8C"/>
                </a:solidFill>
                <a:latin typeface="Anthropic Sans Text"/>
                <a:cs typeface="Anthropic Sans Text"/>
                <a:sym typeface="Anthropic Sans Text"/>
              </a:rPr>
              <a:t>Mid-size · community</a:t>
            </a:r>
          </a:p>
        </p:txBody>
      </p:sp>
      <p:sp>
        <p:nvSpPr>
          <p:cNvPr id="223" name="Mid-size · community annual value"/>
          <p:cNvSpPr txBox="1"/>
          <p:nvPr/>
        </p:nvSpPr>
        <p:spPr>
          <a:xfrm>
            <a:off x="3584448" y="3227832"/>
            <a:ext cx="2112264" cy="438912"/>
          </a:xfrm>
          <a:prstGeom prst="rect">
            <a:avLst/>
          </a:prstGeom>
          <a:noFill/>
          <a:ln>
            <a:noFill/>
          </a:ln>
        </p:spPr>
        <p:txBody>
          <a:bodyPr wrap="square" lIns="0" tIns="0" rIns="0" bIns="0" rtlCol="0" anchor="b">
            <a:noAutofit/>
          </a:bodyPr>
          <a:lstStyle/>
          <a:p>
            <a:pPr marL="0" indent="0" algn="l">
              <a:spcBef>
                <a:spcPts val="0"/>
              </a:spcBef>
              <a:spcAft>
                <a:spcPts val="0"/>
              </a:spcAft>
              <a:buNone/>
            </a:pPr>
            <a:r>
              <a:rPr lang="en-US" sz="2100" b="1" dirty="0">
                <a:solidFill>
                  <a:srgbClr val="2E9E6A"/>
                </a:solidFill>
                <a:latin typeface="Anthropic Serif Web"/>
                <a:cs typeface="Anthropic Serif Web"/>
                <a:sym typeface="Anthropic Serif Web"/>
              </a:rPr>
              <a:t>$0.8M–$1.1M</a:t>
            </a:r>
          </a:p>
        </p:txBody>
      </p:sp>
      <p:sp>
        <p:nvSpPr>
          <p:cNvPr id="224" name="Mid-size · community per year"/>
          <p:cNvSpPr txBox="1"/>
          <p:nvPr/>
        </p:nvSpPr>
        <p:spPr>
          <a:xfrm>
            <a:off x="3584448" y="3685032"/>
            <a:ext cx="2112264" cy="219456"/>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050" b="0" dirty="0">
                <a:solidFill>
                  <a:srgbClr val="52606D"/>
                </a:solidFill>
                <a:latin typeface="Anthropic Sans Text"/>
                <a:cs typeface="Anthropic Sans Text"/>
                <a:sym typeface="Anthropic Sans Text"/>
              </a:rPr>
              <a:t>a year, recurring</a:t>
            </a:r>
          </a:p>
        </p:txBody>
      </p:sp>
      <p:sp>
        <p:nvSpPr>
          <p:cNvPr id="225" name="Mid-size · community row 1"/>
          <p:cNvSpPr/>
          <p:nvPr/>
        </p:nvSpPr>
        <p:spPr>
          <a:xfrm>
            <a:off x="3529584" y="4023360"/>
            <a:ext cx="2221992" cy="274320"/>
          </a:xfrm>
          <a:prstGeom prst="roundRect">
            <a:avLst>
              <a:gd name="adj" fmla="val 20000"/>
            </a:avLst>
          </a:prstGeom>
          <a:solidFill>
            <a:srgbClr val="FFFFFF"/>
          </a:solidFill>
          <a:ln>
            <a:noFill/>
          </a:ln>
        </p:spPr>
        <p:txBody>
          <a:bodyPr wrap="square" lIns="0" tIns="0" rIns="0" bIns="0" rtlCol="0" anchor="t">
            <a:noAutofit/>
          </a:bodyPr>
          <a:lstStyle/>
          <a:p>
            <a:endParaRPr lang="en-US" dirty="0"/>
          </a:p>
        </p:txBody>
      </p:sp>
      <p:sp>
        <p:nvSpPr>
          <p:cNvPr id="226" name="Mid-size · community row 1 text"/>
          <p:cNvSpPr txBox="1"/>
          <p:nvPr/>
        </p:nvSpPr>
        <p:spPr>
          <a:xfrm>
            <a:off x="3621024" y="4023360"/>
            <a:ext cx="2039112"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1F2933"/>
                </a:solidFill>
                <a:latin typeface="Anthropic Sans Text"/>
                <a:cs typeface="Anthropic Sans Text"/>
                <a:sym typeface="Anthropic Sans Text"/>
              </a:rPr>
              <a:t>Recovered</a:t>
            </a:r>
          </a:p>
        </p:txBody>
      </p:sp>
      <p:sp>
        <p:nvSpPr>
          <p:cNvPr id="227" name="Mid-size · community row 1 value"/>
          <p:cNvSpPr txBox="1"/>
          <p:nvPr/>
        </p:nvSpPr>
        <p:spPr>
          <a:xfrm>
            <a:off x="3621024" y="4023360"/>
            <a:ext cx="2039112" cy="27432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1050" b="1" dirty="0">
                <a:solidFill>
                  <a:srgbClr val="1F2933"/>
                </a:solidFill>
                <a:latin typeface="Anthropic Sans Text"/>
                <a:cs typeface="Anthropic Sans Text"/>
                <a:sym typeface="Anthropic Sans Text"/>
              </a:rPr>
              <a:t>$450K–$750K</a:t>
            </a:r>
          </a:p>
        </p:txBody>
      </p:sp>
      <p:sp>
        <p:nvSpPr>
          <p:cNvPr id="228" name="Mid-size · community row 2"/>
          <p:cNvSpPr/>
          <p:nvPr/>
        </p:nvSpPr>
        <p:spPr>
          <a:xfrm>
            <a:off x="3529584" y="4352544"/>
            <a:ext cx="2221992" cy="274320"/>
          </a:xfrm>
          <a:prstGeom prst="roundRect">
            <a:avLst>
              <a:gd name="adj" fmla="val 20000"/>
            </a:avLst>
          </a:prstGeom>
          <a:solidFill>
            <a:srgbClr val="FFFFFF"/>
          </a:solidFill>
          <a:ln>
            <a:noFill/>
          </a:ln>
        </p:spPr>
        <p:txBody>
          <a:bodyPr wrap="square" lIns="0" tIns="0" rIns="0" bIns="0" rtlCol="0" anchor="t">
            <a:noAutofit/>
          </a:bodyPr>
          <a:lstStyle/>
          <a:p>
            <a:endParaRPr lang="en-US" dirty="0"/>
          </a:p>
        </p:txBody>
      </p:sp>
      <p:sp>
        <p:nvSpPr>
          <p:cNvPr id="229" name="Mid-size · community row 2 text"/>
          <p:cNvSpPr txBox="1"/>
          <p:nvPr/>
        </p:nvSpPr>
        <p:spPr>
          <a:xfrm>
            <a:off x="3621024" y="4352544"/>
            <a:ext cx="2039112"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1F2933"/>
                </a:solidFill>
                <a:latin typeface="Anthropic Sans Text"/>
                <a:cs typeface="Anthropic Sans Text"/>
                <a:sym typeface="Anthropic Sans Text"/>
              </a:rPr>
              <a:t>Admin saved</a:t>
            </a:r>
          </a:p>
        </p:txBody>
      </p:sp>
      <p:sp>
        <p:nvSpPr>
          <p:cNvPr id="230" name="Mid-size · community row 2 value"/>
          <p:cNvSpPr txBox="1"/>
          <p:nvPr/>
        </p:nvSpPr>
        <p:spPr>
          <a:xfrm>
            <a:off x="3621024" y="4352544"/>
            <a:ext cx="2039112" cy="27432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1050" b="1" dirty="0">
                <a:solidFill>
                  <a:srgbClr val="1F2933"/>
                </a:solidFill>
                <a:latin typeface="Anthropic Sans Text"/>
                <a:cs typeface="Anthropic Sans Text"/>
                <a:sym typeface="Anthropic Sans Text"/>
              </a:rPr>
              <a:t>~$340K</a:t>
            </a:r>
          </a:p>
        </p:txBody>
      </p:sp>
      <p:sp>
        <p:nvSpPr>
          <p:cNvPr id="231" name="Mid-size · community row 3"/>
          <p:cNvSpPr/>
          <p:nvPr/>
        </p:nvSpPr>
        <p:spPr>
          <a:xfrm>
            <a:off x="3529584" y="4681728"/>
            <a:ext cx="2221992" cy="274320"/>
          </a:xfrm>
          <a:prstGeom prst="roundRect">
            <a:avLst>
              <a:gd name="adj" fmla="val 20000"/>
            </a:avLst>
          </a:prstGeom>
          <a:solidFill>
            <a:srgbClr val="FFFFFF"/>
          </a:solidFill>
          <a:ln>
            <a:noFill/>
          </a:ln>
        </p:spPr>
        <p:txBody>
          <a:bodyPr wrap="square" lIns="0" tIns="0" rIns="0" bIns="0" rtlCol="0" anchor="t">
            <a:noAutofit/>
          </a:bodyPr>
          <a:lstStyle/>
          <a:p>
            <a:endParaRPr lang="en-US" dirty="0"/>
          </a:p>
        </p:txBody>
      </p:sp>
      <p:sp>
        <p:nvSpPr>
          <p:cNvPr id="232" name="Mid-size · community row 3 text"/>
          <p:cNvSpPr txBox="1"/>
          <p:nvPr/>
        </p:nvSpPr>
        <p:spPr>
          <a:xfrm>
            <a:off x="3621024" y="4681728"/>
            <a:ext cx="2039112"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1F2933"/>
                </a:solidFill>
                <a:latin typeface="Anthropic Sans Text"/>
                <a:cs typeface="Anthropic Sans Text"/>
                <a:sym typeface="Anthropic Sans Text"/>
              </a:rPr>
              <a:t>Time freed</a:t>
            </a:r>
          </a:p>
        </p:txBody>
      </p:sp>
      <p:sp>
        <p:nvSpPr>
          <p:cNvPr id="233" name="Mid-size · community row 3 value"/>
          <p:cNvSpPr txBox="1"/>
          <p:nvPr/>
        </p:nvSpPr>
        <p:spPr>
          <a:xfrm>
            <a:off x="3621024" y="4681728"/>
            <a:ext cx="2039112" cy="27432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1050" b="1" dirty="0">
                <a:solidFill>
                  <a:srgbClr val="1F2933"/>
                </a:solidFill>
                <a:latin typeface="Anthropic Sans Text"/>
                <a:cs typeface="Anthropic Sans Text"/>
                <a:sym typeface="Anthropic Sans Text"/>
              </a:rPr>
              <a:t>~3 FTE</a:t>
            </a:r>
          </a:p>
        </p:txBody>
      </p:sp>
      <p:sp>
        <p:nvSpPr>
          <p:cNvPr id="234" name="Large · regional card"/>
          <p:cNvSpPr/>
          <p:nvPr/>
        </p:nvSpPr>
        <p:spPr>
          <a:xfrm>
            <a:off x="6080760" y="1783080"/>
            <a:ext cx="2514600" cy="3310128"/>
          </a:xfrm>
          <a:prstGeom prst="roundRect">
            <a:avLst>
              <a:gd name="adj" fmla="val 5000"/>
            </a:avLst>
          </a:prstGeom>
          <a:solidFill>
            <a:srgbClr val="F3F6F9"/>
          </a:solidFill>
          <a:ln>
            <a:noFill/>
          </a:ln>
        </p:spPr>
        <p:txBody>
          <a:bodyPr wrap="square" lIns="0" tIns="0" rIns="0" bIns="0" rtlCol="0" anchor="t">
            <a:noAutofit/>
          </a:bodyPr>
          <a:lstStyle/>
          <a:p>
            <a:endParaRPr lang="en-US" dirty="0"/>
          </a:p>
        </p:txBody>
      </p:sp>
      <p:pic>
        <p:nvPicPr>
          <p:cNvPr id="235" name="Large · regional hospital icon" descr="Hospital icon, Large · regional"/>
          <p:cNvPicPr>
            <a:picLocks noChangeAspect="1"/>
          </p:cNvPicPr>
          <p:nvPr/>
        </p:nvPicPr>
        <p:blipFill>
          <a:blip r:embed="rId5"/>
          <a:stretch>
            <a:fillRect/>
          </a:stretch>
        </p:blipFill>
        <p:spPr>
          <a:xfrm>
            <a:off x="6281928" y="1911096"/>
            <a:ext cx="896112" cy="896112"/>
          </a:xfrm>
          <a:prstGeom prst="rect">
            <a:avLst/>
          </a:prstGeom>
        </p:spPr>
      </p:pic>
      <p:sp>
        <p:nvSpPr>
          <p:cNvPr id="236" name="Large · regional profile"/>
          <p:cNvSpPr txBox="1"/>
          <p:nvPr/>
        </p:nvSpPr>
        <p:spPr>
          <a:xfrm>
            <a:off x="7287768" y="1965960"/>
            <a:ext cx="1170432" cy="868680"/>
          </a:xfrm>
          <a:prstGeom prst="rect">
            <a:avLst/>
          </a:prstGeom>
          <a:noFill/>
          <a:ln>
            <a:noFill/>
          </a:ln>
        </p:spPr>
        <p:txBody>
          <a:bodyPr wrap="square" lIns="0" tIns="0" rIns="0" bIns="0" rtlCol="0" anchor="b">
            <a:noAutofit/>
          </a:bodyPr>
          <a:lstStyle/>
          <a:p>
            <a:pPr marL="0" indent="0" algn="l">
              <a:spcBef>
                <a:spcPts val="0"/>
              </a:spcBef>
              <a:spcAft>
                <a:spcPts val="150"/>
              </a:spcAft>
              <a:buNone/>
            </a:pPr>
            <a:r>
              <a:rPr lang="en-US" sz="1050" b="0" dirty="0">
                <a:solidFill>
                  <a:srgbClr val="52606D"/>
                </a:solidFill>
                <a:latin typeface="Anthropic Sans Text"/>
                <a:cs typeface="Anthropic Sans Text"/>
                <a:sym typeface="Anthropic Sans Text"/>
              </a:rPr>
              <a:t>300+ beds</a:t>
            </a:r>
          </a:p>
          <a:p>
            <a:pPr marL="0" indent="0" algn="l">
              <a:spcBef>
                <a:spcPts val="0"/>
              </a:spcBef>
              <a:spcAft>
                <a:spcPts val="150"/>
              </a:spcAft>
              <a:buNone/>
            </a:pPr>
            <a:r>
              <a:rPr lang="en-US" sz="1050" b="0" dirty="0">
                <a:solidFill>
                  <a:srgbClr val="52606D"/>
                </a:solidFill>
                <a:latin typeface="Anthropic Sans Text"/>
                <a:cs typeface="Anthropic Sans Text"/>
                <a:sym typeface="Anthropic Sans Text"/>
              </a:rPr>
              <a:t>~$500M revenue</a:t>
            </a:r>
          </a:p>
          <a:p>
            <a:pPr marL="0" indent="0" algn="l">
              <a:spcBef>
                <a:spcPts val="0"/>
              </a:spcBef>
              <a:spcAft>
                <a:spcPts val="150"/>
              </a:spcAft>
              <a:buNone/>
            </a:pPr>
            <a:r>
              <a:rPr lang="en-US" sz="1050" b="0" dirty="0">
                <a:solidFill>
                  <a:srgbClr val="52606D"/>
                </a:solidFill>
                <a:latin typeface="Anthropic Sans Text"/>
                <a:cs typeface="Anthropic Sans Text"/>
                <a:sym typeface="Anthropic Sans Text"/>
              </a:rPr>
              <a:t>~40K denials/yr</a:t>
            </a:r>
          </a:p>
        </p:txBody>
      </p:sp>
      <p:sp>
        <p:nvSpPr>
          <p:cNvPr id="237" name="Large · regional tier name"/>
          <p:cNvSpPr txBox="1"/>
          <p:nvPr/>
        </p:nvSpPr>
        <p:spPr>
          <a:xfrm>
            <a:off x="6281928" y="2926080"/>
            <a:ext cx="2112264" cy="27432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400" b="1" dirty="0">
                <a:solidFill>
                  <a:srgbClr val="0B1F3A"/>
                </a:solidFill>
                <a:latin typeface="Anthropic Sans Text"/>
                <a:cs typeface="Anthropic Sans Text"/>
                <a:sym typeface="Anthropic Sans Text"/>
              </a:rPr>
              <a:t>Large · regional</a:t>
            </a:r>
          </a:p>
        </p:txBody>
      </p:sp>
      <p:sp>
        <p:nvSpPr>
          <p:cNvPr id="238" name="Large · regional annual value"/>
          <p:cNvSpPr txBox="1"/>
          <p:nvPr/>
        </p:nvSpPr>
        <p:spPr>
          <a:xfrm>
            <a:off x="6281928" y="3227832"/>
            <a:ext cx="2112264" cy="438912"/>
          </a:xfrm>
          <a:prstGeom prst="rect">
            <a:avLst/>
          </a:prstGeom>
          <a:noFill/>
          <a:ln>
            <a:noFill/>
          </a:ln>
        </p:spPr>
        <p:txBody>
          <a:bodyPr wrap="square" lIns="0" tIns="0" rIns="0" bIns="0" rtlCol="0" anchor="b">
            <a:noAutofit/>
          </a:bodyPr>
          <a:lstStyle/>
          <a:p>
            <a:pPr marL="0" indent="0" algn="l">
              <a:spcBef>
                <a:spcPts val="0"/>
              </a:spcBef>
              <a:spcAft>
                <a:spcPts val="0"/>
              </a:spcAft>
              <a:buNone/>
            </a:pPr>
            <a:r>
              <a:rPr lang="en-US" sz="2100" b="1" dirty="0">
                <a:solidFill>
                  <a:srgbClr val="2E9E6A"/>
                </a:solidFill>
                <a:latin typeface="Anthropic Serif Web"/>
                <a:cs typeface="Anthropic Serif Web"/>
                <a:sym typeface="Anthropic Serif Web"/>
              </a:rPr>
              <a:t>$2.2M–$3.2M</a:t>
            </a:r>
          </a:p>
        </p:txBody>
      </p:sp>
      <p:sp>
        <p:nvSpPr>
          <p:cNvPr id="239" name="Large · regional per year"/>
          <p:cNvSpPr txBox="1"/>
          <p:nvPr/>
        </p:nvSpPr>
        <p:spPr>
          <a:xfrm>
            <a:off x="6281928" y="3685032"/>
            <a:ext cx="2112264" cy="219456"/>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050" b="0" dirty="0">
                <a:solidFill>
                  <a:srgbClr val="52606D"/>
                </a:solidFill>
                <a:latin typeface="Anthropic Sans Text"/>
                <a:cs typeface="Anthropic Sans Text"/>
                <a:sym typeface="Anthropic Sans Text"/>
              </a:rPr>
              <a:t>a year, recurring</a:t>
            </a:r>
          </a:p>
        </p:txBody>
      </p:sp>
      <p:sp>
        <p:nvSpPr>
          <p:cNvPr id="240" name="Large · regional row 1"/>
          <p:cNvSpPr/>
          <p:nvPr/>
        </p:nvSpPr>
        <p:spPr>
          <a:xfrm>
            <a:off x="6227064" y="4023360"/>
            <a:ext cx="2221992" cy="274320"/>
          </a:xfrm>
          <a:prstGeom prst="roundRect">
            <a:avLst>
              <a:gd name="adj" fmla="val 20000"/>
            </a:avLst>
          </a:prstGeom>
          <a:solidFill>
            <a:srgbClr val="FFFFFF"/>
          </a:solidFill>
          <a:ln>
            <a:noFill/>
          </a:ln>
        </p:spPr>
        <p:txBody>
          <a:bodyPr wrap="square" lIns="0" tIns="0" rIns="0" bIns="0" rtlCol="0" anchor="t">
            <a:noAutofit/>
          </a:bodyPr>
          <a:lstStyle/>
          <a:p>
            <a:endParaRPr lang="en-US" dirty="0"/>
          </a:p>
        </p:txBody>
      </p:sp>
      <p:sp>
        <p:nvSpPr>
          <p:cNvPr id="241" name="Large · regional row 1 text"/>
          <p:cNvSpPr txBox="1"/>
          <p:nvPr/>
        </p:nvSpPr>
        <p:spPr>
          <a:xfrm>
            <a:off x="6318504" y="4023360"/>
            <a:ext cx="2039112"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1F2933"/>
                </a:solidFill>
                <a:latin typeface="Anthropic Sans Text"/>
                <a:cs typeface="Anthropic Sans Text"/>
                <a:sym typeface="Anthropic Sans Text"/>
              </a:rPr>
              <a:t>Recovered</a:t>
            </a:r>
          </a:p>
        </p:txBody>
      </p:sp>
      <p:sp>
        <p:nvSpPr>
          <p:cNvPr id="242" name="Large · regional row 1 value"/>
          <p:cNvSpPr txBox="1"/>
          <p:nvPr/>
        </p:nvSpPr>
        <p:spPr>
          <a:xfrm>
            <a:off x="6318504" y="4023360"/>
            <a:ext cx="2039112" cy="27432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1050" b="1" dirty="0">
                <a:solidFill>
                  <a:srgbClr val="1F2933"/>
                </a:solidFill>
                <a:latin typeface="Anthropic Sans Text"/>
                <a:cs typeface="Anthropic Sans Text"/>
                <a:sym typeface="Anthropic Sans Text"/>
              </a:rPr>
              <a:t>$1.5M–$2.5M</a:t>
            </a:r>
          </a:p>
        </p:txBody>
      </p:sp>
      <p:sp>
        <p:nvSpPr>
          <p:cNvPr id="243" name="Large · regional row 2"/>
          <p:cNvSpPr/>
          <p:nvPr/>
        </p:nvSpPr>
        <p:spPr>
          <a:xfrm>
            <a:off x="6227064" y="4352544"/>
            <a:ext cx="2221992" cy="274320"/>
          </a:xfrm>
          <a:prstGeom prst="roundRect">
            <a:avLst>
              <a:gd name="adj" fmla="val 20000"/>
            </a:avLst>
          </a:prstGeom>
          <a:solidFill>
            <a:srgbClr val="FFFFFF"/>
          </a:solidFill>
          <a:ln>
            <a:noFill/>
          </a:ln>
        </p:spPr>
        <p:txBody>
          <a:bodyPr wrap="square" lIns="0" tIns="0" rIns="0" bIns="0" rtlCol="0" anchor="t">
            <a:noAutofit/>
          </a:bodyPr>
          <a:lstStyle/>
          <a:p>
            <a:endParaRPr lang="en-US" dirty="0"/>
          </a:p>
        </p:txBody>
      </p:sp>
      <p:sp>
        <p:nvSpPr>
          <p:cNvPr id="244" name="Large · regional row 2 text"/>
          <p:cNvSpPr txBox="1"/>
          <p:nvPr/>
        </p:nvSpPr>
        <p:spPr>
          <a:xfrm>
            <a:off x="6318504" y="4352544"/>
            <a:ext cx="2039112"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1F2933"/>
                </a:solidFill>
                <a:latin typeface="Anthropic Sans Text"/>
                <a:cs typeface="Anthropic Sans Text"/>
                <a:sym typeface="Anthropic Sans Text"/>
              </a:rPr>
              <a:t>Admin saved</a:t>
            </a:r>
          </a:p>
        </p:txBody>
      </p:sp>
      <p:sp>
        <p:nvSpPr>
          <p:cNvPr id="245" name="Large · regional row 2 value"/>
          <p:cNvSpPr txBox="1"/>
          <p:nvPr/>
        </p:nvSpPr>
        <p:spPr>
          <a:xfrm>
            <a:off x="6318504" y="4352544"/>
            <a:ext cx="2039112" cy="27432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1050" b="1" dirty="0">
                <a:solidFill>
                  <a:srgbClr val="1F2933"/>
                </a:solidFill>
                <a:latin typeface="Anthropic Sans Text"/>
                <a:cs typeface="Anthropic Sans Text"/>
                <a:sym typeface="Anthropic Sans Text"/>
              </a:rPr>
              <a:t>~$690K</a:t>
            </a:r>
          </a:p>
        </p:txBody>
      </p:sp>
      <p:sp>
        <p:nvSpPr>
          <p:cNvPr id="246" name="Large · regional row 3"/>
          <p:cNvSpPr/>
          <p:nvPr/>
        </p:nvSpPr>
        <p:spPr>
          <a:xfrm>
            <a:off x="6227064" y="4681728"/>
            <a:ext cx="2221992" cy="274320"/>
          </a:xfrm>
          <a:prstGeom prst="roundRect">
            <a:avLst>
              <a:gd name="adj" fmla="val 20000"/>
            </a:avLst>
          </a:prstGeom>
          <a:solidFill>
            <a:srgbClr val="FFFFFF"/>
          </a:solidFill>
          <a:ln>
            <a:noFill/>
          </a:ln>
        </p:spPr>
        <p:txBody>
          <a:bodyPr wrap="square" lIns="0" tIns="0" rIns="0" bIns="0" rtlCol="0" anchor="t">
            <a:noAutofit/>
          </a:bodyPr>
          <a:lstStyle/>
          <a:p>
            <a:endParaRPr lang="en-US" dirty="0"/>
          </a:p>
        </p:txBody>
      </p:sp>
      <p:sp>
        <p:nvSpPr>
          <p:cNvPr id="247" name="Large · regional row 3 text"/>
          <p:cNvSpPr txBox="1"/>
          <p:nvPr/>
        </p:nvSpPr>
        <p:spPr>
          <a:xfrm>
            <a:off x="6318504" y="4681728"/>
            <a:ext cx="2039112" cy="27432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50" b="0" dirty="0">
                <a:solidFill>
                  <a:srgbClr val="1F2933"/>
                </a:solidFill>
                <a:latin typeface="Anthropic Sans Text"/>
                <a:cs typeface="Anthropic Sans Text"/>
                <a:sym typeface="Anthropic Sans Text"/>
              </a:rPr>
              <a:t>Time freed</a:t>
            </a:r>
          </a:p>
        </p:txBody>
      </p:sp>
      <p:sp>
        <p:nvSpPr>
          <p:cNvPr id="248" name="Large · regional row 3 value"/>
          <p:cNvSpPr txBox="1"/>
          <p:nvPr/>
        </p:nvSpPr>
        <p:spPr>
          <a:xfrm>
            <a:off x="6318504" y="4681728"/>
            <a:ext cx="2039112" cy="274320"/>
          </a:xfrm>
          <a:prstGeom prst="rect">
            <a:avLst/>
          </a:prstGeom>
          <a:noFill/>
          <a:ln>
            <a:noFill/>
          </a:ln>
        </p:spPr>
        <p:txBody>
          <a:bodyPr wrap="square" lIns="0" tIns="0" rIns="0" bIns="0" rtlCol="0" anchor="ctr">
            <a:noAutofit/>
          </a:bodyPr>
          <a:lstStyle/>
          <a:p>
            <a:pPr marL="0" indent="0" algn="r">
              <a:spcBef>
                <a:spcPts val="0"/>
              </a:spcBef>
              <a:spcAft>
                <a:spcPts val="0"/>
              </a:spcAft>
              <a:buNone/>
            </a:pPr>
            <a:r>
              <a:rPr lang="en-US" sz="1050" b="1" dirty="0">
                <a:solidFill>
                  <a:srgbClr val="1F2933"/>
                </a:solidFill>
                <a:latin typeface="Anthropic Sans Text"/>
                <a:cs typeface="Anthropic Sans Text"/>
                <a:sym typeface="Anthropic Sans Text"/>
              </a:rPr>
              <a:t>~6 FTE</a:t>
            </a:r>
          </a:p>
        </p:txBody>
      </p:sp>
      <p:sp>
        <p:nvSpPr>
          <p:cNvPr id="249" name="Qualitative panel"/>
          <p:cNvSpPr/>
          <p:nvPr/>
        </p:nvSpPr>
        <p:spPr>
          <a:xfrm>
            <a:off x="8823960" y="1783080"/>
            <a:ext cx="2697480" cy="3310128"/>
          </a:xfrm>
          <a:prstGeom prst="roundRect">
            <a:avLst>
              <a:gd name="adj" fmla="val 5000"/>
            </a:avLst>
          </a:prstGeom>
          <a:solidFill>
            <a:srgbClr val="0B1F3A"/>
          </a:solidFill>
          <a:ln>
            <a:noFill/>
          </a:ln>
        </p:spPr>
        <p:txBody>
          <a:bodyPr wrap="square" lIns="0" tIns="0" rIns="0" bIns="0" rtlCol="0" anchor="t">
            <a:noAutofit/>
          </a:bodyPr>
          <a:lstStyle/>
          <a:p>
            <a:endParaRPr lang="en-US" dirty="0"/>
          </a:p>
        </p:txBody>
      </p:sp>
      <p:sp>
        <p:nvSpPr>
          <p:cNvPr id="250" name="Qualitative heading"/>
          <p:cNvSpPr txBox="1"/>
          <p:nvPr/>
        </p:nvSpPr>
        <p:spPr>
          <a:xfrm>
            <a:off x="9025128" y="1947672"/>
            <a:ext cx="2295144" cy="292608"/>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500" b="1" dirty="0">
                <a:solidFill>
                  <a:srgbClr val="FFFFFF"/>
                </a:solidFill>
                <a:latin typeface="Anthropic Sans Text"/>
                <a:cs typeface="Anthropic Sans Text"/>
                <a:sym typeface="Anthropic Sans Text"/>
              </a:rPr>
              <a:t>Beyond the dollars</a:t>
            </a:r>
          </a:p>
        </p:txBody>
      </p:sp>
      <p:sp>
        <p:nvSpPr>
          <p:cNvPr id="251" name="Benefit 1 check"/>
          <p:cNvSpPr/>
          <p:nvPr/>
        </p:nvSpPr>
        <p:spPr>
          <a:xfrm>
            <a:off x="9025128" y="2414016"/>
            <a:ext cx="246888" cy="246888"/>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US" sz="1000" b="1" dirty="0">
                <a:solidFill>
                  <a:srgbClr val="FFFFFF"/>
                </a:solidFill>
                <a:latin typeface="Segoe UI Symbol"/>
                <a:cs typeface="Segoe UI Symbol"/>
                <a:sym typeface="Segoe UI Symbol"/>
              </a:rPr>
              <a:t>✓</a:t>
            </a:r>
          </a:p>
        </p:txBody>
      </p:sp>
      <p:sp>
        <p:nvSpPr>
          <p:cNvPr id="252" name="Benefit 1"/>
          <p:cNvSpPr txBox="1"/>
          <p:nvPr/>
        </p:nvSpPr>
        <p:spPr>
          <a:xfrm>
            <a:off x="9372600" y="2386584"/>
            <a:ext cx="1984248" cy="384048"/>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100" b="0" dirty="0">
                <a:solidFill>
                  <a:srgbClr val="FFFFFF"/>
                </a:solidFill>
                <a:latin typeface="Anthropic Sans Text"/>
                <a:cs typeface="Anthropic Sans Text"/>
                <a:sym typeface="Anthropic Sans Text"/>
              </a:rPr>
              <a:t>Zero missed appeal deadlines</a:t>
            </a:r>
          </a:p>
        </p:txBody>
      </p:sp>
      <p:sp>
        <p:nvSpPr>
          <p:cNvPr id="253" name="Benefit 2 check"/>
          <p:cNvSpPr/>
          <p:nvPr/>
        </p:nvSpPr>
        <p:spPr>
          <a:xfrm>
            <a:off x="9025128" y="2843784"/>
            <a:ext cx="246888" cy="246888"/>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US" sz="1000" b="1" dirty="0">
                <a:solidFill>
                  <a:srgbClr val="FFFFFF"/>
                </a:solidFill>
                <a:latin typeface="Segoe UI Symbol"/>
                <a:cs typeface="Segoe UI Symbol"/>
                <a:sym typeface="Segoe UI Symbol"/>
              </a:rPr>
              <a:t>✓</a:t>
            </a:r>
          </a:p>
        </p:txBody>
      </p:sp>
      <p:sp>
        <p:nvSpPr>
          <p:cNvPr id="254" name="Benefit 2"/>
          <p:cNvSpPr txBox="1"/>
          <p:nvPr/>
        </p:nvSpPr>
        <p:spPr>
          <a:xfrm>
            <a:off x="9372600" y="2816352"/>
            <a:ext cx="1984248" cy="384048"/>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100" b="0" dirty="0">
                <a:solidFill>
                  <a:srgbClr val="FFFFFF"/>
                </a:solidFill>
                <a:latin typeface="Anthropic Sans Text"/>
                <a:cs typeface="Anthropic Sans Text"/>
                <a:sym typeface="Anthropic Sans Text"/>
              </a:rPr>
              <a:t>Payer know-how kept when staff leave</a:t>
            </a:r>
          </a:p>
        </p:txBody>
      </p:sp>
      <p:sp>
        <p:nvSpPr>
          <p:cNvPr id="255" name="Benefit 3 check"/>
          <p:cNvSpPr/>
          <p:nvPr/>
        </p:nvSpPr>
        <p:spPr>
          <a:xfrm>
            <a:off x="9025128" y="3273552"/>
            <a:ext cx="246888" cy="246888"/>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US" sz="1000" b="1" dirty="0">
                <a:solidFill>
                  <a:srgbClr val="FFFFFF"/>
                </a:solidFill>
                <a:latin typeface="Segoe UI Symbol"/>
                <a:cs typeface="Segoe UI Symbol"/>
                <a:sym typeface="Segoe UI Symbol"/>
              </a:rPr>
              <a:t>✓</a:t>
            </a:r>
          </a:p>
        </p:txBody>
      </p:sp>
      <p:sp>
        <p:nvSpPr>
          <p:cNvPr id="256" name="Benefit 3"/>
          <p:cNvSpPr txBox="1"/>
          <p:nvPr/>
        </p:nvSpPr>
        <p:spPr>
          <a:xfrm>
            <a:off x="9372600" y="3246120"/>
            <a:ext cx="1984248" cy="384048"/>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100" b="0" dirty="0">
                <a:solidFill>
                  <a:srgbClr val="FFFFFF"/>
                </a:solidFill>
                <a:latin typeface="Anthropic Sans Text"/>
                <a:cs typeface="Anthropic Sans Text"/>
                <a:sym typeface="Anthropic Sans Text"/>
              </a:rPr>
              <a:t>Faster cash: denials worked the day they arrive</a:t>
            </a:r>
          </a:p>
        </p:txBody>
      </p:sp>
      <p:sp>
        <p:nvSpPr>
          <p:cNvPr id="257" name="Benefit 4 check"/>
          <p:cNvSpPr/>
          <p:nvPr/>
        </p:nvSpPr>
        <p:spPr>
          <a:xfrm>
            <a:off x="9025128" y="3703320"/>
            <a:ext cx="246888" cy="246888"/>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US" sz="1000" b="1" dirty="0">
                <a:solidFill>
                  <a:srgbClr val="FFFFFF"/>
                </a:solidFill>
                <a:latin typeface="Segoe UI Symbol"/>
                <a:cs typeface="Segoe UI Symbol"/>
                <a:sym typeface="Segoe UI Symbol"/>
              </a:rPr>
              <a:t>✓</a:t>
            </a:r>
          </a:p>
        </p:txBody>
      </p:sp>
      <p:sp>
        <p:nvSpPr>
          <p:cNvPr id="258" name="Benefit 4"/>
          <p:cNvSpPr txBox="1"/>
          <p:nvPr/>
        </p:nvSpPr>
        <p:spPr>
          <a:xfrm>
            <a:off x="9372600" y="3675888"/>
            <a:ext cx="1984248" cy="384048"/>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100" b="0" dirty="0">
                <a:solidFill>
                  <a:srgbClr val="FFFFFF"/>
                </a:solidFill>
                <a:latin typeface="Anthropic Sans Text"/>
                <a:cs typeface="Anthropic Sans Text"/>
                <a:sym typeface="Anthropic Sans Text"/>
              </a:rPr>
              <a:t>Fewer repeat denials from root-cause insight</a:t>
            </a:r>
          </a:p>
        </p:txBody>
      </p:sp>
      <p:sp>
        <p:nvSpPr>
          <p:cNvPr id="259" name="Benefit 5 check"/>
          <p:cNvSpPr/>
          <p:nvPr/>
        </p:nvSpPr>
        <p:spPr>
          <a:xfrm>
            <a:off x="9025128" y="4133088"/>
            <a:ext cx="246888" cy="246888"/>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US" sz="1000" b="1" dirty="0">
                <a:solidFill>
                  <a:srgbClr val="FFFFFF"/>
                </a:solidFill>
                <a:latin typeface="Segoe UI Symbol"/>
                <a:cs typeface="Segoe UI Symbol"/>
                <a:sym typeface="Segoe UI Symbol"/>
              </a:rPr>
              <a:t>✓</a:t>
            </a:r>
          </a:p>
        </p:txBody>
      </p:sp>
      <p:sp>
        <p:nvSpPr>
          <p:cNvPr id="260" name="Benefit 5"/>
          <p:cNvSpPr txBox="1"/>
          <p:nvPr/>
        </p:nvSpPr>
        <p:spPr>
          <a:xfrm>
            <a:off x="9372600" y="4105656"/>
            <a:ext cx="1984248" cy="384048"/>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100" b="0" dirty="0">
                <a:solidFill>
                  <a:srgbClr val="FFFFFF"/>
                </a:solidFill>
                <a:latin typeface="Anthropic Sans Text"/>
                <a:cs typeface="Anthropic Sans Text"/>
                <a:sym typeface="Anthropic Sans Text"/>
              </a:rPr>
              <a:t>Every decision explained and audited</a:t>
            </a:r>
          </a:p>
        </p:txBody>
      </p:sp>
      <p:sp>
        <p:nvSpPr>
          <p:cNvPr id="261" name="Benefit 6 check"/>
          <p:cNvSpPr/>
          <p:nvPr/>
        </p:nvSpPr>
        <p:spPr>
          <a:xfrm>
            <a:off x="9025128" y="4562856"/>
            <a:ext cx="246888" cy="246888"/>
          </a:xfrm>
          <a:prstGeom prst="ellipse">
            <a:avLst/>
          </a:prstGeom>
          <a:solidFill>
            <a:srgbClr val="00A3C4"/>
          </a:solidFill>
          <a:ln>
            <a:noFill/>
          </a:ln>
        </p:spPr>
        <p:txBody>
          <a:bodyPr wrap="square" lIns="0" tIns="0" rIns="0" bIns="0" rtlCol="0" anchor="ctr">
            <a:noAutofit/>
          </a:bodyPr>
          <a:lstStyle/>
          <a:p>
            <a:pPr marL="0" indent="0" algn="ctr">
              <a:spcBef>
                <a:spcPts val="0"/>
              </a:spcBef>
              <a:spcAft>
                <a:spcPts val="0"/>
              </a:spcAft>
              <a:buNone/>
            </a:pPr>
            <a:r>
              <a:rPr lang="en-US" sz="1000" b="1" dirty="0">
                <a:solidFill>
                  <a:srgbClr val="FFFFFF"/>
                </a:solidFill>
                <a:latin typeface="Segoe UI Symbol"/>
                <a:cs typeface="Segoe UI Symbol"/>
                <a:sym typeface="Segoe UI Symbol"/>
              </a:rPr>
              <a:t>✓</a:t>
            </a:r>
          </a:p>
        </p:txBody>
      </p:sp>
      <p:sp>
        <p:nvSpPr>
          <p:cNvPr id="262" name="Benefit 6"/>
          <p:cNvSpPr txBox="1"/>
          <p:nvPr/>
        </p:nvSpPr>
        <p:spPr>
          <a:xfrm>
            <a:off x="9372600" y="4535424"/>
            <a:ext cx="1984248" cy="384048"/>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100" b="0" dirty="0">
                <a:solidFill>
                  <a:srgbClr val="FFFFFF"/>
                </a:solidFill>
                <a:latin typeface="Anthropic Sans Text"/>
                <a:cs typeface="Anthropic Sans Text"/>
                <a:sym typeface="Anthropic Sans Text"/>
              </a:rPr>
              <a:t>New staff productive from day one</a:t>
            </a:r>
          </a:p>
        </p:txBody>
      </p:sp>
      <p:sp>
        <p:nvSpPr>
          <p:cNvPr id="263" name="How we estimate"/>
          <p:cNvSpPr txBox="1"/>
          <p:nvPr/>
        </p:nvSpPr>
        <p:spPr>
          <a:xfrm>
            <a:off x="685800" y="5212080"/>
            <a:ext cx="10835640" cy="512064"/>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900" b="1" dirty="0">
                <a:solidFill>
                  <a:srgbClr val="52606D"/>
                </a:solidFill>
                <a:latin typeface="Anthropic Sans Text"/>
                <a:cs typeface="Anthropic Sans Text"/>
                <a:sym typeface="Anthropic Sans Text"/>
              </a:rPr>
              <a:t>How we estimate: </a:t>
            </a:r>
            <a:r>
              <a:rPr lang="en-US" sz="900" b="0" dirty="0">
                <a:solidFill>
                  <a:srgbClr val="52606D"/>
                </a:solidFill>
                <a:latin typeface="Anthropic Sans Text"/>
                <a:cs typeface="Anthropic Sans Text"/>
                <a:sym typeface="Anthropic Sans Text"/>
              </a:rPr>
              <a:t>denial write-offs ≈ 2% of net patient revenue (HFMA benchmark); Denial Navigator recovers 15–25% of them, mostly denials never reworked (up to 65%, HFMA) and missed deadlines; admin cost $57.23 per denial (Premier, 2024) cut by ~30%; ~20 minutes saved per denial, 1 FTE = 2,080 hours. Illustrative mid-points; the pilot measures the real figures on your data.</a:t>
            </a:r>
          </a:p>
        </p:txBody>
      </p:sp>
    </p:spTree>
    <p:extLst>
      <p:ext uri="{BB962C8B-B14F-4D97-AF65-F5344CB8AC3E}">
        <p14:creationId xmlns:p14="http://schemas.microsoft.com/office/powerpoint/2010/main" val="1552100895"/>
      </p:ext>
    </p:extLst>
  </p:cSld>
  <p:clrMapOvr>
    <a:masterClrMapping/>
  </p:clrMapOvr>
</p:sld>
</file>

<file path=ppt/theme/theme1.xml><?xml version="1.0" encoding="utf-8"?>
<a:theme xmlns:a="http://schemas.openxmlformats.org/drawingml/2006/main" name="Centered Networks - Grant Review Copilot [1792511860262]">
  <a:themeElements>
    <a:clrScheme name="Alif Denial Navigator">
      <a:dk1>
        <a:srgbClr val="1F2933"/>
      </a:dk1>
      <a:lt1>
        <a:srgbClr val="FFFFFF"/>
      </a:lt1>
      <a:dk2>
        <a:srgbClr val="0B1F3A"/>
      </a:dk2>
      <a:lt2>
        <a:srgbClr val="F3F4F6"/>
      </a:lt2>
      <a:accent1>
        <a:srgbClr val="1F4E8C"/>
      </a:accent1>
      <a:accent2>
        <a:srgbClr val="00A3C4"/>
      </a:accent2>
      <a:accent3>
        <a:srgbClr val="5B8DEF"/>
      </a:accent3>
      <a:accent4>
        <a:srgbClr val="E4572E"/>
      </a:accent4>
      <a:accent5>
        <a:srgbClr val="F2A541"/>
      </a:accent5>
      <a:accent6>
        <a:srgbClr val="2E9E6A"/>
      </a:accent6>
      <a:hlink>
        <a:srgbClr val="1F4E8C"/>
      </a:hlink>
      <a:folHlink>
        <a:srgbClr val="52606D"/>
      </a:folHlink>
    </a:clrScheme>
    <a:fontScheme name="Alif">
      <a:majorFont>
        <a:latin typeface="Anthropic Serif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nthropic Sans Tex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164C55C-7E3A-C74E-8E28-011FF730DEDE}">
  <we:reference id="wa200010001" version="1.0.0.1" store="en-GB" storeType="OMEX"/>
  <we:alternateReferences>
    <we:reference id="WA200010001" version="1.0.0.1" store="" storeType="OMEX"/>
  </we:alternateReferences>
  <we:properties>
    <we:property name="claude.fileId" value="&quot;21d0148c-c02d-4e28-a114-08ff90cc463a&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2790</TotalTime>
  <Words>2997</Words>
  <Application>Microsoft Macintosh PowerPoint</Application>
  <PresentationFormat>Widescreen</PresentationFormat>
  <Paragraphs>488</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Anthropic Mono</vt:lpstr>
      <vt:lpstr>Anthropic Sans Text</vt:lpstr>
      <vt:lpstr>Anthropic Serif Web</vt:lpstr>
      <vt:lpstr>Arial</vt:lpstr>
      <vt:lpstr>Segoe UI Symbol</vt:lpstr>
      <vt:lpstr>Centered Networks - Grant Review Copilot [1792511860262]</vt:lpstr>
      <vt:lpstr>Denial Navigator</vt:lpstr>
      <vt:lpstr>Six stops, from today's problem to a live demo</vt:lpstr>
      <vt:lpstr>Rural and community hospitals carry the heaviest burden</vt:lpstr>
      <vt:lpstr>Today, every denial is a manual research project</vt:lpstr>
      <vt:lpstr>Eligibility, coding and authorisation drive 60% of denials</vt:lpstr>
      <vt:lpstr>Good looks like same-day triage and zero missed deadlines</vt:lpstr>
      <vt:lpstr>The solution</vt:lpstr>
      <vt:lpstr>Denials cost hospitals billions, and rural hospitals feel it most</vt:lpstr>
      <vt:lpstr>Denial Navigator gives every denial a clear next step</vt:lpstr>
      <vt:lpstr>Four layers decide, and people always have the final say</vt:lpstr>
      <vt:lpstr>Eight steps take a denial from remittance to resolution</vt:lpstr>
      <vt:lpstr>Every denial ends in one of nine clear decisions</vt:lpstr>
      <vt:lpstr>Each decision card shows the cause, the action and the proof</vt:lpstr>
      <vt:lpstr>The worklist ranks claims by dollars and deadline</vt:lpstr>
      <vt:lpstr>Denial Navigator works where your team already works</vt:lpstr>
      <vt:lpstr>Hours of manual work become seconds of guided review</vt:lpstr>
      <vt:lpstr>Rules, prioritisation and grounded AI together beat any single approach</vt:lpstr>
      <vt:lpstr>Governed by design, inside your own Azure tenant</vt:lpstr>
      <vt:lpstr>Your data stays yours: it sharpens your decisions, never public AI</vt:lpstr>
      <vt:lpstr>Proof</vt:lpstr>
      <vt:lpstr>The demo runs on a realistic, fully synthetic hospital</vt:lpstr>
      <vt:lpstr>Every test scenario has a known right answer and a target</vt:lpstr>
    </vt:vector>
  </TitlesOfParts>
  <Company>Centered Networks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Grant Review Copilot Pilot - East Bay Community Foundation</dc:title>
  <dc:subject>PptxGenJS Presentation</dc:subject>
  <dc:creator>Centered Networks</dc:creator>
  <cp:lastModifiedBy>Satya Bonda</cp:lastModifiedBy>
  <cp:revision>11</cp:revision>
  <dcterms:created xsi:type="dcterms:W3CDTF">2026-10-13T16:15:44Z</dcterms:created>
  <dcterms:modified xsi:type="dcterms:W3CDTF">2026-10-29T18:58:47Z</dcterms:modified>
</cp:coreProperties>
</file>